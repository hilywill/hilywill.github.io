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1"/>
  </p:notesMasterIdLst>
  <p:sldIdLst>
    <p:sldId id="256" r:id="rId2"/>
    <p:sldId id="257" r:id="rId3"/>
    <p:sldId id="258" r:id="rId4"/>
    <p:sldId id="259" r:id="rId5"/>
    <p:sldId id="260" r:id="rId6"/>
    <p:sldId id="261" r:id="rId7"/>
    <p:sldId id="262" r:id="rId8"/>
    <p:sldId id="264" r:id="rId9"/>
    <p:sldId id="263" r:id="rId10"/>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10"/>
  </p:normalViewPr>
  <p:slideViewPr>
    <p:cSldViewPr snapToGrid="0" snapToObjects="1">
      <p:cViewPr varScale="1">
        <p:scale>
          <a:sx n="74" d="100"/>
          <a:sy n="74" d="100"/>
        </p:scale>
        <p:origin x="1042" y="28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57296680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jpeg"/></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1.xml"/><Relationship Id="rId5" Type="http://schemas.openxmlformats.org/officeDocument/2006/relationships/image" Target="../media/image4.JPG"/><Relationship Id="rId4" Type="http://schemas.openxmlformats.org/officeDocument/2006/relationships/image" Target="../media/image3.JPG"/></Relationships>
</file>

<file path=ppt/slides/_rels/slide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3.xml"/><Relationship Id="rId1" Type="http://schemas.openxmlformats.org/officeDocument/2006/relationships/slideLayout" Target="../slideLayouts/slideLayout1.xml"/><Relationship Id="rId5" Type="http://schemas.openxmlformats.org/officeDocument/2006/relationships/image" Target="../media/image6.jpeg"/><Relationship Id="rId4" Type="http://schemas.openxmlformats.org/officeDocument/2006/relationships/image" Target="../media/image5.jpeg"/></Relationships>
</file>

<file path=ppt/slides/_rels/slide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6.xml"/><Relationship Id="rId1" Type="http://schemas.openxmlformats.org/officeDocument/2006/relationships/slideLayout" Target="../slideLayouts/slideLayout1.xml"/><Relationship Id="rId5" Type="http://schemas.openxmlformats.org/officeDocument/2006/relationships/image" Target="../media/image8.jpeg"/><Relationship Id="rId4" Type="http://schemas.openxmlformats.org/officeDocument/2006/relationships/image" Target="../media/image7.jpeg"/></Relationships>
</file>

<file path=ppt/slides/_rels/slide7.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2.jpe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alphaModFix amt="45000"/>
          </a:blip>
          <a:srcRect/>
          <a:stretch/>
        </p:blipFill>
        <p:spPr>
          <a:xfrm>
            <a:off x="0" y="0"/>
            <a:ext cx="12161520" cy="6858000"/>
          </a:xfrm>
          <a:prstGeom prst="rect">
            <a:avLst/>
          </a:prstGeom>
        </p:spPr>
      </p:pic>
      <p:sp>
        <p:nvSpPr>
          <p:cNvPr id="3" name="Shape 0"/>
          <p:cNvSpPr/>
          <p:nvPr/>
        </p:nvSpPr>
        <p:spPr>
          <a:xfrm>
            <a:off x="200958" y="-9143"/>
            <a:ext cx="5879802" cy="6309359"/>
          </a:xfrm>
          <a:prstGeom prst="rect">
            <a:avLst/>
          </a:prstGeom>
          <a:solidFill>
            <a:srgbClr val="0D1F3C">
              <a:alpha val="80000"/>
            </a:srgbClr>
          </a:solidFill>
          <a:ln w="12700">
            <a:solidFill>
              <a:srgbClr val="0D1F3C"/>
            </a:solidFill>
            <a:prstDash val="solid"/>
          </a:ln>
        </p:spPr>
        <p:txBody>
          <a:bodyPr/>
          <a:lstStyle/>
          <a:p>
            <a:endParaRPr lang="en-US" dirty="0">
              <a:solidFill>
                <a:schemeClr val="bg2"/>
              </a:solidFill>
              <a:highlight>
                <a:srgbClr val="C0C0C0"/>
              </a:highlight>
            </a:endParaRPr>
          </a:p>
        </p:txBody>
      </p:sp>
      <p:sp>
        <p:nvSpPr>
          <p:cNvPr id="4" name="Shape 1"/>
          <p:cNvSpPr/>
          <p:nvPr/>
        </p:nvSpPr>
        <p:spPr>
          <a:xfrm>
            <a:off x="0" y="0"/>
            <a:ext cx="201168" cy="6858000"/>
          </a:xfrm>
          <a:prstGeom prst="rect">
            <a:avLst/>
          </a:prstGeom>
          <a:solidFill>
            <a:srgbClr val="CC1414"/>
          </a:solidFill>
          <a:ln w="12700">
            <a:solidFill>
              <a:srgbClr val="CC1414"/>
            </a:solidFill>
            <a:prstDash val="solid"/>
          </a:ln>
        </p:spPr>
        <p:txBody>
          <a:bodyPr/>
          <a:lstStyle/>
          <a:p>
            <a:endParaRPr lang="en-US"/>
          </a:p>
        </p:txBody>
      </p:sp>
      <p:pic>
        <p:nvPicPr>
          <p:cNvPr id="5" name="Image 1" descr="preencoded.png"/>
          <p:cNvPicPr>
            <a:picLocks noChangeAspect="1"/>
          </p:cNvPicPr>
          <p:nvPr/>
        </p:nvPicPr>
        <p:blipFill>
          <a:blip r:embed="rId4"/>
          <a:stretch>
            <a:fillRect/>
          </a:stretch>
        </p:blipFill>
        <p:spPr>
          <a:xfrm>
            <a:off x="502920" y="411480"/>
            <a:ext cx="1429789" cy="822960"/>
          </a:xfrm>
          <a:prstGeom prst="rect">
            <a:avLst/>
          </a:prstGeom>
        </p:spPr>
      </p:pic>
      <p:sp>
        <p:nvSpPr>
          <p:cNvPr id="6" name="Text 2"/>
          <p:cNvSpPr/>
          <p:nvPr/>
        </p:nvSpPr>
        <p:spPr>
          <a:xfrm>
            <a:off x="502920" y="1371600"/>
            <a:ext cx="5303520" cy="320040"/>
          </a:xfrm>
          <a:prstGeom prst="rect">
            <a:avLst/>
          </a:prstGeom>
          <a:noFill/>
          <a:ln/>
        </p:spPr>
        <p:txBody>
          <a:bodyPr wrap="square" lIns="0" tIns="0" rIns="0" bIns="0" rtlCol="0" anchor="ctr"/>
          <a:lstStyle/>
          <a:p>
            <a:pPr marL="0" indent="0">
              <a:buNone/>
            </a:pPr>
            <a:r>
              <a:rPr lang="en-US" sz="900" b="1" kern="0" spc="400" dirty="0">
                <a:solidFill>
                  <a:srgbClr val="CC1414"/>
                </a:solidFill>
              </a:rPr>
              <a:t>ADVANCED MATERIALS TECHNOLOGY</a:t>
            </a:r>
            <a:endParaRPr lang="en-US" sz="900" dirty="0"/>
          </a:p>
        </p:txBody>
      </p:sp>
      <p:sp>
        <p:nvSpPr>
          <p:cNvPr id="7" name="Text 3"/>
          <p:cNvSpPr/>
          <p:nvPr/>
        </p:nvSpPr>
        <p:spPr>
          <a:xfrm>
            <a:off x="489099" y="2730489"/>
            <a:ext cx="5303520" cy="2011680"/>
          </a:xfrm>
          <a:prstGeom prst="rect">
            <a:avLst/>
          </a:prstGeom>
          <a:noFill/>
          <a:ln/>
        </p:spPr>
        <p:txBody>
          <a:bodyPr wrap="square" lIns="0" tIns="0" rIns="0" bIns="0" rtlCol="0" anchor="ctr"/>
          <a:lstStyle/>
          <a:p>
            <a:pPr marL="0" indent="0">
              <a:buNone/>
            </a:pPr>
            <a:r>
              <a:rPr lang="en-US" sz="4800" b="1" dirty="0">
                <a:solidFill>
                  <a:srgbClr val="FFFFFF"/>
                </a:solidFill>
                <a:latin typeface="Georgia" pitchFamily="34" charset="0"/>
                <a:ea typeface="Georgia" pitchFamily="34" charset="-122"/>
                <a:cs typeface="Georgia" pitchFamily="34" charset="-120"/>
              </a:rPr>
              <a:t>FFU Composite</a:t>
            </a:r>
            <a:endParaRPr lang="en-US" sz="4800" dirty="0"/>
          </a:p>
          <a:p>
            <a:pPr marL="0" indent="0">
              <a:buNone/>
            </a:pPr>
            <a:r>
              <a:rPr lang="en-US" sz="4800" b="1" dirty="0">
                <a:solidFill>
                  <a:srgbClr val="FFFFFF"/>
                </a:solidFill>
                <a:latin typeface="Georgia" pitchFamily="34" charset="0"/>
                <a:ea typeface="Georgia" pitchFamily="34" charset="-122"/>
                <a:cs typeface="Georgia" pitchFamily="34" charset="-120"/>
              </a:rPr>
              <a:t>Railroad Ties</a:t>
            </a:r>
            <a:endParaRPr lang="en-US" sz="4800" dirty="0"/>
          </a:p>
        </p:txBody>
      </p:sp>
      <p:sp>
        <p:nvSpPr>
          <p:cNvPr id="8" name="Text 4"/>
          <p:cNvSpPr/>
          <p:nvPr/>
        </p:nvSpPr>
        <p:spPr>
          <a:xfrm>
            <a:off x="502920" y="1742419"/>
            <a:ext cx="5303520" cy="822960"/>
          </a:xfrm>
          <a:prstGeom prst="rect">
            <a:avLst/>
          </a:prstGeom>
          <a:noFill/>
          <a:ln/>
        </p:spPr>
        <p:txBody>
          <a:bodyPr wrap="square" lIns="0" tIns="0" rIns="0" bIns="0" rtlCol="0" anchor="ctr"/>
          <a:lstStyle/>
          <a:p>
            <a:pPr marL="0" indent="0">
              <a:buNone/>
            </a:pPr>
            <a:r>
              <a:rPr lang="en-US" sz="1600" b="1" dirty="0">
                <a:solidFill>
                  <a:srgbClr val="C8D8E8"/>
                </a:solidFill>
              </a:rPr>
              <a:t>High-Performance Fiber-Reinforced Polyurethane Ties</a:t>
            </a:r>
            <a:endParaRPr lang="en-US" sz="1600" b="1" dirty="0"/>
          </a:p>
          <a:p>
            <a:pPr marL="0" indent="0">
              <a:buNone/>
            </a:pPr>
            <a:r>
              <a:rPr lang="en-US" sz="1600" b="1" dirty="0">
                <a:solidFill>
                  <a:srgbClr val="C8D8E8"/>
                </a:solidFill>
              </a:rPr>
              <a:t>for Bridges, Tunnel, Transit &amp; Heavy Haul Applications</a:t>
            </a:r>
            <a:endParaRPr lang="en-US" sz="1600" b="1" dirty="0"/>
          </a:p>
        </p:txBody>
      </p:sp>
      <p:sp>
        <p:nvSpPr>
          <p:cNvPr id="9" name="Shape 5"/>
          <p:cNvSpPr/>
          <p:nvPr/>
        </p:nvSpPr>
        <p:spPr>
          <a:xfrm>
            <a:off x="0" y="6309360"/>
            <a:ext cx="12161520" cy="548640"/>
          </a:xfrm>
          <a:prstGeom prst="rect">
            <a:avLst/>
          </a:prstGeom>
          <a:solidFill>
            <a:srgbClr val="CC1414"/>
          </a:solidFill>
          <a:ln w="12700">
            <a:solidFill>
              <a:srgbClr val="CC1414"/>
            </a:solidFill>
            <a:prstDash val="solid"/>
          </a:ln>
        </p:spPr>
        <p:txBody>
          <a:bodyPr/>
          <a:lstStyle/>
          <a:p>
            <a:endParaRPr lang="en-US"/>
          </a:p>
        </p:txBody>
      </p:sp>
      <p:sp>
        <p:nvSpPr>
          <p:cNvPr id="10" name="Text 6"/>
          <p:cNvSpPr/>
          <p:nvPr/>
        </p:nvSpPr>
        <p:spPr>
          <a:xfrm>
            <a:off x="274320" y="6327648"/>
            <a:ext cx="11704320" cy="347472"/>
          </a:xfrm>
          <a:prstGeom prst="rect">
            <a:avLst/>
          </a:prstGeom>
          <a:noFill/>
          <a:ln/>
        </p:spPr>
        <p:txBody>
          <a:bodyPr wrap="square" lIns="0" tIns="0" rIns="0" bIns="0" rtlCol="0" anchor="ctr"/>
          <a:lstStyle/>
          <a:p>
            <a:pPr marL="0" indent="0">
              <a:buNone/>
            </a:pPr>
            <a:r>
              <a:rPr lang="en-US" sz="950" dirty="0">
                <a:solidFill>
                  <a:srgbClr val="FFFFFF"/>
                </a:solidFill>
              </a:rPr>
              <a:t>Qingdao Hilywill Advanced Materials Technology Co., Ltd  |  hilywill.com  |  Hilywill Technologies LLC – 7763 N Haggerty Rd, Canton, MI 48187</a:t>
            </a:r>
            <a:endParaRPr lang="en-US" sz="9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61520" cy="685800"/>
          </a:xfrm>
          <a:prstGeom prst="rect">
            <a:avLst/>
          </a:prstGeom>
          <a:solidFill>
            <a:srgbClr val="0D1F3C"/>
          </a:solidFill>
          <a:ln w="12700">
            <a:solidFill>
              <a:srgbClr val="0D1F3C"/>
            </a:solidFill>
            <a:prstDash val="solid"/>
          </a:ln>
        </p:spPr>
        <p:txBody>
          <a:bodyPr/>
          <a:lstStyle/>
          <a:p>
            <a:endParaRPr lang="en-US" dirty="0"/>
          </a:p>
        </p:txBody>
      </p:sp>
      <p:pic>
        <p:nvPicPr>
          <p:cNvPr id="3" name="Image 0" descr="preencoded.png"/>
          <p:cNvPicPr>
            <a:picLocks noChangeAspect="1"/>
          </p:cNvPicPr>
          <p:nvPr/>
        </p:nvPicPr>
        <p:blipFill>
          <a:blip r:embed="rId3"/>
          <a:stretch>
            <a:fillRect/>
          </a:stretch>
        </p:blipFill>
        <p:spPr>
          <a:xfrm>
            <a:off x="164592" y="32687"/>
            <a:ext cx="1028963" cy="566928"/>
          </a:xfrm>
          <a:prstGeom prst="rect">
            <a:avLst/>
          </a:prstGeom>
        </p:spPr>
      </p:pic>
      <p:sp>
        <p:nvSpPr>
          <p:cNvPr id="4" name="Text 1"/>
          <p:cNvSpPr/>
          <p:nvPr/>
        </p:nvSpPr>
        <p:spPr>
          <a:xfrm>
            <a:off x="1577603" y="137160"/>
            <a:ext cx="8229600" cy="365760"/>
          </a:xfrm>
          <a:prstGeom prst="rect">
            <a:avLst/>
          </a:prstGeom>
          <a:noFill/>
          <a:ln/>
        </p:spPr>
        <p:txBody>
          <a:bodyPr wrap="square" lIns="0" tIns="0" rIns="0" bIns="0" rtlCol="0" anchor="ctr"/>
          <a:lstStyle/>
          <a:p>
            <a:pPr marL="0" indent="0">
              <a:buNone/>
            </a:pPr>
            <a:r>
              <a:rPr lang="en-US" sz="1600" b="1" kern="0" spc="300" dirty="0">
                <a:solidFill>
                  <a:srgbClr val="FFFFFF"/>
                </a:solidFill>
              </a:rPr>
              <a:t>COMPANY OVERVIEW</a:t>
            </a:r>
            <a:endParaRPr lang="en-US" sz="1600" dirty="0"/>
          </a:p>
        </p:txBody>
      </p:sp>
      <p:sp>
        <p:nvSpPr>
          <p:cNvPr id="5" name="Shape 2"/>
          <p:cNvSpPr/>
          <p:nvPr/>
        </p:nvSpPr>
        <p:spPr>
          <a:xfrm>
            <a:off x="0" y="685800"/>
            <a:ext cx="164592" cy="6172200"/>
          </a:xfrm>
          <a:prstGeom prst="rect">
            <a:avLst/>
          </a:prstGeom>
          <a:solidFill>
            <a:srgbClr val="CC1414"/>
          </a:solidFill>
          <a:ln w="12700">
            <a:solidFill>
              <a:srgbClr val="CC1414"/>
            </a:solidFill>
            <a:prstDash val="solid"/>
          </a:ln>
        </p:spPr>
        <p:txBody>
          <a:bodyPr/>
          <a:lstStyle/>
          <a:p>
            <a:endParaRPr lang="en-US"/>
          </a:p>
        </p:txBody>
      </p:sp>
      <p:sp>
        <p:nvSpPr>
          <p:cNvPr id="6" name="Text 3"/>
          <p:cNvSpPr/>
          <p:nvPr/>
        </p:nvSpPr>
        <p:spPr>
          <a:xfrm>
            <a:off x="411480" y="868680"/>
            <a:ext cx="5486400" cy="502920"/>
          </a:xfrm>
          <a:prstGeom prst="rect">
            <a:avLst/>
          </a:prstGeom>
          <a:noFill/>
          <a:ln/>
        </p:spPr>
        <p:txBody>
          <a:bodyPr wrap="square" lIns="0" tIns="0" rIns="0" bIns="0" rtlCol="0" anchor="ctr"/>
          <a:lstStyle/>
          <a:p>
            <a:pPr marL="0" indent="0">
              <a:buNone/>
            </a:pPr>
            <a:r>
              <a:rPr lang="en-US" sz="2600" b="1" dirty="0">
                <a:solidFill>
                  <a:srgbClr val="0D1F3C"/>
                </a:solidFill>
                <a:latin typeface="Georgia" pitchFamily="34" charset="0"/>
                <a:ea typeface="Georgia" pitchFamily="34" charset="-122"/>
                <a:cs typeface="Georgia" pitchFamily="34" charset="-120"/>
              </a:rPr>
              <a:t>About Hilywill</a:t>
            </a:r>
            <a:endParaRPr lang="en-US" sz="2600" dirty="0"/>
          </a:p>
        </p:txBody>
      </p:sp>
      <p:sp>
        <p:nvSpPr>
          <p:cNvPr id="7" name="Text 4"/>
          <p:cNvSpPr/>
          <p:nvPr/>
        </p:nvSpPr>
        <p:spPr>
          <a:xfrm>
            <a:off x="411480" y="1463040"/>
            <a:ext cx="5669280" cy="3291840"/>
          </a:xfrm>
          <a:prstGeom prst="rect">
            <a:avLst/>
          </a:prstGeom>
          <a:noFill/>
          <a:ln/>
        </p:spPr>
        <p:txBody>
          <a:bodyPr wrap="square" lIns="0" tIns="0" rIns="0" bIns="0" rtlCol="0" anchor="ctr"/>
          <a:lstStyle/>
          <a:p>
            <a:pPr marL="0" indent="0">
              <a:buNone/>
            </a:pPr>
            <a:r>
              <a:rPr lang="en-US" sz="1250" dirty="0">
                <a:solidFill>
                  <a:srgbClr val="4A5568"/>
                </a:solidFill>
              </a:rPr>
              <a:t>Qingdao </a:t>
            </a:r>
            <a:r>
              <a:rPr lang="en-US" sz="1250" dirty="0" err="1">
                <a:solidFill>
                  <a:srgbClr val="4A5568"/>
                </a:solidFill>
              </a:rPr>
              <a:t>Hilywill</a:t>
            </a:r>
            <a:r>
              <a:rPr lang="en-US" sz="1250" dirty="0">
                <a:solidFill>
                  <a:srgbClr val="4A5568"/>
                </a:solidFill>
              </a:rPr>
              <a:t> Advanced Materials Technology Co., Ltd is a leading high-tech enterprise specializing in the application of polymer new materials composed of rubber and plastics. Our primary focus is on the research, development, and production of rubber sealing products, vibration and noise reduction products, polyurethane products, composite material products, waterproof materials, and other polymer material products.</a:t>
            </a:r>
            <a:endParaRPr lang="en-US" sz="1250" dirty="0"/>
          </a:p>
          <a:p>
            <a:pPr marL="0" indent="0">
              <a:buNone/>
            </a:pPr>
            <a:endParaRPr lang="en-US" sz="1250" dirty="0"/>
          </a:p>
          <a:p>
            <a:pPr marL="0" indent="0">
              <a:buNone/>
            </a:pPr>
            <a:r>
              <a:rPr lang="en-US" sz="1250" dirty="0">
                <a:solidFill>
                  <a:srgbClr val="4A5568"/>
                </a:solidFill>
              </a:rPr>
              <a:t>Hilywill products are widely used for sealing, shock absorption, and lightweighting in the automotive, locomotive, and railway industries, as well as for waterproofing and high-performance improvement in railway bridges and tunnel construction.</a:t>
            </a:r>
            <a:endParaRPr lang="en-US" sz="1250" dirty="0"/>
          </a:p>
          <a:p>
            <a:pPr marL="0" indent="0">
              <a:buNone/>
            </a:pPr>
            <a:endParaRPr lang="en-US" sz="1250" dirty="0"/>
          </a:p>
          <a:p>
            <a:pPr marL="0" indent="0">
              <a:buNone/>
            </a:pPr>
            <a:r>
              <a:rPr lang="en-US" sz="1250" dirty="0">
                <a:solidFill>
                  <a:srgbClr val="4A5568"/>
                </a:solidFill>
              </a:rPr>
              <a:t>With operations in the United States through Hilywill Technologies LLC, we are committed to bringing world-class composite rail solutions to the North American market.</a:t>
            </a:r>
            <a:endParaRPr lang="en-US" sz="1250" dirty="0"/>
          </a:p>
        </p:txBody>
      </p:sp>
      <p:sp>
        <p:nvSpPr>
          <p:cNvPr id="9" name="Shape 5"/>
          <p:cNvSpPr/>
          <p:nvPr/>
        </p:nvSpPr>
        <p:spPr>
          <a:xfrm>
            <a:off x="411480" y="4892040"/>
            <a:ext cx="11430000" cy="1554480"/>
          </a:xfrm>
          <a:prstGeom prst="rect">
            <a:avLst/>
          </a:prstGeom>
          <a:solidFill>
            <a:srgbClr val="E8EEF4"/>
          </a:solidFill>
          <a:ln w="12700">
            <a:solidFill>
              <a:srgbClr val="D0DBE8"/>
            </a:solidFill>
            <a:prstDash val="solid"/>
          </a:ln>
          <a:effectLst>
            <a:outerShdw blurRad="50800" dist="12700" dir="8100000" algn="bl" rotWithShape="0">
              <a:srgbClr val="000000">
                <a:alpha val="8000"/>
              </a:srgbClr>
            </a:outerShdw>
          </a:effectLst>
        </p:spPr>
        <p:txBody>
          <a:bodyPr/>
          <a:lstStyle/>
          <a:p>
            <a:endParaRPr lang="en-US"/>
          </a:p>
        </p:txBody>
      </p:sp>
      <p:sp>
        <p:nvSpPr>
          <p:cNvPr id="10" name="Text 6"/>
          <p:cNvSpPr/>
          <p:nvPr/>
        </p:nvSpPr>
        <p:spPr>
          <a:xfrm>
            <a:off x="594360" y="5047488"/>
            <a:ext cx="10972800" cy="274320"/>
          </a:xfrm>
          <a:prstGeom prst="rect">
            <a:avLst/>
          </a:prstGeom>
          <a:noFill/>
          <a:ln/>
        </p:spPr>
        <p:txBody>
          <a:bodyPr wrap="square" lIns="0" tIns="0" rIns="0" bIns="0" rtlCol="0" anchor="ctr"/>
          <a:lstStyle/>
          <a:p>
            <a:pPr marL="0" indent="0">
              <a:buNone/>
            </a:pPr>
            <a:r>
              <a:rPr lang="en-US" sz="900" b="1" kern="0" spc="300" dirty="0">
                <a:solidFill>
                  <a:srgbClr val="CC1414"/>
                </a:solidFill>
              </a:rPr>
              <a:t>CERTIFICATIONS &amp; STANDARDS</a:t>
            </a:r>
            <a:endParaRPr lang="en-US" sz="900" dirty="0"/>
          </a:p>
        </p:txBody>
      </p:sp>
      <p:sp>
        <p:nvSpPr>
          <p:cNvPr id="11" name="Text 7"/>
          <p:cNvSpPr/>
          <p:nvPr/>
        </p:nvSpPr>
        <p:spPr>
          <a:xfrm>
            <a:off x="594360" y="5394960"/>
            <a:ext cx="10972800" cy="457200"/>
          </a:xfrm>
          <a:prstGeom prst="rect">
            <a:avLst/>
          </a:prstGeom>
          <a:noFill/>
          <a:ln/>
        </p:spPr>
        <p:txBody>
          <a:bodyPr wrap="square" lIns="0" tIns="0" rIns="0" bIns="0" rtlCol="0" anchor="ctr"/>
          <a:lstStyle/>
          <a:p>
            <a:pPr marL="0" indent="0">
              <a:buNone/>
            </a:pPr>
            <a:r>
              <a:rPr lang="en-US" sz="1150" b="1" dirty="0">
                <a:solidFill>
                  <a:srgbClr val="0D1F3C"/>
                </a:solidFill>
              </a:rPr>
              <a:t>ISO 9001:2015      </a:t>
            </a:r>
            <a:r>
              <a:rPr lang="en-US" sz="1150" dirty="0">
                <a:solidFill>
                  <a:srgbClr val="4A5568"/>
                </a:solidFill>
              </a:rPr>
              <a:t>Quality Management
</a:t>
            </a:r>
            <a:r>
              <a:rPr lang="en-US" sz="1150" b="1" dirty="0">
                <a:solidFill>
                  <a:srgbClr val="0D1F3C"/>
                </a:solidFill>
              </a:rPr>
              <a:t>TB/GW161-2019  </a:t>
            </a:r>
            <a:r>
              <a:rPr lang="en-US" sz="1150" dirty="0">
                <a:solidFill>
                  <a:srgbClr val="4A5568"/>
                </a:solidFill>
              </a:rPr>
              <a:t>HFFP Bridge Tie Standard  </a:t>
            </a:r>
          </a:p>
          <a:p>
            <a:pPr marL="0" indent="0">
              <a:buNone/>
            </a:pPr>
            <a:r>
              <a:rPr lang="en-US" sz="1150" b="1" dirty="0">
                <a:solidFill>
                  <a:srgbClr val="0D1F3C"/>
                </a:solidFill>
              </a:rPr>
              <a:t>CJ/T 399-2012       </a:t>
            </a:r>
            <a:r>
              <a:rPr lang="en-US" sz="1150" dirty="0">
                <a:solidFill>
                  <a:srgbClr val="4A5568"/>
                </a:solidFill>
              </a:rPr>
              <a:t>LFFP Transit Tie </a:t>
            </a:r>
          </a:p>
          <a:p>
            <a:pPr marL="0" indent="0">
              <a:buNone/>
            </a:pPr>
            <a:r>
              <a:rPr lang="en-US" sz="1150" b="1" dirty="0">
                <a:solidFill>
                  <a:srgbClr val="0D1F3C"/>
                </a:solidFill>
              </a:rPr>
              <a:t>JISE 1203:2007      </a:t>
            </a:r>
            <a:r>
              <a:rPr lang="en-US" sz="1150" dirty="0">
                <a:solidFill>
                  <a:srgbClr val="4A5568"/>
                </a:solidFill>
              </a:rPr>
              <a:t>Japanese Standard Compliant</a:t>
            </a:r>
            <a:endParaRPr lang="en-US" sz="1150" dirty="0"/>
          </a:p>
        </p:txBody>
      </p:sp>
      <p:sp>
        <p:nvSpPr>
          <p:cNvPr id="12" name="Shape 8"/>
          <p:cNvSpPr/>
          <p:nvPr/>
        </p:nvSpPr>
        <p:spPr>
          <a:xfrm>
            <a:off x="6510528" y="4892040"/>
            <a:ext cx="5303520" cy="1554480"/>
          </a:xfrm>
          <a:prstGeom prst="rect">
            <a:avLst/>
          </a:prstGeom>
          <a:solidFill>
            <a:srgbClr val="0D1F3C"/>
          </a:solidFill>
          <a:ln w="12700">
            <a:solidFill>
              <a:srgbClr val="0D1F3C"/>
            </a:solidFill>
            <a:prstDash val="solid"/>
          </a:ln>
        </p:spPr>
        <p:txBody>
          <a:bodyPr/>
          <a:lstStyle/>
          <a:p>
            <a:endParaRPr lang="en-US"/>
          </a:p>
        </p:txBody>
      </p:sp>
      <p:sp>
        <p:nvSpPr>
          <p:cNvPr id="13" name="Text 9"/>
          <p:cNvSpPr/>
          <p:nvPr/>
        </p:nvSpPr>
        <p:spPr>
          <a:xfrm>
            <a:off x="6688836" y="4946904"/>
            <a:ext cx="4937760" cy="274320"/>
          </a:xfrm>
          <a:prstGeom prst="rect">
            <a:avLst/>
          </a:prstGeom>
          <a:noFill/>
          <a:ln/>
        </p:spPr>
        <p:txBody>
          <a:bodyPr wrap="square" lIns="0" tIns="0" rIns="0" bIns="0" rtlCol="0" anchor="ctr"/>
          <a:lstStyle/>
          <a:p>
            <a:pPr marL="0" indent="0">
              <a:buNone/>
            </a:pPr>
            <a:r>
              <a:rPr lang="en-US" sz="900" b="1" kern="0" spc="300" dirty="0">
                <a:solidFill>
                  <a:srgbClr val="CC1414"/>
                </a:solidFill>
              </a:rPr>
              <a:t>US CONTACT</a:t>
            </a:r>
            <a:endParaRPr lang="en-US" sz="900" dirty="0"/>
          </a:p>
        </p:txBody>
      </p:sp>
      <p:sp>
        <p:nvSpPr>
          <p:cNvPr id="14" name="Text 10"/>
          <p:cNvSpPr/>
          <p:nvPr/>
        </p:nvSpPr>
        <p:spPr>
          <a:xfrm>
            <a:off x="6675120" y="4572000"/>
            <a:ext cx="4937760" cy="1645920"/>
          </a:xfrm>
          <a:prstGeom prst="rect">
            <a:avLst/>
          </a:prstGeom>
          <a:noFill/>
          <a:ln/>
        </p:spPr>
        <p:txBody>
          <a:bodyPr wrap="square" lIns="0" tIns="0" rIns="0" bIns="0" rtlCol="0" anchor="ctr"/>
          <a:lstStyle/>
          <a:p>
            <a:pPr marL="0" indent="0">
              <a:buNone/>
            </a:pPr>
            <a:endParaRPr lang="en-US" sz="1300" b="1" dirty="0">
              <a:solidFill>
                <a:srgbClr val="FFFFFF"/>
              </a:solidFill>
            </a:endParaRPr>
          </a:p>
          <a:p>
            <a:pPr marL="0" indent="0">
              <a:buNone/>
            </a:pPr>
            <a:endParaRPr lang="en-US" sz="1300" b="1" dirty="0">
              <a:solidFill>
                <a:srgbClr val="FFFFFF"/>
              </a:solidFill>
            </a:endParaRPr>
          </a:p>
          <a:p>
            <a:pPr marL="0" indent="0">
              <a:buNone/>
            </a:pPr>
            <a:r>
              <a:rPr lang="en-US" sz="1300" b="1" dirty="0" err="1">
                <a:solidFill>
                  <a:srgbClr val="FFFFFF"/>
                </a:solidFill>
              </a:rPr>
              <a:t>Hilywill</a:t>
            </a:r>
            <a:r>
              <a:rPr lang="en-US" sz="1300" b="1" dirty="0">
                <a:solidFill>
                  <a:srgbClr val="FFFFFF"/>
                </a:solidFill>
              </a:rPr>
              <a:t> Technologies LLC
</a:t>
            </a:r>
            <a:r>
              <a:rPr lang="en-US" sz="1100" dirty="0">
                <a:solidFill>
                  <a:srgbClr val="FFFFFF"/>
                </a:solidFill>
              </a:rPr>
              <a:t>7763 N Haggerty Rd, Canton, MI 48187
Sam Liu  |  Phone: +1 (313) 9306791
Email: samliu@hilywill.com</a:t>
            </a:r>
            <a:endParaRPr lang="en-US" sz="1300" dirty="0"/>
          </a:p>
        </p:txBody>
      </p:sp>
      <p:sp>
        <p:nvSpPr>
          <p:cNvPr id="15" name="Shape 11"/>
          <p:cNvSpPr/>
          <p:nvPr/>
        </p:nvSpPr>
        <p:spPr>
          <a:xfrm>
            <a:off x="0" y="6537960"/>
            <a:ext cx="12161520" cy="320040"/>
          </a:xfrm>
          <a:prstGeom prst="rect">
            <a:avLst/>
          </a:prstGeom>
          <a:solidFill>
            <a:srgbClr val="CC1414"/>
          </a:solidFill>
          <a:ln w="12700">
            <a:solidFill>
              <a:srgbClr val="CC1414"/>
            </a:solidFill>
            <a:prstDash val="solid"/>
          </a:ln>
        </p:spPr>
        <p:txBody>
          <a:bodyPr/>
          <a:lstStyle/>
          <a:p>
            <a:endParaRPr lang="en-US"/>
          </a:p>
        </p:txBody>
      </p:sp>
      <p:pic>
        <p:nvPicPr>
          <p:cNvPr id="17" name="Picture 16">
            <a:extLst>
              <a:ext uri="{FF2B5EF4-FFF2-40B4-BE49-F238E27FC236}">
                <a16:creationId xmlns:a16="http://schemas.microsoft.com/office/drawing/2014/main" id="{E32C2515-8E71-046A-9206-59F8A24DC294}"/>
              </a:ext>
            </a:extLst>
          </p:cNvPr>
          <p:cNvPicPr>
            <a:picLocks noChangeAspect="1"/>
          </p:cNvPicPr>
          <p:nvPr/>
        </p:nvPicPr>
        <p:blipFill>
          <a:blip r:embed="rId4"/>
          <a:stretch>
            <a:fillRect/>
          </a:stretch>
        </p:blipFill>
        <p:spPr>
          <a:xfrm>
            <a:off x="6510528" y="1225296"/>
            <a:ext cx="2596947" cy="3255264"/>
          </a:xfrm>
          <a:prstGeom prst="rect">
            <a:avLst/>
          </a:prstGeom>
        </p:spPr>
      </p:pic>
      <p:pic>
        <p:nvPicPr>
          <p:cNvPr id="19" name="Picture 18">
            <a:extLst>
              <a:ext uri="{FF2B5EF4-FFF2-40B4-BE49-F238E27FC236}">
                <a16:creationId xmlns:a16="http://schemas.microsoft.com/office/drawing/2014/main" id="{59AE7C50-2662-5EDB-8A5D-3124E81528A1}"/>
              </a:ext>
            </a:extLst>
          </p:cNvPr>
          <p:cNvPicPr>
            <a:picLocks noChangeAspect="1"/>
          </p:cNvPicPr>
          <p:nvPr/>
        </p:nvPicPr>
        <p:blipFill>
          <a:blip r:embed="rId5"/>
          <a:stretch>
            <a:fillRect/>
          </a:stretch>
        </p:blipFill>
        <p:spPr>
          <a:xfrm>
            <a:off x="9279896" y="1197864"/>
            <a:ext cx="2596947" cy="3255264"/>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6F9"/>
        </a:solidFill>
        <a:effectLst/>
      </p:bgPr>
    </p:bg>
    <p:spTree>
      <p:nvGrpSpPr>
        <p:cNvPr id="1" name=""/>
        <p:cNvGrpSpPr/>
        <p:nvPr/>
      </p:nvGrpSpPr>
      <p:grpSpPr>
        <a:xfrm>
          <a:off x="0" y="0"/>
          <a:ext cx="0" cy="0"/>
          <a:chOff x="0" y="0"/>
          <a:chExt cx="0" cy="0"/>
        </a:xfrm>
      </p:grpSpPr>
      <p:sp>
        <p:nvSpPr>
          <p:cNvPr id="2" name="Shape 0"/>
          <p:cNvSpPr/>
          <p:nvPr/>
        </p:nvSpPr>
        <p:spPr>
          <a:xfrm>
            <a:off x="0" y="0"/>
            <a:ext cx="12161520" cy="685800"/>
          </a:xfrm>
          <a:prstGeom prst="rect">
            <a:avLst/>
          </a:prstGeom>
          <a:solidFill>
            <a:srgbClr val="0D1F3C"/>
          </a:solidFill>
          <a:ln w="12700">
            <a:solidFill>
              <a:srgbClr val="0D1F3C"/>
            </a:solidFill>
            <a:prstDash val="solid"/>
          </a:ln>
        </p:spPr>
        <p:txBody>
          <a:bodyPr/>
          <a:lstStyle/>
          <a:p>
            <a:endParaRPr lang="en-US"/>
          </a:p>
        </p:txBody>
      </p:sp>
      <p:pic>
        <p:nvPicPr>
          <p:cNvPr id="3" name="Image 0" descr="preencoded.png"/>
          <p:cNvPicPr>
            <a:picLocks noChangeAspect="1"/>
          </p:cNvPicPr>
          <p:nvPr/>
        </p:nvPicPr>
        <p:blipFill>
          <a:blip r:embed="rId3"/>
          <a:stretch>
            <a:fillRect/>
          </a:stretch>
        </p:blipFill>
        <p:spPr>
          <a:xfrm>
            <a:off x="274320" y="64008"/>
            <a:ext cx="1049983" cy="566928"/>
          </a:xfrm>
          <a:prstGeom prst="rect">
            <a:avLst/>
          </a:prstGeom>
        </p:spPr>
      </p:pic>
      <p:sp>
        <p:nvSpPr>
          <p:cNvPr id="4" name="Text 1"/>
          <p:cNvSpPr/>
          <p:nvPr/>
        </p:nvSpPr>
        <p:spPr>
          <a:xfrm>
            <a:off x="2011680" y="164592"/>
            <a:ext cx="8229600" cy="365760"/>
          </a:xfrm>
          <a:prstGeom prst="rect">
            <a:avLst/>
          </a:prstGeom>
          <a:noFill/>
          <a:ln/>
        </p:spPr>
        <p:txBody>
          <a:bodyPr wrap="square" lIns="0" tIns="0" rIns="0" bIns="0" rtlCol="0" anchor="ctr"/>
          <a:lstStyle/>
          <a:p>
            <a:pPr marL="0" indent="0">
              <a:buNone/>
            </a:pPr>
            <a:r>
              <a:rPr lang="en-US" sz="1600" b="1" kern="0" spc="300" dirty="0">
                <a:solidFill>
                  <a:srgbClr val="FFFFFF"/>
                </a:solidFill>
              </a:rPr>
              <a:t>PRODUCT LINE</a:t>
            </a:r>
            <a:endParaRPr lang="en-US" sz="1600" dirty="0"/>
          </a:p>
        </p:txBody>
      </p:sp>
      <p:sp>
        <p:nvSpPr>
          <p:cNvPr id="5" name="Text 2"/>
          <p:cNvSpPr/>
          <p:nvPr/>
        </p:nvSpPr>
        <p:spPr>
          <a:xfrm>
            <a:off x="457200" y="868680"/>
            <a:ext cx="11338560" cy="548640"/>
          </a:xfrm>
          <a:prstGeom prst="rect">
            <a:avLst/>
          </a:prstGeom>
          <a:noFill/>
          <a:ln/>
        </p:spPr>
        <p:txBody>
          <a:bodyPr wrap="square" lIns="0" tIns="0" rIns="0" bIns="0" rtlCol="0" anchor="ctr"/>
          <a:lstStyle/>
          <a:p>
            <a:pPr marL="0" indent="0" algn="ctr">
              <a:buNone/>
            </a:pPr>
            <a:r>
              <a:rPr lang="en-US" sz="2600" b="1" dirty="0">
                <a:solidFill>
                  <a:srgbClr val="0D1F3C"/>
                </a:solidFill>
                <a:latin typeface="Georgia" pitchFamily="34" charset="0"/>
                <a:ea typeface="Georgia" pitchFamily="34" charset="-122"/>
                <a:cs typeface="Georgia" pitchFamily="34" charset="-120"/>
              </a:rPr>
              <a:t>FFU Railroad Tie Product Line</a:t>
            </a:r>
            <a:endParaRPr lang="en-US" sz="2600" dirty="0"/>
          </a:p>
        </p:txBody>
      </p:sp>
      <p:sp>
        <p:nvSpPr>
          <p:cNvPr id="6" name="Text 3"/>
          <p:cNvSpPr/>
          <p:nvPr/>
        </p:nvSpPr>
        <p:spPr>
          <a:xfrm>
            <a:off x="457200" y="1417320"/>
            <a:ext cx="11338560" cy="274320"/>
          </a:xfrm>
          <a:prstGeom prst="rect">
            <a:avLst/>
          </a:prstGeom>
          <a:noFill/>
          <a:ln/>
        </p:spPr>
        <p:txBody>
          <a:bodyPr wrap="square" lIns="0" tIns="0" rIns="0" bIns="0" rtlCol="0" anchor="ctr"/>
          <a:lstStyle/>
          <a:p>
            <a:pPr marL="0" indent="0" algn="ctr">
              <a:buNone/>
            </a:pPr>
            <a:r>
              <a:rPr lang="en-US" sz="1200" dirty="0">
                <a:solidFill>
                  <a:srgbClr val="4A5568"/>
                </a:solidFill>
              </a:rPr>
              <a:t>Two density specifications engineered for specific track applications</a:t>
            </a:r>
            <a:endParaRPr lang="en-US" sz="1200" dirty="0"/>
          </a:p>
        </p:txBody>
      </p:sp>
      <p:sp>
        <p:nvSpPr>
          <p:cNvPr id="7" name="Shape 4"/>
          <p:cNvSpPr/>
          <p:nvPr/>
        </p:nvSpPr>
        <p:spPr>
          <a:xfrm>
            <a:off x="457200" y="1783080"/>
            <a:ext cx="5349240" cy="4663440"/>
          </a:xfrm>
          <a:prstGeom prst="rect">
            <a:avLst/>
          </a:prstGeom>
          <a:solidFill>
            <a:srgbClr val="FFFFFF"/>
          </a:solidFill>
          <a:ln w="12700">
            <a:solidFill>
              <a:srgbClr val="D0DBE8"/>
            </a:solidFill>
            <a:prstDash val="solid"/>
          </a:ln>
          <a:effectLst>
            <a:outerShdw blurRad="76200" dist="25400" dir="8100000" algn="bl" rotWithShape="0">
              <a:srgbClr val="000000">
                <a:alpha val="10000"/>
              </a:srgbClr>
            </a:outerShdw>
          </a:effectLst>
        </p:spPr>
        <p:txBody>
          <a:bodyPr/>
          <a:lstStyle/>
          <a:p>
            <a:endParaRPr lang="en-US"/>
          </a:p>
        </p:txBody>
      </p:sp>
      <p:sp>
        <p:nvSpPr>
          <p:cNvPr id="8" name="Shape 5"/>
          <p:cNvSpPr/>
          <p:nvPr/>
        </p:nvSpPr>
        <p:spPr>
          <a:xfrm>
            <a:off x="457200" y="1783080"/>
            <a:ext cx="5349240" cy="658368"/>
          </a:xfrm>
          <a:prstGeom prst="rect">
            <a:avLst/>
          </a:prstGeom>
          <a:solidFill>
            <a:srgbClr val="0D1F3C"/>
          </a:solidFill>
          <a:ln w="12700">
            <a:solidFill>
              <a:srgbClr val="0D1F3C"/>
            </a:solidFill>
            <a:prstDash val="solid"/>
          </a:ln>
        </p:spPr>
        <p:txBody>
          <a:bodyPr/>
          <a:lstStyle/>
          <a:p>
            <a:endParaRPr lang="en-US"/>
          </a:p>
        </p:txBody>
      </p:sp>
      <p:sp>
        <p:nvSpPr>
          <p:cNvPr id="9" name="Text 6"/>
          <p:cNvSpPr/>
          <p:nvPr/>
        </p:nvSpPr>
        <p:spPr>
          <a:xfrm>
            <a:off x="594360" y="1810512"/>
            <a:ext cx="3200400" cy="347472"/>
          </a:xfrm>
          <a:prstGeom prst="rect">
            <a:avLst/>
          </a:prstGeom>
          <a:noFill/>
          <a:ln/>
        </p:spPr>
        <p:txBody>
          <a:bodyPr wrap="square" lIns="0" tIns="0" rIns="0" bIns="0" rtlCol="0" anchor="ctr"/>
          <a:lstStyle/>
          <a:p>
            <a:pPr marL="0" indent="0">
              <a:buNone/>
            </a:pPr>
            <a:r>
              <a:rPr lang="en-US" sz="1600" b="1" dirty="0">
                <a:solidFill>
                  <a:srgbClr val="FFFFFF"/>
                </a:solidFill>
              </a:rPr>
              <a:t>HFFP TIE</a:t>
            </a:r>
            <a:endParaRPr lang="en-US" sz="1600" dirty="0"/>
          </a:p>
        </p:txBody>
      </p:sp>
      <p:sp>
        <p:nvSpPr>
          <p:cNvPr id="10" name="Text 7"/>
          <p:cNvSpPr/>
          <p:nvPr/>
        </p:nvSpPr>
        <p:spPr>
          <a:xfrm>
            <a:off x="594360" y="2167128"/>
            <a:ext cx="5029200" cy="228600"/>
          </a:xfrm>
          <a:prstGeom prst="rect">
            <a:avLst/>
          </a:prstGeom>
          <a:noFill/>
          <a:ln/>
        </p:spPr>
        <p:txBody>
          <a:bodyPr wrap="square" lIns="0" tIns="0" rIns="0" bIns="0" rtlCol="0" anchor="ctr"/>
          <a:lstStyle/>
          <a:p>
            <a:pPr marL="0" indent="0">
              <a:buNone/>
            </a:pPr>
            <a:r>
              <a:rPr lang="en-US" sz="1000" dirty="0">
                <a:solidFill>
                  <a:srgbClr val="A0BDD8"/>
                </a:solidFill>
              </a:rPr>
              <a:t>High-Density Bridge Tie</a:t>
            </a:r>
            <a:endParaRPr lang="en-US" sz="1000" dirty="0"/>
          </a:p>
        </p:txBody>
      </p:sp>
      <p:sp>
        <p:nvSpPr>
          <p:cNvPr id="11" name="Shape 8"/>
          <p:cNvSpPr/>
          <p:nvPr/>
        </p:nvSpPr>
        <p:spPr>
          <a:xfrm>
            <a:off x="4114800" y="1810512"/>
            <a:ext cx="1508760" cy="594360"/>
          </a:xfrm>
          <a:prstGeom prst="rect">
            <a:avLst/>
          </a:prstGeom>
          <a:solidFill>
            <a:srgbClr val="CC1414"/>
          </a:solidFill>
          <a:ln w="12700">
            <a:solidFill>
              <a:srgbClr val="CC1414"/>
            </a:solidFill>
            <a:prstDash val="solid"/>
          </a:ln>
        </p:spPr>
        <p:txBody>
          <a:bodyPr/>
          <a:lstStyle/>
          <a:p>
            <a:endParaRPr lang="en-US"/>
          </a:p>
        </p:txBody>
      </p:sp>
      <p:sp>
        <p:nvSpPr>
          <p:cNvPr id="12" name="Text 9"/>
          <p:cNvSpPr/>
          <p:nvPr/>
        </p:nvSpPr>
        <p:spPr>
          <a:xfrm>
            <a:off x="4114800" y="1828800"/>
            <a:ext cx="1508760" cy="347472"/>
          </a:xfrm>
          <a:prstGeom prst="rect">
            <a:avLst/>
          </a:prstGeom>
          <a:noFill/>
          <a:ln/>
        </p:spPr>
        <p:txBody>
          <a:bodyPr wrap="square" lIns="0" tIns="0" rIns="0" bIns="0" rtlCol="0" anchor="ctr"/>
          <a:lstStyle/>
          <a:p>
            <a:pPr marL="0" indent="0" algn="ctr">
              <a:buNone/>
            </a:pPr>
            <a:r>
              <a:rPr lang="en-US" sz="1400" b="1" dirty="0">
                <a:solidFill>
                  <a:srgbClr val="FFFFFF"/>
                </a:solidFill>
              </a:rPr>
              <a:t>75 lb/ft³</a:t>
            </a:r>
            <a:endParaRPr lang="en-US" sz="1400" dirty="0"/>
          </a:p>
        </p:txBody>
      </p:sp>
      <p:sp>
        <p:nvSpPr>
          <p:cNvPr id="13" name="Text 10"/>
          <p:cNvSpPr/>
          <p:nvPr/>
        </p:nvSpPr>
        <p:spPr>
          <a:xfrm>
            <a:off x="4114800" y="2176272"/>
            <a:ext cx="1508760" cy="228600"/>
          </a:xfrm>
          <a:prstGeom prst="rect">
            <a:avLst/>
          </a:prstGeom>
          <a:noFill/>
          <a:ln/>
        </p:spPr>
        <p:txBody>
          <a:bodyPr wrap="square" lIns="0" tIns="0" rIns="0" bIns="0" rtlCol="0" anchor="ctr"/>
          <a:lstStyle/>
          <a:p>
            <a:pPr marL="0" indent="0" algn="ctr">
              <a:buNone/>
            </a:pPr>
            <a:r>
              <a:rPr lang="en-US" sz="850" dirty="0">
                <a:solidFill>
                  <a:srgbClr val="FFFFFF"/>
                </a:solidFill>
              </a:rPr>
              <a:t>(1,200 kg/m³)</a:t>
            </a:r>
            <a:endParaRPr lang="en-US" sz="850" dirty="0"/>
          </a:p>
        </p:txBody>
      </p:sp>
      <p:pic>
        <p:nvPicPr>
          <p:cNvPr id="14" name="Image 1" descr="preencoded.png"/>
          <p:cNvPicPr>
            <a:picLocks noChangeAspect="1"/>
          </p:cNvPicPr>
          <p:nvPr/>
        </p:nvPicPr>
        <p:blipFill>
          <a:blip r:embed="rId4"/>
          <a:srcRect/>
          <a:stretch/>
        </p:blipFill>
        <p:spPr>
          <a:xfrm>
            <a:off x="502920" y="2505456"/>
            <a:ext cx="5257800" cy="2276856"/>
          </a:xfrm>
          <a:prstGeom prst="rect">
            <a:avLst/>
          </a:prstGeom>
        </p:spPr>
      </p:pic>
      <p:sp>
        <p:nvSpPr>
          <p:cNvPr id="15" name="Text 11"/>
          <p:cNvSpPr/>
          <p:nvPr/>
        </p:nvSpPr>
        <p:spPr>
          <a:xfrm>
            <a:off x="594360" y="4782312"/>
            <a:ext cx="5074920" cy="1334708"/>
          </a:xfrm>
          <a:prstGeom prst="rect">
            <a:avLst/>
          </a:prstGeom>
          <a:noFill/>
          <a:ln/>
        </p:spPr>
        <p:txBody>
          <a:bodyPr wrap="square" lIns="0" tIns="0" rIns="0" bIns="0" rtlCol="0" anchor="ctr"/>
          <a:lstStyle/>
          <a:p>
            <a:pPr marL="342900" indent="-342900">
              <a:buSzPct val="100000"/>
              <a:buChar char="•"/>
            </a:pPr>
            <a:r>
              <a:rPr lang="en-US" sz="1200" dirty="0">
                <a:solidFill>
                  <a:srgbClr val="4A5568"/>
                </a:solidFill>
              </a:rPr>
              <a:t>Primary application: Steel bridge ties</a:t>
            </a:r>
            <a:endParaRPr lang="en-US" sz="1200" dirty="0"/>
          </a:p>
          <a:p>
            <a:pPr marL="342900" indent="-342900">
              <a:buSzPct val="100000"/>
              <a:buChar char="•"/>
            </a:pPr>
            <a:r>
              <a:rPr lang="en-US" sz="1200" dirty="0">
                <a:solidFill>
                  <a:srgbClr val="4A5568"/>
                </a:solidFill>
              </a:rPr>
              <a:t>Standard: TB/GW161-2019</a:t>
            </a:r>
            <a:endParaRPr lang="en-US" sz="1200" dirty="0"/>
          </a:p>
          <a:p>
            <a:pPr marL="342900" indent="-342900">
              <a:buSzPct val="100000"/>
              <a:buChar char="•"/>
            </a:pPr>
            <a:r>
              <a:rPr lang="en-US" sz="1200" dirty="0">
                <a:solidFill>
                  <a:srgbClr val="4A5568"/>
                </a:solidFill>
              </a:rPr>
              <a:t>Over 20,000 ties installed on Chinese rail lines</a:t>
            </a:r>
            <a:endParaRPr lang="en-US" sz="1200" dirty="0"/>
          </a:p>
          <a:p>
            <a:pPr marL="342900" indent="-342900">
              <a:buSzPct val="100000"/>
              <a:buChar char="•"/>
            </a:pPr>
            <a:r>
              <a:rPr lang="en-US" sz="1200" dirty="0">
                <a:solidFill>
                  <a:srgbClr val="4A5568"/>
                </a:solidFill>
              </a:rPr>
              <a:t>Proven 20+ year track record</a:t>
            </a:r>
            <a:endParaRPr lang="en-US" sz="1200" dirty="0"/>
          </a:p>
        </p:txBody>
      </p:sp>
      <p:sp>
        <p:nvSpPr>
          <p:cNvPr id="16" name="Shape 12"/>
          <p:cNvSpPr/>
          <p:nvPr/>
        </p:nvSpPr>
        <p:spPr>
          <a:xfrm>
            <a:off x="6355080" y="1783080"/>
            <a:ext cx="5349240" cy="4663440"/>
          </a:xfrm>
          <a:prstGeom prst="rect">
            <a:avLst/>
          </a:prstGeom>
          <a:solidFill>
            <a:srgbClr val="FFFFFF"/>
          </a:solidFill>
          <a:ln w="12700">
            <a:solidFill>
              <a:srgbClr val="D0DBE8"/>
            </a:solidFill>
            <a:prstDash val="solid"/>
          </a:ln>
          <a:effectLst>
            <a:outerShdw blurRad="76200" dist="25400" dir="8100000" algn="bl" rotWithShape="0">
              <a:srgbClr val="000000">
                <a:alpha val="10000"/>
              </a:srgbClr>
            </a:outerShdw>
          </a:effectLst>
        </p:spPr>
        <p:txBody>
          <a:bodyPr/>
          <a:lstStyle/>
          <a:p>
            <a:endParaRPr lang="en-US"/>
          </a:p>
        </p:txBody>
      </p:sp>
      <p:sp>
        <p:nvSpPr>
          <p:cNvPr id="17" name="Shape 13"/>
          <p:cNvSpPr/>
          <p:nvPr/>
        </p:nvSpPr>
        <p:spPr>
          <a:xfrm>
            <a:off x="6355080" y="1783080"/>
            <a:ext cx="5349240" cy="658368"/>
          </a:xfrm>
          <a:prstGeom prst="rect">
            <a:avLst/>
          </a:prstGeom>
          <a:solidFill>
            <a:srgbClr val="1A3A5C"/>
          </a:solidFill>
          <a:ln w="12700">
            <a:solidFill>
              <a:srgbClr val="1A3A5C"/>
            </a:solidFill>
            <a:prstDash val="solid"/>
          </a:ln>
        </p:spPr>
        <p:txBody>
          <a:bodyPr/>
          <a:lstStyle/>
          <a:p>
            <a:endParaRPr lang="en-US"/>
          </a:p>
        </p:txBody>
      </p:sp>
      <p:sp>
        <p:nvSpPr>
          <p:cNvPr id="18" name="Text 14"/>
          <p:cNvSpPr/>
          <p:nvPr/>
        </p:nvSpPr>
        <p:spPr>
          <a:xfrm>
            <a:off x="6492240" y="1810512"/>
            <a:ext cx="3200400" cy="347472"/>
          </a:xfrm>
          <a:prstGeom prst="rect">
            <a:avLst/>
          </a:prstGeom>
          <a:noFill/>
          <a:ln/>
        </p:spPr>
        <p:txBody>
          <a:bodyPr wrap="square" lIns="0" tIns="0" rIns="0" bIns="0" rtlCol="0" anchor="ctr"/>
          <a:lstStyle/>
          <a:p>
            <a:pPr marL="0" indent="0">
              <a:buNone/>
            </a:pPr>
            <a:r>
              <a:rPr lang="en-US" sz="1600" b="1" dirty="0">
                <a:solidFill>
                  <a:srgbClr val="FFFFFF"/>
                </a:solidFill>
              </a:rPr>
              <a:t>LFFP TIE</a:t>
            </a:r>
            <a:endParaRPr lang="en-US" sz="1600" dirty="0"/>
          </a:p>
        </p:txBody>
      </p:sp>
      <p:sp>
        <p:nvSpPr>
          <p:cNvPr id="19" name="Text 15"/>
          <p:cNvSpPr/>
          <p:nvPr/>
        </p:nvSpPr>
        <p:spPr>
          <a:xfrm>
            <a:off x="6492240" y="2167128"/>
            <a:ext cx="5029200" cy="228600"/>
          </a:xfrm>
          <a:prstGeom prst="rect">
            <a:avLst/>
          </a:prstGeom>
          <a:noFill/>
          <a:ln/>
        </p:spPr>
        <p:txBody>
          <a:bodyPr wrap="square" lIns="0" tIns="0" rIns="0" bIns="0" rtlCol="0" anchor="ctr"/>
          <a:lstStyle/>
          <a:p>
            <a:pPr marL="0" indent="0">
              <a:buNone/>
            </a:pPr>
            <a:r>
              <a:rPr lang="en-US" sz="1000" dirty="0">
                <a:solidFill>
                  <a:srgbClr val="A0BDD8"/>
                </a:solidFill>
              </a:rPr>
              <a:t>Lightweight Synthetic Fiber-Foam Tie</a:t>
            </a:r>
            <a:endParaRPr lang="en-US" sz="1000" dirty="0"/>
          </a:p>
        </p:txBody>
      </p:sp>
      <p:sp>
        <p:nvSpPr>
          <p:cNvPr id="20" name="Shape 16"/>
          <p:cNvSpPr/>
          <p:nvPr/>
        </p:nvSpPr>
        <p:spPr>
          <a:xfrm>
            <a:off x="10012680" y="1810512"/>
            <a:ext cx="1508760" cy="594360"/>
          </a:xfrm>
          <a:prstGeom prst="rect">
            <a:avLst/>
          </a:prstGeom>
          <a:solidFill>
            <a:srgbClr val="D4A017"/>
          </a:solidFill>
          <a:ln w="12700">
            <a:solidFill>
              <a:srgbClr val="D4A017"/>
            </a:solidFill>
            <a:prstDash val="solid"/>
          </a:ln>
        </p:spPr>
        <p:txBody>
          <a:bodyPr/>
          <a:lstStyle/>
          <a:p>
            <a:endParaRPr lang="en-US"/>
          </a:p>
        </p:txBody>
      </p:sp>
      <p:sp>
        <p:nvSpPr>
          <p:cNvPr id="21" name="Text 17"/>
          <p:cNvSpPr/>
          <p:nvPr/>
        </p:nvSpPr>
        <p:spPr>
          <a:xfrm>
            <a:off x="10012680" y="1828800"/>
            <a:ext cx="1508760" cy="347472"/>
          </a:xfrm>
          <a:prstGeom prst="rect">
            <a:avLst/>
          </a:prstGeom>
          <a:noFill/>
          <a:ln/>
        </p:spPr>
        <p:txBody>
          <a:bodyPr wrap="square" lIns="0" tIns="0" rIns="0" bIns="0" rtlCol="0" anchor="ctr"/>
          <a:lstStyle/>
          <a:p>
            <a:pPr marL="0" indent="0" algn="ctr">
              <a:buNone/>
            </a:pPr>
            <a:r>
              <a:rPr lang="en-US" sz="1400" b="1" dirty="0">
                <a:solidFill>
                  <a:srgbClr val="FFFFFF"/>
                </a:solidFill>
              </a:rPr>
              <a:t>46 lb/ft³</a:t>
            </a:r>
            <a:endParaRPr lang="en-US" sz="1400" dirty="0"/>
          </a:p>
        </p:txBody>
      </p:sp>
      <p:sp>
        <p:nvSpPr>
          <p:cNvPr id="22" name="Text 18"/>
          <p:cNvSpPr/>
          <p:nvPr/>
        </p:nvSpPr>
        <p:spPr>
          <a:xfrm>
            <a:off x="10012680" y="2176272"/>
            <a:ext cx="1508760" cy="228600"/>
          </a:xfrm>
          <a:prstGeom prst="rect">
            <a:avLst/>
          </a:prstGeom>
          <a:noFill/>
          <a:ln/>
        </p:spPr>
        <p:txBody>
          <a:bodyPr wrap="square" lIns="0" tIns="0" rIns="0" bIns="0" rtlCol="0" anchor="ctr"/>
          <a:lstStyle/>
          <a:p>
            <a:pPr marL="0" indent="0" algn="ctr">
              <a:buNone/>
            </a:pPr>
            <a:r>
              <a:rPr lang="en-US" sz="850" dirty="0">
                <a:solidFill>
                  <a:srgbClr val="FFFFFF"/>
                </a:solidFill>
              </a:rPr>
              <a:t>(740 kg/m³)</a:t>
            </a:r>
            <a:endParaRPr lang="en-US" sz="850" dirty="0"/>
          </a:p>
        </p:txBody>
      </p:sp>
      <p:pic>
        <p:nvPicPr>
          <p:cNvPr id="23" name="Image 2" descr="preencoded.png"/>
          <p:cNvPicPr>
            <a:picLocks noChangeAspect="1"/>
          </p:cNvPicPr>
          <p:nvPr/>
        </p:nvPicPr>
        <p:blipFill>
          <a:blip r:embed="rId5"/>
          <a:srcRect/>
          <a:stretch/>
        </p:blipFill>
        <p:spPr>
          <a:xfrm>
            <a:off x="6400800" y="2505456"/>
            <a:ext cx="5257800" cy="2276856"/>
          </a:xfrm>
          <a:prstGeom prst="rect">
            <a:avLst/>
          </a:prstGeom>
        </p:spPr>
      </p:pic>
      <p:sp>
        <p:nvSpPr>
          <p:cNvPr id="24" name="Text 19"/>
          <p:cNvSpPr/>
          <p:nvPr/>
        </p:nvSpPr>
        <p:spPr>
          <a:xfrm>
            <a:off x="6522720" y="4729654"/>
            <a:ext cx="5074920" cy="1417320"/>
          </a:xfrm>
          <a:prstGeom prst="rect">
            <a:avLst/>
          </a:prstGeom>
          <a:noFill/>
          <a:ln/>
        </p:spPr>
        <p:txBody>
          <a:bodyPr wrap="square" lIns="0" tIns="0" rIns="0" bIns="0" rtlCol="0" anchor="ctr"/>
          <a:lstStyle/>
          <a:p>
            <a:pPr marL="342900" indent="-342900">
              <a:buSzPct val="100000"/>
              <a:buChar char="•"/>
            </a:pPr>
            <a:r>
              <a:rPr lang="en-US" sz="1200" dirty="0">
                <a:solidFill>
                  <a:srgbClr val="4A5568"/>
                </a:solidFill>
              </a:rPr>
              <a:t>Applications: Subway, light rail, urban transit</a:t>
            </a:r>
            <a:endParaRPr lang="en-US" sz="1200" dirty="0"/>
          </a:p>
          <a:p>
            <a:pPr marL="342900" indent="-342900">
              <a:buSzPct val="100000"/>
              <a:buChar char="•"/>
            </a:pPr>
            <a:r>
              <a:rPr lang="en-US" sz="1200" dirty="0">
                <a:solidFill>
                  <a:srgbClr val="4A5568"/>
                </a:solidFill>
              </a:rPr>
              <a:t>Standard: CJ/T 399-2012; JISE 1203:2007</a:t>
            </a:r>
            <a:endParaRPr lang="en-US" sz="1200" dirty="0"/>
          </a:p>
          <a:p>
            <a:pPr marL="342900" indent="-342900">
              <a:buSzPct val="100000"/>
              <a:buChar char="•"/>
            </a:pPr>
            <a:r>
              <a:rPr lang="en-US" sz="1200" dirty="0">
                <a:solidFill>
                  <a:srgbClr val="4A5568"/>
                </a:solidFill>
              </a:rPr>
              <a:t>Installed in 20+ cities: Shanghai, Guangzhou, Nanjing</a:t>
            </a:r>
            <a:endParaRPr lang="en-US" sz="1200" dirty="0"/>
          </a:p>
          <a:p>
            <a:pPr marL="342900" indent="-342900">
              <a:buSzPct val="100000"/>
              <a:buChar char="•"/>
            </a:pPr>
            <a:r>
              <a:rPr lang="en-US" sz="1200" dirty="0">
                <a:solidFill>
                  <a:srgbClr val="4A5568"/>
                </a:solidFill>
              </a:rPr>
              <a:t>Exported to multiple Southeast Asian countries</a:t>
            </a:r>
            <a:endParaRPr lang="en-US" sz="1200" dirty="0"/>
          </a:p>
        </p:txBody>
      </p:sp>
      <p:sp>
        <p:nvSpPr>
          <p:cNvPr id="25" name="Shape 20"/>
          <p:cNvSpPr/>
          <p:nvPr/>
        </p:nvSpPr>
        <p:spPr>
          <a:xfrm>
            <a:off x="0" y="6537960"/>
            <a:ext cx="12161520" cy="320040"/>
          </a:xfrm>
          <a:prstGeom prst="rect">
            <a:avLst/>
          </a:prstGeom>
          <a:solidFill>
            <a:srgbClr val="CC1414"/>
          </a:solidFill>
          <a:ln w="12700">
            <a:solidFill>
              <a:srgbClr val="CC1414"/>
            </a:solidFill>
            <a:prstDash val="solid"/>
          </a:ln>
        </p:spPr>
        <p:txBody>
          <a:bodyPr/>
          <a:lstStyle/>
          <a:p>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61520" cy="685800"/>
          </a:xfrm>
          <a:prstGeom prst="rect">
            <a:avLst/>
          </a:prstGeom>
          <a:solidFill>
            <a:srgbClr val="0D1F3C"/>
          </a:solidFill>
          <a:ln w="12700">
            <a:solidFill>
              <a:srgbClr val="0D1F3C"/>
            </a:solidFill>
            <a:prstDash val="solid"/>
          </a:ln>
        </p:spPr>
        <p:txBody>
          <a:bodyPr/>
          <a:lstStyle/>
          <a:p>
            <a:endParaRPr lang="en-US"/>
          </a:p>
        </p:txBody>
      </p:sp>
      <p:pic>
        <p:nvPicPr>
          <p:cNvPr id="3" name="Image 0" descr="preencoded.png"/>
          <p:cNvPicPr>
            <a:picLocks noChangeAspect="1"/>
          </p:cNvPicPr>
          <p:nvPr/>
        </p:nvPicPr>
        <p:blipFill>
          <a:blip r:embed="rId3"/>
          <a:stretch>
            <a:fillRect/>
          </a:stretch>
        </p:blipFill>
        <p:spPr>
          <a:xfrm>
            <a:off x="274320" y="64008"/>
            <a:ext cx="1007942" cy="566928"/>
          </a:xfrm>
          <a:prstGeom prst="rect">
            <a:avLst/>
          </a:prstGeom>
        </p:spPr>
      </p:pic>
      <p:sp>
        <p:nvSpPr>
          <p:cNvPr id="4" name="Text 1"/>
          <p:cNvSpPr/>
          <p:nvPr/>
        </p:nvSpPr>
        <p:spPr>
          <a:xfrm>
            <a:off x="2011680" y="164592"/>
            <a:ext cx="8229600" cy="365760"/>
          </a:xfrm>
          <a:prstGeom prst="rect">
            <a:avLst/>
          </a:prstGeom>
          <a:noFill/>
          <a:ln/>
        </p:spPr>
        <p:txBody>
          <a:bodyPr wrap="square" lIns="0" tIns="0" rIns="0" bIns="0" rtlCol="0" anchor="ctr"/>
          <a:lstStyle/>
          <a:p>
            <a:pPr marL="0" indent="0">
              <a:buNone/>
            </a:pPr>
            <a:r>
              <a:rPr lang="en-US" sz="1600" b="1" kern="0" spc="300" dirty="0">
                <a:solidFill>
                  <a:srgbClr val="FFFFFF"/>
                </a:solidFill>
              </a:rPr>
              <a:t>KEY FEATURES &amp; ADVANTAGES</a:t>
            </a:r>
            <a:endParaRPr lang="en-US" sz="1600" dirty="0"/>
          </a:p>
        </p:txBody>
      </p:sp>
      <p:sp>
        <p:nvSpPr>
          <p:cNvPr id="5" name="Text 2"/>
          <p:cNvSpPr/>
          <p:nvPr/>
        </p:nvSpPr>
        <p:spPr>
          <a:xfrm>
            <a:off x="457200" y="822960"/>
            <a:ext cx="11338560" cy="502920"/>
          </a:xfrm>
          <a:prstGeom prst="rect">
            <a:avLst/>
          </a:prstGeom>
          <a:noFill/>
          <a:ln/>
        </p:spPr>
        <p:txBody>
          <a:bodyPr wrap="square" lIns="0" tIns="0" rIns="0" bIns="0" rtlCol="0" anchor="ctr"/>
          <a:lstStyle/>
          <a:p>
            <a:pPr marL="0" indent="0">
              <a:buNone/>
            </a:pPr>
            <a:r>
              <a:rPr lang="en-US" sz="2600" b="1" dirty="0">
                <a:solidFill>
                  <a:srgbClr val="0D1F3C"/>
                </a:solidFill>
                <a:latin typeface="Georgia" pitchFamily="34" charset="0"/>
                <a:ea typeface="Georgia" pitchFamily="34" charset="-122"/>
                <a:cs typeface="Georgia" pitchFamily="34" charset="-120"/>
              </a:rPr>
              <a:t>Why Choose Hilywill FFU Ties?</a:t>
            </a:r>
            <a:endParaRPr lang="en-US" sz="2600" dirty="0"/>
          </a:p>
        </p:txBody>
      </p:sp>
      <p:sp>
        <p:nvSpPr>
          <p:cNvPr id="6" name="Shape 3"/>
          <p:cNvSpPr/>
          <p:nvPr/>
        </p:nvSpPr>
        <p:spPr>
          <a:xfrm>
            <a:off x="365760" y="1463040"/>
            <a:ext cx="5577840" cy="1508760"/>
          </a:xfrm>
          <a:prstGeom prst="rect">
            <a:avLst/>
          </a:prstGeom>
          <a:solidFill>
            <a:srgbClr val="F4F6F9"/>
          </a:solidFill>
          <a:ln w="12700">
            <a:solidFill>
              <a:srgbClr val="D8E0EA"/>
            </a:solidFill>
            <a:prstDash val="solid"/>
          </a:ln>
          <a:effectLst>
            <a:outerShdw blurRad="50800" dist="12700" dir="8100000" algn="bl" rotWithShape="0">
              <a:srgbClr val="000000">
                <a:alpha val="7000"/>
              </a:srgbClr>
            </a:outerShdw>
          </a:effectLst>
        </p:spPr>
        <p:txBody>
          <a:bodyPr/>
          <a:lstStyle/>
          <a:p>
            <a:endParaRPr lang="en-US"/>
          </a:p>
        </p:txBody>
      </p:sp>
      <p:sp>
        <p:nvSpPr>
          <p:cNvPr id="7" name="Shape 4"/>
          <p:cNvSpPr/>
          <p:nvPr/>
        </p:nvSpPr>
        <p:spPr>
          <a:xfrm>
            <a:off x="365760" y="1463040"/>
            <a:ext cx="182880" cy="1508760"/>
          </a:xfrm>
          <a:prstGeom prst="rect">
            <a:avLst/>
          </a:prstGeom>
          <a:solidFill>
            <a:srgbClr val="CC1414"/>
          </a:solidFill>
          <a:ln w="12700">
            <a:solidFill>
              <a:srgbClr val="CC1414"/>
            </a:solidFill>
            <a:prstDash val="solid"/>
          </a:ln>
        </p:spPr>
        <p:txBody>
          <a:bodyPr/>
          <a:lstStyle/>
          <a:p>
            <a:endParaRPr lang="en-US"/>
          </a:p>
        </p:txBody>
      </p:sp>
      <p:sp>
        <p:nvSpPr>
          <p:cNvPr id="8" name="Text 5"/>
          <p:cNvSpPr/>
          <p:nvPr/>
        </p:nvSpPr>
        <p:spPr>
          <a:xfrm>
            <a:off x="685800" y="1572768"/>
            <a:ext cx="5120640" cy="292608"/>
          </a:xfrm>
          <a:prstGeom prst="rect">
            <a:avLst/>
          </a:prstGeom>
          <a:noFill/>
          <a:ln/>
        </p:spPr>
        <p:txBody>
          <a:bodyPr wrap="square" lIns="0" tIns="0" rIns="0" bIns="0" rtlCol="0" anchor="ctr"/>
          <a:lstStyle/>
          <a:p>
            <a:pPr marL="0" indent="0">
              <a:buNone/>
            </a:pPr>
            <a:r>
              <a:rPr lang="en-US" sz="1300" b="1" dirty="0">
                <a:solidFill>
                  <a:srgbClr val="0D1F3C"/>
                </a:solidFill>
              </a:rPr>
              <a:t>Exceptional Durability</a:t>
            </a:r>
            <a:endParaRPr lang="en-US" sz="1300" dirty="0"/>
          </a:p>
        </p:txBody>
      </p:sp>
      <p:sp>
        <p:nvSpPr>
          <p:cNvPr id="9" name="Text 6"/>
          <p:cNvSpPr/>
          <p:nvPr/>
        </p:nvSpPr>
        <p:spPr>
          <a:xfrm>
            <a:off x="685800" y="1920240"/>
            <a:ext cx="5120640" cy="1005840"/>
          </a:xfrm>
          <a:prstGeom prst="rect">
            <a:avLst/>
          </a:prstGeom>
          <a:noFill/>
          <a:ln/>
        </p:spPr>
        <p:txBody>
          <a:bodyPr wrap="square" lIns="0" tIns="0" rIns="0" bIns="0" rtlCol="0" anchor="ctr"/>
          <a:lstStyle/>
          <a:p>
            <a:pPr marL="0" indent="0">
              <a:buNone/>
            </a:pPr>
            <a:r>
              <a:rPr lang="en-US" sz="1100" dirty="0">
                <a:solidFill>
                  <a:srgbClr val="4A5568"/>
                </a:solidFill>
              </a:rPr>
              <a:t>Weather-resistant, non-absorbent, and impervious to chemical media corrosion. Maintains full structural strength and dimensional precision over a service life exceeding 50 years — far outlasting traditional wood ties.</a:t>
            </a:r>
            <a:endParaRPr lang="en-US" sz="1100" dirty="0"/>
          </a:p>
        </p:txBody>
      </p:sp>
      <p:sp>
        <p:nvSpPr>
          <p:cNvPr id="10" name="Shape 7"/>
          <p:cNvSpPr/>
          <p:nvPr/>
        </p:nvSpPr>
        <p:spPr>
          <a:xfrm>
            <a:off x="6263640" y="1463040"/>
            <a:ext cx="5577840" cy="1508760"/>
          </a:xfrm>
          <a:prstGeom prst="rect">
            <a:avLst/>
          </a:prstGeom>
          <a:solidFill>
            <a:srgbClr val="F4F6F9"/>
          </a:solidFill>
          <a:ln w="12700">
            <a:solidFill>
              <a:srgbClr val="D8E0EA"/>
            </a:solidFill>
            <a:prstDash val="solid"/>
          </a:ln>
          <a:effectLst>
            <a:outerShdw blurRad="50800" dist="12700" dir="8100000" algn="bl" rotWithShape="0">
              <a:srgbClr val="000000">
                <a:alpha val="7000"/>
              </a:srgbClr>
            </a:outerShdw>
          </a:effectLst>
        </p:spPr>
        <p:txBody>
          <a:bodyPr/>
          <a:lstStyle/>
          <a:p>
            <a:endParaRPr lang="en-US"/>
          </a:p>
        </p:txBody>
      </p:sp>
      <p:sp>
        <p:nvSpPr>
          <p:cNvPr id="11" name="Shape 8"/>
          <p:cNvSpPr/>
          <p:nvPr/>
        </p:nvSpPr>
        <p:spPr>
          <a:xfrm>
            <a:off x="6263640" y="1463040"/>
            <a:ext cx="182880" cy="1508760"/>
          </a:xfrm>
          <a:prstGeom prst="rect">
            <a:avLst/>
          </a:prstGeom>
          <a:solidFill>
            <a:srgbClr val="1A3A5C"/>
          </a:solidFill>
          <a:ln w="12700">
            <a:solidFill>
              <a:srgbClr val="1A3A5C"/>
            </a:solidFill>
            <a:prstDash val="solid"/>
          </a:ln>
        </p:spPr>
        <p:txBody>
          <a:bodyPr/>
          <a:lstStyle/>
          <a:p>
            <a:endParaRPr lang="en-US"/>
          </a:p>
        </p:txBody>
      </p:sp>
      <p:sp>
        <p:nvSpPr>
          <p:cNvPr id="12" name="Text 9"/>
          <p:cNvSpPr/>
          <p:nvPr/>
        </p:nvSpPr>
        <p:spPr>
          <a:xfrm>
            <a:off x="6583680" y="1572768"/>
            <a:ext cx="5120640" cy="292608"/>
          </a:xfrm>
          <a:prstGeom prst="rect">
            <a:avLst/>
          </a:prstGeom>
          <a:noFill/>
          <a:ln/>
        </p:spPr>
        <p:txBody>
          <a:bodyPr wrap="square" lIns="0" tIns="0" rIns="0" bIns="0" rtlCol="0" anchor="ctr"/>
          <a:lstStyle/>
          <a:p>
            <a:pPr marL="0" indent="0">
              <a:buNone/>
            </a:pPr>
            <a:r>
              <a:rPr lang="en-US" sz="1300" b="1" dirty="0">
                <a:solidFill>
                  <a:srgbClr val="0D1F3C"/>
                </a:solidFill>
              </a:rPr>
              <a:t>Lightweight Construction</a:t>
            </a:r>
            <a:endParaRPr lang="en-US" sz="1300" dirty="0"/>
          </a:p>
        </p:txBody>
      </p:sp>
      <p:sp>
        <p:nvSpPr>
          <p:cNvPr id="13" name="Text 10"/>
          <p:cNvSpPr/>
          <p:nvPr/>
        </p:nvSpPr>
        <p:spPr>
          <a:xfrm>
            <a:off x="6583680" y="1920240"/>
            <a:ext cx="5120640" cy="1005840"/>
          </a:xfrm>
          <a:prstGeom prst="rect">
            <a:avLst/>
          </a:prstGeom>
          <a:noFill/>
          <a:ln/>
        </p:spPr>
        <p:txBody>
          <a:bodyPr wrap="square" lIns="0" tIns="0" rIns="0" bIns="0" rtlCol="0" anchor="ctr"/>
          <a:lstStyle/>
          <a:p>
            <a:pPr marL="0" indent="0">
              <a:buNone/>
            </a:pPr>
            <a:r>
              <a:rPr lang="en-US" sz="1100" dirty="0">
                <a:solidFill>
                  <a:srgbClr val="4A5568"/>
                </a:solidFill>
              </a:rPr>
              <a:t>Low-density foam core gives these ties a weight similar to wood, making handling, transport, and installation straightforward with standard crew tools and equipment.</a:t>
            </a:r>
            <a:endParaRPr lang="en-US" sz="1100" dirty="0"/>
          </a:p>
        </p:txBody>
      </p:sp>
      <p:sp>
        <p:nvSpPr>
          <p:cNvPr id="14" name="Shape 11"/>
          <p:cNvSpPr/>
          <p:nvPr/>
        </p:nvSpPr>
        <p:spPr>
          <a:xfrm>
            <a:off x="365760" y="3090672"/>
            <a:ext cx="5577840" cy="1508760"/>
          </a:xfrm>
          <a:prstGeom prst="rect">
            <a:avLst/>
          </a:prstGeom>
          <a:solidFill>
            <a:srgbClr val="F4F6F9"/>
          </a:solidFill>
          <a:ln w="12700">
            <a:solidFill>
              <a:srgbClr val="D8E0EA"/>
            </a:solidFill>
            <a:prstDash val="solid"/>
          </a:ln>
          <a:effectLst>
            <a:outerShdw blurRad="50800" dist="12700" dir="8100000" algn="bl" rotWithShape="0">
              <a:srgbClr val="000000">
                <a:alpha val="7000"/>
              </a:srgbClr>
            </a:outerShdw>
          </a:effectLst>
        </p:spPr>
        <p:txBody>
          <a:bodyPr/>
          <a:lstStyle/>
          <a:p>
            <a:endParaRPr lang="en-US"/>
          </a:p>
        </p:txBody>
      </p:sp>
      <p:sp>
        <p:nvSpPr>
          <p:cNvPr id="15" name="Shape 12"/>
          <p:cNvSpPr/>
          <p:nvPr/>
        </p:nvSpPr>
        <p:spPr>
          <a:xfrm>
            <a:off x="365760" y="3090672"/>
            <a:ext cx="182880" cy="1508760"/>
          </a:xfrm>
          <a:prstGeom prst="rect">
            <a:avLst/>
          </a:prstGeom>
          <a:solidFill>
            <a:srgbClr val="CC1414"/>
          </a:solidFill>
          <a:ln w="12700">
            <a:solidFill>
              <a:srgbClr val="CC1414"/>
            </a:solidFill>
            <a:prstDash val="solid"/>
          </a:ln>
        </p:spPr>
        <p:txBody>
          <a:bodyPr/>
          <a:lstStyle/>
          <a:p>
            <a:endParaRPr lang="en-US"/>
          </a:p>
        </p:txBody>
      </p:sp>
      <p:sp>
        <p:nvSpPr>
          <p:cNvPr id="16" name="Text 13"/>
          <p:cNvSpPr/>
          <p:nvPr/>
        </p:nvSpPr>
        <p:spPr>
          <a:xfrm>
            <a:off x="685800" y="3200400"/>
            <a:ext cx="5120640" cy="292608"/>
          </a:xfrm>
          <a:prstGeom prst="rect">
            <a:avLst/>
          </a:prstGeom>
          <a:noFill/>
          <a:ln/>
        </p:spPr>
        <p:txBody>
          <a:bodyPr wrap="square" lIns="0" tIns="0" rIns="0" bIns="0" rtlCol="0" anchor="ctr"/>
          <a:lstStyle/>
          <a:p>
            <a:pPr marL="0" indent="0">
              <a:buNone/>
            </a:pPr>
            <a:r>
              <a:rPr lang="en-US" sz="1300" b="1" dirty="0">
                <a:solidFill>
                  <a:srgbClr val="0D1F3C"/>
                </a:solidFill>
              </a:rPr>
              <a:t>Superior Connection Strength</a:t>
            </a:r>
            <a:endParaRPr lang="en-US" sz="1300" dirty="0"/>
          </a:p>
        </p:txBody>
      </p:sp>
      <p:sp>
        <p:nvSpPr>
          <p:cNvPr id="17" name="Text 14"/>
          <p:cNvSpPr/>
          <p:nvPr/>
        </p:nvSpPr>
        <p:spPr>
          <a:xfrm>
            <a:off x="685800" y="3547872"/>
            <a:ext cx="5120640" cy="1005840"/>
          </a:xfrm>
          <a:prstGeom prst="rect">
            <a:avLst/>
          </a:prstGeom>
          <a:noFill/>
          <a:ln/>
        </p:spPr>
        <p:txBody>
          <a:bodyPr wrap="square" lIns="0" tIns="0" rIns="0" bIns="0" rtlCol="0" anchor="ctr"/>
          <a:lstStyle/>
          <a:p>
            <a:pPr marL="0" indent="0">
              <a:buNone/>
            </a:pPr>
            <a:r>
              <a:rPr lang="en-US" sz="1100" dirty="0">
                <a:solidFill>
                  <a:srgbClr val="4A5568"/>
                </a:solidFill>
              </a:rPr>
              <a:t>Square and threaded rail anchors install securely with tensile strength substantially higher than wood ties. Connection strength is maintained after repeated removal and reinstallation cycles.</a:t>
            </a:r>
            <a:endParaRPr lang="en-US" sz="1100" dirty="0"/>
          </a:p>
        </p:txBody>
      </p:sp>
      <p:sp>
        <p:nvSpPr>
          <p:cNvPr id="18" name="Shape 15"/>
          <p:cNvSpPr/>
          <p:nvPr/>
        </p:nvSpPr>
        <p:spPr>
          <a:xfrm>
            <a:off x="6263640" y="3090672"/>
            <a:ext cx="5577840" cy="1508760"/>
          </a:xfrm>
          <a:prstGeom prst="rect">
            <a:avLst/>
          </a:prstGeom>
          <a:solidFill>
            <a:srgbClr val="F4F6F9"/>
          </a:solidFill>
          <a:ln w="12700">
            <a:solidFill>
              <a:srgbClr val="D8E0EA"/>
            </a:solidFill>
            <a:prstDash val="solid"/>
          </a:ln>
          <a:effectLst>
            <a:outerShdw blurRad="50800" dist="12700" dir="8100000" algn="bl" rotWithShape="0">
              <a:srgbClr val="000000">
                <a:alpha val="7000"/>
              </a:srgbClr>
            </a:outerShdw>
          </a:effectLst>
        </p:spPr>
        <p:txBody>
          <a:bodyPr/>
          <a:lstStyle/>
          <a:p>
            <a:endParaRPr lang="en-US"/>
          </a:p>
        </p:txBody>
      </p:sp>
      <p:sp>
        <p:nvSpPr>
          <p:cNvPr id="19" name="Shape 16"/>
          <p:cNvSpPr/>
          <p:nvPr/>
        </p:nvSpPr>
        <p:spPr>
          <a:xfrm>
            <a:off x="6263640" y="3090672"/>
            <a:ext cx="182880" cy="1508760"/>
          </a:xfrm>
          <a:prstGeom prst="rect">
            <a:avLst/>
          </a:prstGeom>
          <a:solidFill>
            <a:srgbClr val="1A3A5C"/>
          </a:solidFill>
          <a:ln w="12700">
            <a:solidFill>
              <a:srgbClr val="1A3A5C"/>
            </a:solidFill>
            <a:prstDash val="solid"/>
          </a:ln>
        </p:spPr>
        <p:txBody>
          <a:bodyPr/>
          <a:lstStyle/>
          <a:p>
            <a:endParaRPr lang="en-US"/>
          </a:p>
        </p:txBody>
      </p:sp>
      <p:sp>
        <p:nvSpPr>
          <p:cNvPr id="20" name="Text 17"/>
          <p:cNvSpPr/>
          <p:nvPr/>
        </p:nvSpPr>
        <p:spPr>
          <a:xfrm>
            <a:off x="6583680" y="3200400"/>
            <a:ext cx="5120640" cy="292608"/>
          </a:xfrm>
          <a:prstGeom prst="rect">
            <a:avLst/>
          </a:prstGeom>
          <a:noFill/>
          <a:ln/>
        </p:spPr>
        <p:txBody>
          <a:bodyPr wrap="square" lIns="0" tIns="0" rIns="0" bIns="0" rtlCol="0" anchor="ctr"/>
          <a:lstStyle/>
          <a:p>
            <a:pPr marL="0" indent="0">
              <a:buNone/>
            </a:pPr>
            <a:r>
              <a:rPr lang="en-US" sz="1300" b="1" dirty="0">
                <a:solidFill>
                  <a:srgbClr val="0D1F3C"/>
                </a:solidFill>
              </a:rPr>
              <a:t>Excellent Electrical Insulation</a:t>
            </a:r>
            <a:endParaRPr lang="en-US" sz="1300" dirty="0"/>
          </a:p>
        </p:txBody>
      </p:sp>
      <p:sp>
        <p:nvSpPr>
          <p:cNvPr id="21" name="Text 18"/>
          <p:cNvSpPr/>
          <p:nvPr/>
        </p:nvSpPr>
        <p:spPr>
          <a:xfrm>
            <a:off x="6583680" y="3547872"/>
            <a:ext cx="5120640" cy="1005840"/>
          </a:xfrm>
          <a:prstGeom prst="rect">
            <a:avLst/>
          </a:prstGeom>
          <a:noFill/>
          <a:ln/>
        </p:spPr>
        <p:txBody>
          <a:bodyPr wrap="square" lIns="0" tIns="0" rIns="0" bIns="0" rtlCol="0" anchor="ctr"/>
          <a:lstStyle/>
          <a:p>
            <a:pPr marL="0" indent="0">
              <a:buNone/>
            </a:pPr>
            <a:r>
              <a:rPr lang="en-US" sz="1100" dirty="0">
                <a:solidFill>
                  <a:srgbClr val="4A5568"/>
                </a:solidFill>
              </a:rPr>
              <a:t>Non-conductive base material combined with a surface coating delivers high dielectric breakdown voltage and surface resistivity — ideal for signaling circuits and electrified transit systems.</a:t>
            </a:r>
            <a:endParaRPr lang="en-US" sz="1100" dirty="0"/>
          </a:p>
        </p:txBody>
      </p:sp>
      <p:sp>
        <p:nvSpPr>
          <p:cNvPr id="22" name="Shape 19"/>
          <p:cNvSpPr/>
          <p:nvPr/>
        </p:nvSpPr>
        <p:spPr>
          <a:xfrm>
            <a:off x="365760" y="4718304"/>
            <a:ext cx="5577840" cy="1508760"/>
          </a:xfrm>
          <a:prstGeom prst="rect">
            <a:avLst/>
          </a:prstGeom>
          <a:solidFill>
            <a:srgbClr val="F4F6F9"/>
          </a:solidFill>
          <a:ln w="12700">
            <a:solidFill>
              <a:srgbClr val="D8E0EA"/>
            </a:solidFill>
            <a:prstDash val="solid"/>
          </a:ln>
          <a:effectLst>
            <a:outerShdw blurRad="50800" dist="12700" dir="8100000" algn="bl" rotWithShape="0">
              <a:srgbClr val="000000">
                <a:alpha val="7000"/>
              </a:srgbClr>
            </a:outerShdw>
          </a:effectLst>
        </p:spPr>
        <p:txBody>
          <a:bodyPr/>
          <a:lstStyle/>
          <a:p>
            <a:endParaRPr lang="en-US"/>
          </a:p>
        </p:txBody>
      </p:sp>
      <p:sp>
        <p:nvSpPr>
          <p:cNvPr id="23" name="Shape 20"/>
          <p:cNvSpPr/>
          <p:nvPr/>
        </p:nvSpPr>
        <p:spPr>
          <a:xfrm>
            <a:off x="365760" y="4718304"/>
            <a:ext cx="182880" cy="1508760"/>
          </a:xfrm>
          <a:prstGeom prst="rect">
            <a:avLst/>
          </a:prstGeom>
          <a:solidFill>
            <a:srgbClr val="CC1414"/>
          </a:solidFill>
          <a:ln w="12700">
            <a:solidFill>
              <a:srgbClr val="CC1414"/>
            </a:solidFill>
            <a:prstDash val="solid"/>
          </a:ln>
        </p:spPr>
        <p:txBody>
          <a:bodyPr/>
          <a:lstStyle/>
          <a:p>
            <a:endParaRPr lang="en-US"/>
          </a:p>
        </p:txBody>
      </p:sp>
      <p:sp>
        <p:nvSpPr>
          <p:cNvPr id="24" name="Text 21"/>
          <p:cNvSpPr/>
          <p:nvPr/>
        </p:nvSpPr>
        <p:spPr>
          <a:xfrm>
            <a:off x="685800" y="4828032"/>
            <a:ext cx="5120640" cy="292608"/>
          </a:xfrm>
          <a:prstGeom prst="rect">
            <a:avLst/>
          </a:prstGeom>
          <a:noFill/>
          <a:ln/>
        </p:spPr>
        <p:txBody>
          <a:bodyPr wrap="square" lIns="0" tIns="0" rIns="0" bIns="0" rtlCol="0" anchor="ctr"/>
          <a:lstStyle/>
          <a:p>
            <a:pPr marL="0" indent="0">
              <a:buNone/>
            </a:pPr>
            <a:r>
              <a:rPr lang="en-US" sz="1300" b="1" dirty="0">
                <a:solidFill>
                  <a:srgbClr val="0D1F3C"/>
                </a:solidFill>
              </a:rPr>
              <a:t>Easy Machinability</a:t>
            </a:r>
            <a:endParaRPr lang="en-US" sz="1300" dirty="0"/>
          </a:p>
        </p:txBody>
      </p:sp>
      <p:sp>
        <p:nvSpPr>
          <p:cNvPr id="25" name="Text 22"/>
          <p:cNvSpPr/>
          <p:nvPr/>
        </p:nvSpPr>
        <p:spPr>
          <a:xfrm>
            <a:off x="685800" y="5175504"/>
            <a:ext cx="5120640" cy="1005840"/>
          </a:xfrm>
          <a:prstGeom prst="rect">
            <a:avLst/>
          </a:prstGeom>
          <a:noFill/>
          <a:ln/>
        </p:spPr>
        <p:txBody>
          <a:bodyPr wrap="square" lIns="0" tIns="0" rIns="0" bIns="0" rtlCol="0" anchor="ctr"/>
          <a:lstStyle/>
          <a:p>
            <a:pPr marL="0" indent="0">
              <a:buNone/>
            </a:pPr>
            <a:r>
              <a:rPr lang="en-US" sz="1100" dirty="0">
                <a:solidFill>
                  <a:srgbClr val="4A5568"/>
                </a:solidFill>
              </a:rPr>
              <a:t>Processed exactly like wood: can be slotted, drilled, ground, spiked, bonded, and painted. No special tooling required — existing MoW crews and equipment can handle installation.</a:t>
            </a:r>
            <a:endParaRPr lang="en-US" sz="1100" dirty="0"/>
          </a:p>
        </p:txBody>
      </p:sp>
      <p:sp>
        <p:nvSpPr>
          <p:cNvPr id="26" name="Shape 23"/>
          <p:cNvSpPr/>
          <p:nvPr/>
        </p:nvSpPr>
        <p:spPr>
          <a:xfrm>
            <a:off x="6263640" y="4718304"/>
            <a:ext cx="5577840" cy="1508760"/>
          </a:xfrm>
          <a:prstGeom prst="rect">
            <a:avLst/>
          </a:prstGeom>
          <a:solidFill>
            <a:srgbClr val="F4F6F9"/>
          </a:solidFill>
          <a:ln w="12700">
            <a:solidFill>
              <a:srgbClr val="D8E0EA"/>
            </a:solidFill>
            <a:prstDash val="solid"/>
          </a:ln>
          <a:effectLst>
            <a:outerShdw blurRad="50800" dist="12700" dir="8100000" algn="bl" rotWithShape="0">
              <a:srgbClr val="000000">
                <a:alpha val="7000"/>
              </a:srgbClr>
            </a:outerShdw>
          </a:effectLst>
        </p:spPr>
        <p:txBody>
          <a:bodyPr/>
          <a:lstStyle/>
          <a:p>
            <a:endParaRPr lang="en-US"/>
          </a:p>
        </p:txBody>
      </p:sp>
      <p:sp>
        <p:nvSpPr>
          <p:cNvPr id="27" name="Shape 24"/>
          <p:cNvSpPr/>
          <p:nvPr/>
        </p:nvSpPr>
        <p:spPr>
          <a:xfrm>
            <a:off x="6263640" y="4718304"/>
            <a:ext cx="182880" cy="1508760"/>
          </a:xfrm>
          <a:prstGeom prst="rect">
            <a:avLst/>
          </a:prstGeom>
          <a:solidFill>
            <a:srgbClr val="1A3A5C"/>
          </a:solidFill>
          <a:ln w="12700">
            <a:solidFill>
              <a:srgbClr val="1A3A5C"/>
            </a:solidFill>
            <a:prstDash val="solid"/>
          </a:ln>
        </p:spPr>
        <p:txBody>
          <a:bodyPr/>
          <a:lstStyle/>
          <a:p>
            <a:endParaRPr lang="en-US"/>
          </a:p>
        </p:txBody>
      </p:sp>
      <p:sp>
        <p:nvSpPr>
          <p:cNvPr id="28" name="Text 25"/>
          <p:cNvSpPr/>
          <p:nvPr/>
        </p:nvSpPr>
        <p:spPr>
          <a:xfrm>
            <a:off x="6583680" y="4828032"/>
            <a:ext cx="5120640" cy="292608"/>
          </a:xfrm>
          <a:prstGeom prst="rect">
            <a:avLst/>
          </a:prstGeom>
          <a:noFill/>
          <a:ln/>
        </p:spPr>
        <p:txBody>
          <a:bodyPr wrap="square" lIns="0" tIns="0" rIns="0" bIns="0" rtlCol="0" anchor="ctr"/>
          <a:lstStyle/>
          <a:p>
            <a:pPr marL="0" indent="0">
              <a:buNone/>
            </a:pPr>
            <a:r>
              <a:rPr lang="en-US" sz="1300" b="1" dirty="0">
                <a:solidFill>
                  <a:srgbClr val="0D1F3C"/>
                </a:solidFill>
              </a:rPr>
              <a:t>Environmentally Responsible</a:t>
            </a:r>
            <a:endParaRPr lang="en-US" sz="1300" dirty="0"/>
          </a:p>
        </p:txBody>
      </p:sp>
      <p:sp>
        <p:nvSpPr>
          <p:cNvPr id="29" name="Text 26"/>
          <p:cNvSpPr/>
          <p:nvPr/>
        </p:nvSpPr>
        <p:spPr>
          <a:xfrm>
            <a:off x="6583680" y="5175504"/>
            <a:ext cx="5120640" cy="1005840"/>
          </a:xfrm>
          <a:prstGeom prst="rect">
            <a:avLst/>
          </a:prstGeom>
          <a:noFill/>
          <a:ln/>
        </p:spPr>
        <p:txBody>
          <a:bodyPr wrap="square" lIns="0" tIns="0" rIns="0" bIns="0" rtlCol="0" anchor="ctr"/>
          <a:lstStyle/>
          <a:p>
            <a:pPr marL="0" indent="0">
              <a:buNone/>
            </a:pPr>
            <a:r>
              <a:rPr lang="en-US" sz="1100" dirty="0">
                <a:solidFill>
                  <a:srgbClr val="4A5568"/>
                </a:solidFill>
              </a:rPr>
              <a:t>Eliminates the need to harvest forest timber. End-of-life material can be ground and recycled or repurposed as structural components. Zero chemical treatment required (no creosote).</a:t>
            </a:r>
            <a:endParaRPr lang="en-US" sz="1100" dirty="0"/>
          </a:p>
        </p:txBody>
      </p:sp>
      <p:sp>
        <p:nvSpPr>
          <p:cNvPr id="30" name="Shape 27"/>
          <p:cNvSpPr/>
          <p:nvPr/>
        </p:nvSpPr>
        <p:spPr>
          <a:xfrm>
            <a:off x="0" y="6537960"/>
            <a:ext cx="12161520" cy="320040"/>
          </a:xfrm>
          <a:prstGeom prst="rect">
            <a:avLst/>
          </a:prstGeom>
          <a:solidFill>
            <a:srgbClr val="CC1414"/>
          </a:solidFill>
          <a:ln w="12700">
            <a:solidFill>
              <a:srgbClr val="CC1414"/>
            </a:solidFill>
            <a:prstDash val="solid"/>
          </a:ln>
        </p:spPr>
        <p:txBody>
          <a:bodyPr/>
          <a:lstStyle/>
          <a:p>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61520" cy="685800"/>
          </a:xfrm>
          <a:prstGeom prst="rect">
            <a:avLst/>
          </a:prstGeom>
          <a:solidFill>
            <a:srgbClr val="0D1F3C"/>
          </a:solidFill>
          <a:ln w="12700">
            <a:solidFill>
              <a:srgbClr val="0D1F3C"/>
            </a:solidFill>
            <a:prstDash val="solid"/>
          </a:ln>
        </p:spPr>
        <p:txBody>
          <a:bodyPr/>
          <a:lstStyle/>
          <a:p>
            <a:endParaRPr lang="en-US"/>
          </a:p>
        </p:txBody>
      </p:sp>
      <p:pic>
        <p:nvPicPr>
          <p:cNvPr id="3" name="Image 0" descr="preencoded.png"/>
          <p:cNvPicPr>
            <a:picLocks noChangeAspect="1"/>
          </p:cNvPicPr>
          <p:nvPr/>
        </p:nvPicPr>
        <p:blipFill>
          <a:blip r:embed="rId3"/>
          <a:stretch>
            <a:fillRect/>
          </a:stretch>
        </p:blipFill>
        <p:spPr>
          <a:xfrm>
            <a:off x="274320" y="64008"/>
            <a:ext cx="1039473" cy="566928"/>
          </a:xfrm>
          <a:prstGeom prst="rect">
            <a:avLst/>
          </a:prstGeom>
        </p:spPr>
      </p:pic>
      <p:sp>
        <p:nvSpPr>
          <p:cNvPr id="4" name="Text 1"/>
          <p:cNvSpPr/>
          <p:nvPr/>
        </p:nvSpPr>
        <p:spPr>
          <a:xfrm>
            <a:off x="2011680" y="164592"/>
            <a:ext cx="8229600" cy="365760"/>
          </a:xfrm>
          <a:prstGeom prst="rect">
            <a:avLst/>
          </a:prstGeom>
          <a:noFill/>
          <a:ln/>
        </p:spPr>
        <p:txBody>
          <a:bodyPr wrap="square" lIns="0" tIns="0" rIns="0" bIns="0" rtlCol="0" anchor="ctr"/>
          <a:lstStyle/>
          <a:p>
            <a:pPr marL="0" indent="0">
              <a:buNone/>
            </a:pPr>
            <a:r>
              <a:rPr lang="en-US" sz="1600" b="1" kern="0" spc="300" dirty="0">
                <a:solidFill>
                  <a:srgbClr val="FFFFFF"/>
                </a:solidFill>
              </a:rPr>
              <a:t>PERFORMANCE DATA</a:t>
            </a:r>
            <a:endParaRPr lang="en-US" sz="1600" dirty="0"/>
          </a:p>
        </p:txBody>
      </p:sp>
      <p:sp>
        <p:nvSpPr>
          <p:cNvPr id="5" name="Text 2"/>
          <p:cNvSpPr/>
          <p:nvPr/>
        </p:nvSpPr>
        <p:spPr>
          <a:xfrm>
            <a:off x="457200" y="804672"/>
            <a:ext cx="11338560" cy="475488"/>
          </a:xfrm>
          <a:prstGeom prst="rect">
            <a:avLst/>
          </a:prstGeom>
          <a:noFill/>
          <a:ln/>
        </p:spPr>
        <p:txBody>
          <a:bodyPr wrap="square" lIns="0" tIns="0" rIns="0" bIns="0" rtlCol="0" anchor="ctr"/>
          <a:lstStyle/>
          <a:p>
            <a:pPr marL="0" indent="0">
              <a:buNone/>
            </a:pPr>
            <a:r>
              <a:rPr lang="en-US" sz="2400" b="1" dirty="0">
                <a:solidFill>
                  <a:srgbClr val="0D1F3C"/>
                </a:solidFill>
                <a:latin typeface="Georgia" pitchFamily="34" charset="0"/>
                <a:ea typeface="Georgia" pitchFamily="34" charset="-122"/>
                <a:cs typeface="Georgia" pitchFamily="34" charset="-120"/>
              </a:rPr>
              <a:t>Technical Performance Specifications</a:t>
            </a:r>
            <a:endParaRPr lang="en-US" sz="2400" dirty="0"/>
          </a:p>
        </p:txBody>
      </p:sp>
      <p:sp>
        <p:nvSpPr>
          <p:cNvPr id="6" name="Text 3"/>
          <p:cNvSpPr/>
          <p:nvPr/>
        </p:nvSpPr>
        <p:spPr>
          <a:xfrm>
            <a:off x="457200" y="1325880"/>
            <a:ext cx="11338560" cy="274320"/>
          </a:xfrm>
          <a:prstGeom prst="rect">
            <a:avLst/>
          </a:prstGeom>
          <a:noFill/>
          <a:ln/>
        </p:spPr>
        <p:txBody>
          <a:bodyPr wrap="square" lIns="0" tIns="0" rIns="0" bIns="0" rtlCol="0" anchor="ctr"/>
          <a:lstStyle/>
          <a:p>
            <a:pPr marL="0" indent="0">
              <a:buNone/>
            </a:pPr>
            <a:r>
              <a:rPr lang="en-US" sz="1100" i="1" dirty="0">
                <a:solidFill>
                  <a:srgbClr val="4A5568"/>
                </a:solidFill>
              </a:rPr>
              <a:t>All values shown in US/Imperial units. Metric equivalents in parentheses.</a:t>
            </a:r>
            <a:endParaRPr lang="en-US" sz="11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365760" y="1691640"/>
          <a:ext cx="11338560" cy="4206240"/>
        </p:xfrm>
        <a:graphic>
          <a:graphicData uri="http://schemas.openxmlformats.org/drawingml/2006/table">
            <a:tbl>
              <a:tblPr/>
              <a:tblGrid>
                <a:gridCol w="365760">
                  <a:extLst>
                    <a:ext uri="{9D8B030D-6E8A-4147-A177-3AD203B41FA5}">
                      <a16:colId xmlns:a16="http://schemas.microsoft.com/office/drawing/2014/main" val="20000"/>
                    </a:ext>
                  </a:extLst>
                </a:gridCol>
                <a:gridCol w="3474720">
                  <a:extLst>
                    <a:ext uri="{9D8B030D-6E8A-4147-A177-3AD203B41FA5}">
                      <a16:colId xmlns:a16="http://schemas.microsoft.com/office/drawing/2014/main" val="20001"/>
                    </a:ext>
                  </a:extLst>
                </a:gridCol>
                <a:gridCol w="1188720">
                  <a:extLst>
                    <a:ext uri="{9D8B030D-6E8A-4147-A177-3AD203B41FA5}">
                      <a16:colId xmlns:a16="http://schemas.microsoft.com/office/drawing/2014/main" val="20002"/>
                    </a:ext>
                  </a:extLst>
                </a:gridCol>
                <a:gridCol w="3154680">
                  <a:extLst>
                    <a:ext uri="{9D8B030D-6E8A-4147-A177-3AD203B41FA5}">
                      <a16:colId xmlns:a16="http://schemas.microsoft.com/office/drawing/2014/main" val="20003"/>
                    </a:ext>
                  </a:extLst>
                </a:gridCol>
                <a:gridCol w="3154680">
                  <a:extLst>
                    <a:ext uri="{9D8B030D-6E8A-4147-A177-3AD203B41FA5}">
                      <a16:colId xmlns:a16="http://schemas.microsoft.com/office/drawing/2014/main" val="20004"/>
                    </a:ext>
                  </a:extLst>
                </a:gridCol>
              </a:tblGrid>
              <a:tr h="420624">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a:lnL w="6350" cap="flat" cmpd="sng" algn="ctr">
                      <a:solidFill>
                        <a:srgbClr val="C8D5E0"/>
                      </a:solidFill>
                      <a:prstDash val="solid"/>
                      <a:round/>
                      <a:headEnd type="none" w="med" len="med"/>
                      <a:tailEnd type="none" w="med" len="med"/>
                    </a:lnL>
                    <a:lnR w="6350" cap="flat" cmpd="sng" algn="ctr">
                      <a:solidFill>
                        <a:srgbClr val="C8D5E0"/>
                      </a:solidFill>
                      <a:prstDash val="solid"/>
                      <a:round/>
                      <a:headEnd type="none" w="med" len="med"/>
                      <a:tailEnd type="none" w="med" len="med"/>
                    </a:lnR>
                    <a:lnT w="6350" cap="flat" cmpd="sng" algn="ctr">
                      <a:solidFill>
                        <a:srgbClr val="C8D5E0"/>
                      </a:solidFill>
                      <a:prstDash val="solid"/>
                      <a:round/>
                      <a:headEnd type="none" w="med" len="med"/>
                      <a:tailEnd type="none" w="med" len="med"/>
                    </a:lnT>
                    <a:lnB w="6350" cap="flat" cmpd="sng" algn="ctr">
                      <a:solidFill>
                        <a:srgbClr val="C8D5E0"/>
                      </a:solidFill>
                      <a:prstDash val="solid"/>
                      <a:round/>
                      <a:headEnd type="none" w="med" len="med"/>
                      <a:tailEnd type="none" w="med" len="med"/>
                    </a:lnB>
                    <a:solidFill>
                      <a:srgbClr val="0D1F3C"/>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Test Parameter</a:t>
                      </a:r>
                      <a:endParaRPr lang="en-US" sz="1200" dirty="0">
                        <a:latin typeface="Calibri" charset="0"/>
                        <a:ea typeface="Calibri" charset="0"/>
                        <a:cs typeface="Calibri" charset="0"/>
                      </a:endParaRPr>
                    </a:p>
                  </a:txBody>
                  <a:tcPr>
                    <a:lnL w="6350" cap="flat" cmpd="sng" algn="ctr">
                      <a:solidFill>
                        <a:srgbClr val="C8D5E0"/>
                      </a:solidFill>
                      <a:prstDash val="solid"/>
                      <a:round/>
                      <a:headEnd type="none" w="med" len="med"/>
                      <a:tailEnd type="none" w="med" len="med"/>
                    </a:lnL>
                    <a:lnR w="6350" cap="flat" cmpd="sng" algn="ctr">
                      <a:solidFill>
                        <a:srgbClr val="C8D5E0"/>
                      </a:solidFill>
                      <a:prstDash val="solid"/>
                      <a:round/>
                      <a:headEnd type="none" w="med" len="med"/>
                      <a:tailEnd type="none" w="med" len="med"/>
                    </a:lnR>
                    <a:lnT w="6350" cap="flat" cmpd="sng" algn="ctr">
                      <a:solidFill>
                        <a:srgbClr val="C8D5E0"/>
                      </a:solidFill>
                      <a:prstDash val="solid"/>
                      <a:round/>
                      <a:headEnd type="none" w="med" len="med"/>
                      <a:tailEnd type="none" w="med" len="med"/>
                    </a:lnT>
                    <a:lnB w="6350" cap="flat" cmpd="sng" algn="ctr">
                      <a:solidFill>
                        <a:srgbClr val="C8D5E0"/>
                      </a:solidFill>
                      <a:prstDash val="solid"/>
                      <a:round/>
                      <a:headEnd type="none" w="med" len="med"/>
                      <a:tailEnd type="none" w="med" len="med"/>
                    </a:lnB>
                    <a:solidFill>
                      <a:srgbClr val="0D1F3C"/>
                    </a:solidFill>
                  </a:tcPr>
                </a:tc>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Unit</a:t>
                      </a:r>
                      <a:endParaRPr lang="en-US" sz="1200" dirty="0">
                        <a:latin typeface="Calibri" charset="0"/>
                        <a:ea typeface="Calibri" charset="0"/>
                        <a:cs typeface="Calibri" charset="0"/>
                      </a:endParaRPr>
                    </a:p>
                  </a:txBody>
                  <a:tcPr>
                    <a:lnL w="6350" cap="flat" cmpd="sng" algn="ctr">
                      <a:solidFill>
                        <a:srgbClr val="C8D5E0"/>
                      </a:solidFill>
                      <a:prstDash val="solid"/>
                      <a:round/>
                      <a:headEnd type="none" w="med" len="med"/>
                      <a:tailEnd type="none" w="med" len="med"/>
                    </a:lnL>
                    <a:lnR w="6350" cap="flat" cmpd="sng" algn="ctr">
                      <a:solidFill>
                        <a:srgbClr val="C8D5E0"/>
                      </a:solidFill>
                      <a:prstDash val="solid"/>
                      <a:round/>
                      <a:headEnd type="none" w="med" len="med"/>
                      <a:tailEnd type="none" w="med" len="med"/>
                    </a:lnR>
                    <a:lnT w="6350" cap="flat" cmpd="sng" algn="ctr">
                      <a:solidFill>
                        <a:srgbClr val="C8D5E0"/>
                      </a:solidFill>
                      <a:prstDash val="solid"/>
                      <a:round/>
                      <a:headEnd type="none" w="med" len="med"/>
                      <a:tailEnd type="none" w="med" len="med"/>
                    </a:lnT>
                    <a:lnB w="6350" cap="flat" cmpd="sng" algn="ctr">
                      <a:solidFill>
                        <a:srgbClr val="C8D5E0"/>
                      </a:solidFill>
                      <a:prstDash val="solid"/>
                      <a:round/>
                      <a:headEnd type="none" w="med" len="med"/>
                      <a:tailEnd type="none" w="med" len="med"/>
                    </a:lnB>
                    <a:solidFill>
                      <a:srgbClr val="0D1F3C"/>
                    </a:solidFill>
                  </a:tcPr>
                </a:tc>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HFFP Tie (Bridge)</a:t>
                      </a:r>
                      <a:endParaRPr lang="en-US" sz="1200" dirty="0">
                        <a:latin typeface="Calibri" charset="0"/>
                        <a:ea typeface="Calibri" charset="0"/>
                        <a:cs typeface="Calibri" charset="0"/>
                      </a:endParaRPr>
                    </a:p>
                  </a:txBody>
                  <a:tcPr>
                    <a:lnL w="6350" cap="flat" cmpd="sng" algn="ctr">
                      <a:solidFill>
                        <a:srgbClr val="C8D5E0"/>
                      </a:solidFill>
                      <a:prstDash val="solid"/>
                      <a:round/>
                      <a:headEnd type="none" w="med" len="med"/>
                      <a:tailEnd type="none" w="med" len="med"/>
                    </a:lnL>
                    <a:lnR w="6350" cap="flat" cmpd="sng" algn="ctr">
                      <a:solidFill>
                        <a:srgbClr val="C8D5E0"/>
                      </a:solidFill>
                      <a:prstDash val="solid"/>
                      <a:round/>
                      <a:headEnd type="none" w="med" len="med"/>
                      <a:tailEnd type="none" w="med" len="med"/>
                    </a:lnR>
                    <a:lnT w="6350" cap="flat" cmpd="sng" algn="ctr">
                      <a:solidFill>
                        <a:srgbClr val="C8D5E0"/>
                      </a:solidFill>
                      <a:prstDash val="solid"/>
                      <a:round/>
                      <a:headEnd type="none" w="med" len="med"/>
                      <a:tailEnd type="none" w="med" len="med"/>
                    </a:lnT>
                    <a:lnB w="6350" cap="flat" cmpd="sng" algn="ctr">
                      <a:solidFill>
                        <a:srgbClr val="C8D5E0"/>
                      </a:solidFill>
                      <a:prstDash val="solid"/>
                      <a:round/>
                      <a:headEnd type="none" w="med" len="med"/>
                      <a:tailEnd type="none" w="med" len="med"/>
                    </a:lnB>
                    <a:solidFill>
                      <a:srgbClr val="0D1F3C"/>
                    </a:solidFill>
                  </a:tcPr>
                </a:tc>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LFFP Tie (Transit)</a:t>
                      </a:r>
                      <a:endParaRPr lang="en-US" sz="1200" dirty="0">
                        <a:latin typeface="Calibri" charset="0"/>
                        <a:ea typeface="Calibri" charset="0"/>
                        <a:cs typeface="Calibri" charset="0"/>
                      </a:endParaRPr>
                    </a:p>
                  </a:txBody>
                  <a:tcPr>
                    <a:lnL w="6350" cap="flat" cmpd="sng" algn="ctr">
                      <a:solidFill>
                        <a:srgbClr val="C8D5E0"/>
                      </a:solidFill>
                      <a:prstDash val="solid"/>
                      <a:round/>
                      <a:headEnd type="none" w="med" len="med"/>
                      <a:tailEnd type="none" w="med" len="med"/>
                    </a:lnL>
                    <a:lnR w="6350" cap="flat" cmpd="sng" algn="ctr">
                      <a:solidFill>
                        <a:srgbClr val="C8D5E0"/>
                      </a:solidFill>
                      <a:prstDash val="solid"/>
                      <a:round/>
                      <a:headEnd type="none" w="med" len="med"/>
                      <a:tailEnd type="none" w="med" len="med"/>
                    </a:lnR>
                    <a:lnT w="6350" cap="flat" cmpd="sng" algn="ctr">
                      <a:solidFill>
                        <a:srgbClr val="C8D5E0"/>
                      </a:solidFill>
                      <a:prstDash val="solid"/>
                      <a:round/>
                      <a:headEnd type="none" w="med" len="med"/>
                      <a:tailEnd type="none" w="med" len="med"/>
                    </a:lnT>
                    <a:lnB w="6350" cap="flat" cmpd="sng" algn="ctr">
                      <a:solidFill>
                        <a:srgbClr val="C8D5E0"/>
                      </a:solidFill>
                      <a:prstDash val="solid"/>
                      <a:round/>
                      <a:headEnd type="none" w="med" len="med"/>
                      <a:tailEnd type="none" w="med" len="med"/>
                    </a:lnB>
                    <a:solidFill>
                      <a:srgbClr val="0D1F3C"/>
                    </a:solidFill>
                  </a:tcPr>
                </a:tc>
                <a:extLst>
                  <a:ext uri="{0D108BD9-81ED-4DB2-BD59-A6C34878D82A}">
                    <a16:rowId xmlns:a16="http://schemas.microsoft.com/office/drawing/2014/main" val="10000"/>
                  </a:ext>
                </a:extLst>
              </a:tr>
              <a:tr h="420624">
                <a:tc>
                  <a:txBody>
                    <a:bodyPr/>
                    <a:lstStyle/>
                    <a:p>
                      <a:pPr marL="0" indent="0" algn="ctr">
                        <a:buNone/>
                      </a:pPr>
                      <a:r>
                        <a:rPr lang="en-US" sz="1100" dirty="0">
                          <a:solidFill>
                            <a:srgbClr val="0D1F3C"/>
                          </a:solidFill>
                          <a:latin typeface="Calibri" pitchFamily="34" charset="0"/>
                          <a:ea typeface="Calibri" pitchFamily="34" charset="-122"/>
                          <a:cs typeface="Calibri" pitchFamily="34" charset="-120"/>
                        </a:rPr>
                        <a:t>1</a:t>
                      </a:r>
                      <a:endParaRPr lang="en-US" sz="1100" dirty="0">
                        <a:latin typeface="Calibri" charset="0"/>
                        <a:ea typeface="Calibri" charset="0"/>
                        <a:cs typeface="Calibri" charset="0"/>
                      </a:endParaRPr>
                    </a:p>
                  </a:txBody>
                  <a:tcPr>
                    <a:lnL w="6350" cap="flat" cmpd="sng" algn="ctr">
                      <a:solidFill>
                        <a:srgbClr val="C8D5E0"/>
                      </a:solidFill>
                      <a:prstDash val="solid"/>
                      <a:round/>
                      <a:headEnd type="none" w="med" len="med"/>
                      <a:tailEnd type="none" w="med" len="med"/>
                    </a:lnL>
                    <a:lnR w="6350" cap="flat" cmpd="sng" algn="ctr">
                      <a:solidFill>
                        <a:srgbClr val="C8D5E0"/>
                      </a:solidFill>
                      <a:prstDash val="solid"/>
                      <a:round/>
                      <a:headEnd type="none" w="med" len="med"/>
                      <a:tailEnd type="none" w="med" len="med"/>
                    </a:lnR>
                    <a:lnT w="6350" cap="flat" cmpd="sng" algn="ctr">
                      <a:solidFill>
                        <a:srgbClr val="C8D5E0"/>
                      </a:solidFill>
                      <a:prstDash val="solid"/>
                      <a:round/>
                      <a:headEnd type="none" w="med" len="med"/>
                      <a:tailEnd type="none" w="med" len="med"/>
                    </a:lnT>
                    <a:lnB w="6350" cap="flat" cmpd="sng" algn="ctr">
                      <a:solidFill>
                        <a:srgbClr val="C8D5E0"/>
                      </a:solidFill>
                      <a:prstDash val="solid"/>
                      <a:round/>
                      <a:headEnd type="none" w="med" len="med"/>
                      <a:tailEnd type="none" w="med" len="med"/>
                    </a:lnB>
                    <a:solidFill>
                      <a:srgbClr val="EDF2F7"/>
                    </a:solidFill>
                  </a:tcPr>
                </a:tc>
                <a:tc>
                  <a:txBody>
                    <a:bodyPr/>
                    <a:lstStyle/>
                    <a:p>
                      <a:pPr marL="0" indent="0" algn="l">
                        <a:buNone/>
                      </a:pPr>
                      <a:r>
                        <a:rPr lang="en-US" sz="1100" dirty="0">
                          <a:solidFill>
                            <a:srgbClr val="0D1F3C"/>
                          </a:solidFill>
                          <a:latin typeface="Calibri" pitchFamily="34" charset="0"/>
                          <a:ea typeface="Calibri" pitchFamily="34" charset="-122"/>
                          <a:cs typeface="Calibri" pitchFamily="34" charset="-120"/>
                        </a:rPr>
                        <a:t>Density</a:t>
                      </a:r>
                      <a:endParaRPr lang="en-US" sz="1100" dirty="0">
                        <a:latin typeface="Calibri" charset="0"/>
                        <a:ea typeface="Calibri" charset="0"/>
                        <a:cs typeface="Calibri" charset="0"/>
                      </a:endParaRPr>
                    </a:p>
                  </a:txBody>
                  <a:tcPr>
                    <a:lnL w="6350" cap="flat" cmpd="sng" algn="ctr">
                      <a:solidFill>
                        <a:srgbClr val="C8D5E0"/>
                      </a:solidFill>
                      <a:prstDash val="solid"/>
                      <a:round/>
                      <a:headEnd type="none" w="med" len="med"/>
                      <a:tailEnd type="none" w="med" len="med"/>
                    </a:lnL>
                    <a:lnR w="6350" cap="flat" cmpd="sng" algn="ctr">
                      <a:solidFill>
                        <a:srgbClr val="C8D5E0"/>
                      </a:solidFill>
                      <a:prstDash val="solid"/>
                      <a:round/>
                      <a:headEnd type="none" w="med" len="med"/>
                      <a:tailEnd type="none" w="med" len="med"/>
                    </a:lnR>
                    <a:lnT w="6350" cap="flat" cmpd="sng" algn="ctr">
                      <a:solidFill>
                        <a:srgbClr val="C8D5E0"/>
                      </a:solidFill>
                      <a:prstDash val="solid"/>
                      <a:round/>
                      <a:headEnd type="none" w="med" len="med"/>
                      <a:tailEnd type="none" w="med" len="med"/>
                    </a:lnT>
                    <a:lnB w="6350" cap="flat" cmpd="sng" algn="ctr">
                      <a:solidFill>
                        <a:srgbClr val="C8D5E0"/>
                      </a:solidFill>
                      <a:prstDash val="solid"/>
                      <a:round/>
                      <a:headEnd type="none" w="med" len="med"/>
                      <a:tailEnd type="none" w="med" len="med"/>
                    </a:lnB>
                    <a:solidFill>
                      <a:srgbClr val="EDF2F7"/>
                    </a:solidFill>
                  </a:tcPr>
                </a:tc>
                <a:tc>
                  <a:txBody>
                    <a:bodyPr/>
                    <a:lstStyle/>
                    <a:p>
                      <a:pPr marL="0" indent="0" algn="ctr">
                        <a:buNone/>
                      </a:pPr>
                      <a:r>
                        <a:rPr lang="en-US" sz="1100" dirty="0">
                          <a:solidFill>
                            <a:srgbClr val="0D1F3C"/>
                          </a:solidFill>
                          <a:latin typeface="Calibri" pitchFamily="34" charset="0"/>
                          <a:ea typeface="Calibri" pitchFamily="34" charset="-122"/>
                          <a:cs typeface="Calibri" pitchFamily="34" charset="-120"/>
                        </a:rPr>
                        <a:t>lb/ft³</a:t>
                      </a:r>
                      <a:endParaRPr lang="en-US" sz="1100" dirty="0">
                        <a:latin typeface="Calibri" charset="0"/>
                        <a:ea typeface="Calibri" charset="0"/>
                        <a:cs typeface="Calibri" charset="0"/>
                      </a:endParaRPr>
                    </a:p>
                  </a:txBody>
                  <a:tcPr>
                    <a:lnL w="6350" cap="flat" cmpd="sng" algn="ctr">
                      <a:solidFill>
                        <a:srgbClr val="C8D5E0"/>
                      </a:solidFill>
                      <a:prstDash val="solid"/>
                      <a:round/>
                      <a:headEnd type="none" w="med" len="med"/>
                      <a:tailEnd type="none" w="med" len="med"/>
                    </a:lnL>
                    <a:lnR w="6350" cap="flat" cmpd="sng" algn="ctr">
                      <a:solidFill>
                        <a:srgbClr val="C8D5E0"/>
                      </a:solidFill>
                      <a:prstDash val="solid"/>
                      <a:round/>
                      <a:headEnd type="none" w="med" len="med"/>
                      <a:tailEnd type="none" w="med" len="med"/>
                    </a:lnR>
                    <a:lnT w="6350" cap="flat" cmpd="sng" algn="ctr">
                      <a:solidFill>
                        <a:srgbClr val="C8D5E0"/>
                      </a:solidFill>
                      <a:prstDash val="solid"/>
                      <a:round/>
                      <a:headEnd type="none" w="med" len="med"/>
                      <a:tailEnd type="none" w="med" len="med"/>
                    </a:lnT>
                    <a:lnB w="6350" cap="flat" cmpd="sng" algn="ctr">
                      <a:solidFill>
                        <a:srgbClr val="C8D5E0"/>
                      </a:solidFill>
                      <a:prstDash val="solid"/>
                      <a:round/>
                      <a:headEnd type="none" w="med" len="med"/>
                      <a:tailEnd type="none" w="med" len="med"/>
                    </a:lnB>
                    <a:solidFill>
                      <a:srgbClr val="EDF2F7"/>
                    </a:solidFill>
                  </a:tcPr>
                </a:tc>
                <a:tc>
                  <a:txBody>
                    <a:bodyPr/>
                    <a:lstStyle/>
                    <a:p>
                      <a:pPr marL="0" indent="0" algn="ctr">
                        <a:buNone/>
                      </a:pPr>
                      <a:r>
                        <a:rPr lang="en-US" sz="1100" dirty="0">
                          <a:solidFill>
                            <a:srgbClr val="0D1F3C"/>
                          </a:solidFill>
                          <a:latin typeface="Calibri" pitchFamily="34" charset="0"/>
                          <a:ea typeface="Calibri" pitchFamily="34" charset="-122"/>
                          <a:cs typeface="Calibri" pitchFamily="34" charset="-120"/>
                        </a:rPr>
                        <a:t>≥75 (1,200 kg/m³)</a:t>
                      </a:r>
                      <a:endParaRPr lang="en-US" sz="1100" dirty="0">
                        <a:latin typeface="Calibri" charset="0"/>
                        <a:ea typeface="Calibri" charset="0"/>
                        <a:cs typeface="Calibri" charset="0"/>
                      </a:endParaRPr>
                    </a:p>
                  </a:txBody>
                  <a:tcPr>
                    <a:lnL w="6350" cap="flat" cmpd="sng" algn="ctr">
                      <a:solidFill>
                        <a:srgbClr val="C8D5E0"/>
                      </a:solidFill>
                      <a:prstDash val="solid"/>
                      <a:round/>
                      <a:headEnd type="none" w="med" len="med"/>
                      <a:tailEnd type="none" w="med" len="med"/>
                    </a:lnL>
                    <a:lnR w="6350" cap="flat" cmpd="sng" algn="ctr">
                      <a:solidFill>
                        <a:srgbClr val="C8D5E0"/>
                      </a:solidFill>
                      <a:prstDash val="solid"/>
                      <a:round/>
                      <a:headEnd type="none" w="med" len="med"/>
                      <a:tailEnd type="none" w="med" len="med"/>
                    </a:lnR>
                    <a:lnT w="6350" cap="flat" cmpd="sng" algn="ctr">
                      <a:solidFill>
                        <a:srgbClr val="C8D5E0"/>
                      </a:solidFill>
                      <a:prstDash val="solid"/>
                      <a:round/>
                      <a:headEnd type="none" w="med" len="med"/>
                      <a:tailEnd type="none" w="med" len="med"/>
                    </a:lnT>
                    <a:lnB w="6350" cap="flat" cmpd="sng" algn="ctr">
                      <a:solidFill>
                        <a:srgbClr val="C8D5E0"/>
                      </a:solidFill>
                      <a:prstDash val="solid"/>
                      <a:round/>
                      <a:headEnd type="none" w="med" len="med"/>
                      <a:tailEnd type="none" w="med" len="med"/>
                    </a:lnB>
                    <a:solidFill>
                      <a:srgbClr val="EDF2F7"/>
                    </a:solidFill>
                  </a:tcPr>
                </a:tc>
                <a:tc>
                  <a:txBody>
                    <a:bodyPr/>
                    <a:lstStyle/>
                    <a:p>
                      <a:pPr marL="0" indent="0" algn="ctr">
                        <a:buNone/>
                      </a:pPr>
                      <a:r>
                        <a:rPr lang="en-US" sz="1100" dirty="0">
                          <a:solidFill>
                            <a:srgbClr val="0D1F3C"/>
                          </a:solidFill>
                          <a:latin typeface="Calibri" pitchFamily="34" charset="0"/>
                          <a:ea typeface="Calibri" pitchFamily="34" charset="-122"/>
                          <a:cs typeface="Calibri" pitchFamily="34" charset="-120"/>
                        </a:rPr>
                        <a:t>~46 (740 kg/m³)</a:t>
                      </a:r>
                      <a:endParaRPr lang="en-US" sz="1100" dirty="0">
                        <a:latin typeface="Calibri" charset="0"/>
                        <a:ea typeface="Calibri" charset="0"/>
                        <a:cs typeface="Calibri" charset="0"/>
                      </a:endParaRPr>
                    </a:p>
                  </a:txBody>
                  <a:tcPr>
                    <a:lnL w="6350" cap="flat" cmpd="sng" algn="ctr">
                      <a:solidFill>
                        <a:srgbClr val="C8D5E0"/>
                      </a:solidFill>
                      <a:prstDash val="solid"/>
                      <a:round/>
                      <a:headEnd type="none" w="med" len="med"/>
                      <a:tailEnd type="none" w="med" len="med"/>
                    </a:lnL>
                    <a:lnR w="6350" cap="flat" cmpd="sng" algn="ctr">
                      <a:solidFill>
                        <a:srgbClr val="C8D5E0"/>
                      </a:solidFill>
                      <a:prstDash val="solid"/>
                      <a:round/>
                      <a:headEnd type="none" w="med" len="med"/>
                      <a:tailEnd type="none" w="med" len="med"/>
                    </a:lnR>
                    <a:lnT w="6350" cap="flat" cmpd="sng" algn="ctr">
                      <a:solidFill>
                        <a:srgbClr val="C8D5E0"/>
                      </a:solidFill>
                      <a:prstDash val="solid"/>
                      <a:round/>
                      <a:headEnd type="none" w="med" len="med"/>
                      <a:tailEnd type="none" w="med" len="med"/>
                    </a:lnT>
                    <a:lnB w="6350" cap="flat" cmpd="sng" algn="ctr">
                      <a:solidFill>
                        <a:srgbClr val="C8D5E0"/>
                      </a:solidFill>
                      <a:prstDash val="solid"/>
                      <a:round/>
                      <a:headEnd type="none" w="med" len="med"/>
                      <a:tailEnd type="none" w="med" len="med"/>
                    </a:lnB>
                    <a:solidFill>
                      <a:srgbClr val="EDF2F7"/>
                    </a:solidFill>
                  </a:tcPr>
                </a:tc>
                <a:extLst>
                  <a:ext uri="{0D108BD9-81ED-4DB2-BD59-A6C34878D82A}">
                    <a16:rowId xmlns:a16="http://schemas.microsoft.com/office/drawing/2014/main" val="10001"/>
                  </a:ext>
                </a:extLst>
              </a:tr>
              <a:tr h="420624">
                <a:tc>
                  <a:txBody>
                    <a:bodyPr/>
                    <a:lstStyle/>
                    <a:p>
                      <a:pPr marL="0" indent="0" algn="ctr">
                        <a:buNone/>
                      </a:pPr>
                      <a:r>
                        <a:rPr lang="en-US" sz="1100" dirty="0">
                          <a:solidFill>
                            <a:srgbClr val="0D1F3C"/>
                          </a:solidFill>
                          <a:latin typeface="Calibri" pitchFamily="34" charset="0"/>
                          <a:ea typeface="Calibri" pitchFamily="34" charset="-122"/>
                          <a:cs typeface="Calibri" pitchFamily="34" charset="-120"/>
                        </a:rPr>
                        <a:t>2</a:t>
                      </a:r>
                      <a:endParaRPr lang="en-US" sz="1100" dirty="0">
                        <a:latin typeface="Calibri" charset="0"/>
                        <a:ea typeface="Calibri" charset="0"/>
                        <a:cs typeface="Calibri" charset="0"/>
                      </a:endParaRPr>
                    </a:p>
                  </a:txBody>
                  <a:tcPr>
                    <a:lnL w="6350" cap="flat" cmpd="sng" algn="ctr">
                      <a:solidFill>
                        <a:srgbClr val="C8D5E0"/>
                      </a:solidFill>
                      <a:prstDash val="solid"/>
                      <a:round/>
                      <a:headEnd type="none" w="med" len="med"/>
                      <a:tailEnd type="none" w="med" len="med"/>
                    </a:lnL>
                    <a:lnR w="6350" cap="flat" cmpd="sng" algn="ctr">
                      <a:solidFill>
                        <a:srgbClr val="C8D5E0"/>
                      </a:solidFill>
                      <a:prstDash val="solid"/>
                      <a:round/>
                      <a:headEnd type="none" w="med" len="med"/>
                      <a:tailEnd type="none" w="med" len="med"/>
                    </a:lnR>
                    <a:lnT w="6350" cap="flat" cmpd="sng" algn="ctr">
                      <a:solidFill>
                        <a:srgbClr val="C8D5E0"/>
                      </a:solidFill>
                      <a:prstDash val="solid"/>
                      <a:round/>
                      <a:headEnd type="none" w="med" len="med"/>
                      <a:tailEnd type="none" w="med" len="med"/>
                    </a:lnT>
                    <a:lnB w="6350" cap="flat" cmpd="sng" algn="ctr">
                      <a:solidFill>
                        <a:srgbClr val="C8D5E0"/>
                      </a:solidFill>
                      <a:prstDash val="solid"/>
                      <a:round/>
                      <a:headEnd type="none" w="med" len="med"/>
                      <a:tailEnd type="none" w="med" len="med"/>
                    </a:lnB>
                    <a:solidFill>
                      <a:srgbClr val="FFFFFF"/>
                    </a:solidFill>
                  </a:tcPr>
                </a:tc>
                <a:tc>
                  <a:txBody>
                    <a:bodyPr/>
                    <a:lstStyle/>
                    <a:p>
                      <a:pPr marL="0" indent="0" algn="l">
                        <a:buNone/>
                      </a:pPr>
                      <a:r>
                        <a:rPr lang="en-US" sz="1100" dirty="0">
                          <a:solidFill>
                            <a:srgbClr val="0D1F3C"/>
                          </a:solidFill>
                          <a:latin typeface="Calibri" pitchFamily="34" charset="0"/>
                          <a:ea typeface="Calibri" pitchFamily="34" charset="-122"/>
                          <a:cs typeface="Calibri" pitchFamily="34" charset="-120"/>
                        </a:rPr>
                        <a:t>Bending Strength (MOR)</a:t>
                      </a:r>
                      <a:endParaRPr lang="en-US" sz="1100" dirty="0">
                        <a:latin typeface="Calibri" charset="0"/>
                        <a:ea typeface="Calibri" charset="0"/>
                        <a:cs typeface="Calibri" charset="0"/>
                      </a:endParaRPr>
                    </a:p>
                  </a:txBody>
                  <a:tcPr>
                    <a:lnL w="6350" cap="flat" cmpd="sng" algn="ctr">
                      <a:solidFill>
                        <a:srgbClr val="C8D5E0"/>
                      </a:solidFill>
                      <a:prstDash val="solid"/>
                      <a:round/>
                      <a:headEnd type="none" w="med" len="med"/>
                      <a:tailEnd type="none" w="med" len="med"/>
                    </a:lnL>
                    <a:lnR w="6350" cap="flat" cmpd="sng" algn="ctr">
                      <a:solidFill>
                        <a:srgbClr val="C8D5E0"/>
                      </a:solidFill>
                      <a:prstDash val="solid"/>
                      <a:round/>
                      <a:headEnd type="none" w="med" len="med"/>
                      <a:tailEnd type="none" w="med" len="med"/>
                    </a:lnR>
                    <a:lnT w="6350" cap="flat" cmpd="sng" algn="ctr">
                      <a:solidFill>
                        <a:srgbClr val="C8D5E0"/>
                      </a:solidFill>
                      <a:prstDash val="solid"/>
                      <a:round/>
                      <a:headEnd type="none" w="med" len="med"/>
                      <a:tailEnd type="none" w="med" len="med"/>
                    </a:lnT>
                    <a:lnB w="6350" cap="flat" cmpd="sng" algn="ctr">
                      <a:solidFill>
                        <a:srgbClr val="C8D5E0"/>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0D1F3C"/>
                          </a:solidFill>
                          <a:latin typeface="Calibri" pitchFamily="34" charset="0"/>
                          <a:ea typeface="Calibri" pitchFamily="34" charset="-122"/>
                          <a:cs typeface="Calibri" pitchFamily="34" charset="-120"/>
                        </a:rPr>
                        <a:t>psi</a:t>
                      </a:r>
                      <a:endParaRPr lang="en-US" sz="1100" dirty="0">
                        <a:latin typeface="Calibri" charset="0"/>
                        <a:ea typeface="Calibri" charset="0"/>
                        <a:cs typeface="Calibri" charset="0"/>
                      </a:endParaRPr>
                    </a:p>
                  </a:txBody>
                  <a:tcPr>
                    <a:lnL w="6350" cap="flat" cmpd="sng" algn="ctr">
                      <a:solidFill>
                        <a:srgbClr val="C8D5E0"/>
                      </a:solidFill>
                      <a:prstDash val="solid"/>
                      <a:round/>
                      <a:headEnd type="none" w="med" len="med"/>
                      <a:tailEnd type="none" w="med" len="med"/>
                    </a:lnL>
                    <a:lnR w="6350" cap="flat" cmpd="sng" algn="ctr">
                      <a:solidFill>
                        <a:srgbClr val="C8D5E0"/>
                      </a:solidFill>
                      <a:prstDash val="solid"/>
                      <a:round/>
                      <a:headEnd type="none" w="med" len="med"/>
                      <a:tailEnd type="none" w="med" len="med"/>
                    </a:lnR>
                    <a:lnT w="6350" cap="flat" cmpd="sng" algn="ctr">
                      <a:solidFill>
                        <a:srgbClr val="C8D5E0"/>
                      </a:solidFill>
                      <a:prstDash val="solid"/>
                      <a:round/>
                      <a:headEnd type="none" w="med" len="med"/>
                      <a:tailEnd type="none" w="med" len="med"/>
                    </a:lnT>
                    <a:lnB w="6350" cap="flat" cmpd="sng" algn="ctr">
                      <a:solidFill>
                        <a:srgbClr val="C8D5E0"/>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0D1F3C"/>
                          </a:solidFill>
                          <a:latin typeface="Calibri" pitchFamily="34" charset="0"/>
                          <a:ea typeface="Calibri" pitchFamily="34" charset="-122"/>
                          <a:cs typeface="Calibri" pitchFamily="34" charset="-120"/>
                        </a:rPr>
                        <a:t>≥29,000 (≥200 MPa)</a:t>
                      </a:r>
                      <a:endParaRPr lang="en-US" sz="1100" dirty="0">
                        <a:latin typeface="Calibri" charset="0"/>
                        <a:ea typeface="Calibri" charset="0"/>
                        <a:cs typeface="Calibri" charset="0"/>
                      </a:endParaRPr>
                    </a:p>
                  </a:txBody>
                  <a:tcPr>
                    <a:lnL w="6350" cap="flat" cmpd="sng" algn="ctr">
                      <a:solidFill>
                        <a:srgbClr val="C8D5E0"/>
                      </a:solidFill>
                      <a:prstDash val="solid"/>
                      <a:round/>
                      <a:headEnd type="none" w="med" len="med"/>
                      <a:tailEnd type="none" w="med" len="med"/>
                    </a:lnL>
                    <a:lnR w="6350" cap="flat" cmpd="sng" algn="ctr">
                      <a:solidFill>
                        <a:srgbClr val="C8D5E0"/>
                      </a:solidFill>
                      <a:prstDash val="solid"/>
                      <a:round/>
                      <a:headEnd type="none" w="med" len="med"/>
                      <a:tailEnd type="none" w="med" len="med"/>
                    </a:lnR>
                    <a:lnT w="6350" cap="flat" cmpd="sng" algn="ctr">
                      <a:solidFill>
                        <a:srgbClr val="C8D5E0"/>
                      </a:solidFill>
                      <a:prstDash val="solid"/>
                      <a:round/>
                      <a:headEnd type="none" w="med" len="med"/>
                      <a:tailEnd type="none" w="med" len="med"/>
                    </a:lnT>
                    <a:lnB w="6350" cap="flat" cmpd="sng" algn="ctr">
                      <a:solidFill>
                        <a:srgbClr val="C8D5E0"/>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0D1F3C"/>
                          </a:solidFill>
                          <a:latin typeface="Calibri" pitchFamily="34" charset="0"/>
                          <a:ea typeface="Calibri" pitchFamily="34" charset="-122"/>
                          <a:cs typeface="Calibri" pitchFamily="34" charset="-120"/>
                        </a:rPr>
                        <a:t>≥10,150 (≥70 MPa)</a:t>
                      </a:r>
                      <a:endParaRPr lang="en-US" sz="1100" dirty="0">
                        <a:latin typeface="Calibri" charset="0"/>
                        <a:ea typeface="Calibri" charset="0"/>
                        <a:cs typeface="Calibri" charset="0"/>
                      </a:endParaRPr>
                    </a:p>
                  </a:txBody>
                  <a:tcPr>
                    <a:lnL w="6350" cap="flat" cmpd="sng" algn="ctr">
                      <a:solidFill>
                        <a:srgbClr val="C8D5E0"/>
                      </a:solidFill>
                      <a:prstDash val="solid"/>
                      <a:round/>
                      <a:headEnd type="none" w="med" len="med"/>
                      <a:tailEnd type="none" w="med" len="med"/>
                    </a:lnL>
                    <a:lnR w="6350" cap="flat" cmpd="sng" algn="ctr">
                      <a:solidFill>
                        <a:srgbClr val="C8D5E0"/>
                      </a:solidFill>
                      <a:prstDash val="solid"/>
                      <a:round/>
                      <a:headEnd type="none" w="med" len="med"/>
                      <a:tailEnd type="none" w="med" len="med"/>
                    </a:lnR>
                    <a:lnT w="6350" cap="flat" cmpd="sng" algn="ctr">
                      <a:solidFill>
                        <a:srgbClr val="C8D5E0"/>
                      </a:solidFill>
                      <a:prstDash val="solid"/>
                      <a:round/>
                      <a:headEnd type="none" w="med" len="med"/>
                      <a:tailEnd type="none" w="med" len="med"/>
                    </a:lnT>
                    <a:lnB w="6350" cap="flat" cmpd="sng" algn="ctr">
                      <a:solidFill>
                        <a:srgbClr val="C8D5E0"/>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20624">
                <a:tc>
                  <a:txBody>
                    <a:bodyPr/>
                    <a:lstStyle/>
                    <a:p>
                      <a:pPr marL="0" indent="0" algn="ctr">
                        <a:buNone/>
                      </a:pPr>
                      <a:r>
                        <a:rPr lang="en-US" sz="1100" dirty="0">
                          <a:solidFill>
                            <a:srgbClr val="0D1F3C"/>
                          </a:solidFill>
                          <a:latin typeface="Calibri" pitchFamily="34" charset="0"/>
                          <a:ea typeface="Calibri" pitchFamily="34" charset="-122"/>
                          <a:cs typeface="Calibri" pitchFamily="34" charset="-120"/>
                        </a:rPr>
                        <a:t>3</a:t>
                      </a:r>
                      <a:endParaRPr lang="en-US" sz="1100" dirty="0">
                        <a:latin typeface="Calibri" charset="0"/>
                        <a:ea typeface="Calibri" charset="0"/>
                        <a:cs typeface="Calibri" charset="0"/>
                      </a:endParaRPr>
                    </a:p>
                  </a:txBody>
                  <a:tcPr>
                    <a:lnL w="6350" cap="flat" cmpd="sng" algn="ctr">
                      <a:solidFill>
                        <a:srgbClr val="C8D5E0"/>
                      </a:solidFill>
                      <a:prstDash val="solid"/>
                      <a:round/>
                      <a:headEnd type="none" w="med" len="med"/>
                      <a:tailEnd type="none" w="med" len="med"/>
                    </a:lnL>
                    <a:lnR w="6350" cap="flat" cmpd="sng" algn="ctr">
                      <a:solidFill>
                        <a:srgbClr val="C8D5E0"/>
                      </a:solidFill>
                      <a:prstDash val="solid"/>
                      <a:round/>
                      <a:headEnd type="none" w="med" len="med"/>
                      <a:tailEnd type="none" w="med" len="med"/>
                    </a:lnR>
                    <a:lnT w="6350" cap="flat" cmpd="sng" algn="ctr">
                      <a:solidFill>
                        <a:srgbClr val="C8D5E0"/>
                      </a:solidFill>
                      <a:prstDash val="solid"/>
                      <a:round/>
                      <a:headEnd type="none" w="med" len="med"/>
                      <a:tailEnd type="none" w="med" len="med"/>
                    </a:lnT>
                    <a:lnB w="6350" cap="flat" cmpd="sng" algn="ctr">
                      <a:solidFill>
                        <a:srgbClr val="C8D5E0"/>
                      </a:solidFill>
                      <a:prstDash val="solid"/>
                      <a:round/>
                      <a:headEnd type="none" w="med" len="med"/>
                      <a:tailEnd type="none" w="med" len="med"/>
                    </a:lnB>
                    <a:solidFill>
                      <a:srgbClr val="EDF2F7"/>
                    </a:solidFill>
                  </a:tcPr>
                </a:tc>
                <a:tc>
                  <a:txBody>
                    <a:bodyPr/>
                    <a:lstStyle/>
                    <a:p>
                      <a:pPr marL="0" indent="0" algn="l">
                        <a:buNone/>
                      </a:pPr>
                      <a:r>
                        <a:rPr lang="en-US" sz="1100" dirty="0">
                          <a:solidFill>
                            <a:srgbClr val="0D1F3C"/>
                          </a:solidFill>
                          <a:latin typeface="Calibri" pitchFamily="34" charset="0"/>
                          <a:ea typeface="Calibri" pitchFamily="34" charset="-122"/>
                          <a:cs typeface="Calibri" pitchFamily="34" charset="-120"/>
                        </a:rPr>
                        <a:t>Bending Modulus (MOE)</a:t>
                      </a:r>
                      <a:endParaRPr lang="en-US" sz="1100" dirty="0">
                        <a:latin typeface="Calibri" charset="0"/>
                        <a:ea typeface="Calibri" charset="0"/>
                        <a:cs typeface="Calibri" charset="0"/>
                      </a:endParaRPr>
                    </a:p>
                  </a:txBody>
                  <a:tcPr>
                    <a:lnL w="6350" cap="flat" cmpd="sng" algn="ctr">
                      <a:solidFill>
                        <a:srgbClr val="C8D5E0"/>
                      </a:solidFill>
                      <a:prstDash val="solid"/>
                      <a:round/>
                      <a:headEnd type="none" w="med" len="med"/>
                      <a:tailEnd type="none" w="med" len="med"/>
                    </a:lnL>
                    <a:lnR w="6350" cap="flat" cmpd="sng" algn="ctr">
                      <a:solidFill>
                        <a:srgbClr val="C8D5E0"/>
                      </a:solidFill>
                      <a:prstDash val="solid"/>
                      <a:round/>
                      <a:headEnd type="none" w="med" len="med"/>
                      <a:tailEnd type="none" w="med" len="med"/>
                    </a:lnR>
                    <a:lnT w="6350" cap="flat" cmpd="sng" algn="ctr">
                      <a:solidFill>
                        <a:srgbClr val="C8D5E0"/>
                      </a:solidFill>
                      <a:prstDash val="solid"/>
                      <a:round/>
                      <a:headEnd type="none" w="med" len="med"/>
                      <a:tailEnd type="none" w="med" len="med"/>
                    </a:lnT>
                    <a:lnB w="6350" cap="flat" cmpd="sng" algn="ctr">
                      <a:solidFill>
                        <a:srgbClr val="C8D5E0"/>
                      </a:solidFill>
                      <a:prstDash val="solid"/>
                      <a:round/>
                      <a:headEnd type="none" w="med" len="med"/>
                      <a:tailEnd type="none" w="med" len="med"/>
                    </a:lnB>
                    <a:solidFill>
                      <a:srgbClr val="EDF2F7"/>
                    </a:solidFill>
                  </a:tcPr>
                </a:tc>
                <a:tc>
                  <a:txBody>
                    <a:bodyPr/>
                    <a:lstStyle/>
                    <a:p>
                      <a:pPr marL="0" indent="0" algn="ctr">
                        <a:buNone/>
                      </a:pPr>
                      <a:r>
                        <a:rPr lang="en-US" sz="1100" dirty="0">
                          <a:solidFill>
                            <a:srgbClr val="0D1F3C"/>
                          </a:solidFill>
                          <a:latin typeface="Calibri" pitchFamily="34" charset="0"/>
                          <a:ea typeface="Calibri" pitchFamily="34" charset="-122"/>
                          <a:cs typeface="Calibri" pitchFamily="34" charset="-120"/>
                        </a:rPr>
                        <a:t>× 10⁶ psi</a:t>
                      </a:r>
                      <a:endParaRPr lang="en-US" sz="1100" dirty="0">
                        <a:latin typeface="Calibri" charset="0"/>
                        <a:ea typeface="Calibri" charset="0"/>
                        <a:cs typeface="Calibri" charset="0"/>
                      </a:endParaRPr>
                    </a:p>
                  </a:txBody>
                  <a:tcPr>
                    <a:lnL w="6350" cap="flat" cmpd="sng" algn="ctr">
                      <a:solidFill>
                        <a:srgbClr val="C8D5E0"/>
                      </a:solidFill>
                      <a:prstDash val="solid"/>
                      <a:round/>
                      <a:headEnd type="none" w="med" len="med"/>
                      <a:tailEnd type="none" w="med" len="med"/>
                    </a:lnL>
                    <a:lnR w="6350" cap="flat" cmpd="sng" algn="ctr">
                      <a:solidFill>
                        <a:srgbClr val="C8D5E0"/>
                      </a:solidFill>
                      <a:prstDash val="solid"/>
                      <a:round/>
                      <a:headEnd type="none" w="med" len="med"/>
                      <a:tailEnd type="none" w="med" len="med"/>
                    </a:lnR>
                    <a:lnT w="6350" cap="flat" cmpd="sng" algn="ctr">
                      <a:solidFill>
                        <a:srgbClr val="C8D5E0"/>
                      </a:solidFill>
                      <a:prstDash val="solid"/>
                      <a:round/>
                      <a:headEnd type="none" w="med" len="med"/>
                      <a:tailEnd type="none" w="med" len="med"/>
                    </a:lnT>
                    <a:lnB w="6350" cap="flat" cmpd="sng" algn="ctr">
                      <a:solidFill>
                        <a:srgbClr val="C8D5E0"/>
                      </a:solidFill>
                      <a:prstDash val="solid"/>
                      <a:round/>
                      <a:headEnd type="none" w="med" len="med"/>
                      <a:tailEnd type="none" w="med" len="med"/>
                    </a:lnB>
                    <a:solidFill>
                      <a:srgbClr val="EDF2F7"/>
                    </a:solidFill>
                  </a:tcPr>
                </a:tc>
                <a:tc>
                  <a:txBody>
                    <a:bodyPr/>
                    <a:lstStyle/>
                    <a:p>
                      <a:pPr marL="0" indent="0" algn="ctr">
                        <a:buNone/>
                      </a:pPr>
                      <a:r>
                        <a:rPr lang="en-US" sz="1100" dirty="0">
                          <a:solidFill>
                            <a:srgbClr val="0D1F3C"/>
                          </a:solidFill>
                          <a:latin typeface="Calibri" pitchFamily="34" charset="0"/>
                          <a:ea typeface="Calibri" pitchFamily="34" charset="-122"/>
                          <a:cs typeface="Calibri" pitchFamily="34" charset="-120"/>
                        </a:rPr>
                        <a:t>≥1.74 (≥12 GPa)</a:t>
                      </a:r>
                      <a:endParaRPr lang="en-US" sz="1100" dirty="0">
                        <a:latin typeface="Calibri" charset="0"/>
                        <a:ea typeface="Calibri" charset="0"/>
                        <a:cs typeface="Calibri" charset="0"/>
                      </a:endParaRPr>
                    </a:p>
                  </a:txBody>
                  <a:tcPr>
                    <a:lnL w="6350" cap="flat" cmpd="sng" algn="ctr">
                      <a:solidFill>
                        <a:srgbClr val="C8D5E0"/>
                      </a:solidFill>
                      <a:prstDash val="solid"/>
                      <a:round/>
                      <a:headEnd type="none" w="med" len="med"/>
                      <a:tailEnd type="none" w="med" len="med"/>
                    </a:lnL>
                    <a:lnR w="6350" cap="flat" cmpd="sng" algn="ctr">
                      <a:solidFill>
                        <a:srgbClr val="C8D5E0"/>
                      </a:solidFill>
                      <a:prstDash val="solid"/>
                      <a:round/>
                      <a:headEnd type="none" w="med" len="med"/>
                      <a:tailEnd type="none" w="med" len="med"/>
                    </a:lnR>
                    <a:lnT w="6350" cap="flat" cmpd="sng" algn="ctr">
                      <a:solidFill>
                        <a:srgbClr val="C8D5E0"/>
                      </a:solidFill>
                      <a:prstDash val="solid"/>
                      <a:round/>
                      <a:headEnd type="none" w="med" len="med"/>
                      <a:tailEnd type="none" w="med" len="med"/>
                    </a:lnT>
                    <a:lnB w="6350" cap="flat" cmpd="sng" algn="ctr">
                      <a:solidFill>
                        <a:srgbClr val="C8D5E0"/>
                      </a:solidFill>
                      <a:prstDash val="solid"/>
                      <a:round/>
                      <a:headEnd type="none" w="med" len="med"/>
                      <a:tailEnd type="none" w="med" len="med"/>
                    </a:lnB>
                    <a:solidFill>
                      <a:srgbClr val="EDF2F7"/>
                    </a:solidFill>
                  </a:tcPr>
                </a:tc>
                <a:tc>
                  <a:txBody>
                    <a:bodyPr/>
                    <a:lstStyle/>
                    <a:p>
                      <a:pPr marL="0" indent="0" algn="ctr">
                        <a:buNone/>
                      </a:pPr>
                      <a:r>
                        <a:rPr lang="en-US" sz="1100" dirty="0">
                          <a:solidFill>
                            <a:srgbClr val="0D1F3C"/>
                          </a:solidFill>
                          <a:latin typeface="Calibri" pitchFamily="34" charset="0"/>
                          <a:ea typeface="Calibri" pitchFamily="34" charset="-122"/>
                          <a:cs typeface="Calibri" pitchFamily="34" charset="-120"/>
                        </a:rPr>
                        <a:t>≥0.87 (≥6 GPa)</a:t>
                      </a:r>
                      <a:endParaRPr lang="en-US" sz="1100" dirty="0">
                        <a:latin typeface="Calibri" charset="0"/>
                        <a:ea typeface="Calibri" charset="0"/>
                        <a:cs typeface="Calibri" charset="0"/>
                      </a:endParaRPr>
                    </a:p>
                  </a:txBody>
                  <a:tcPr>
                    <a:lnL w="6350" cap="flat" cmpd="sng" algn="ctr">
                      <a:solidFill>
                        <a:srgbClr val="C8D5E0"/>
                      </a:solidFill>
                      <a:prstDash val="solid"/>
                      <a:round/>
                      <a:headEnd type="none" w="med" len="med"/>
                      <a:tailEnd type="none" w="med" len="med"/>
                    </a:lnL>
                    <a:lnR w="6350" cap="flat" cmpd="sng" algn="ctr">
                      <a:solidFill>
                        <a:srgbClr val="C8D5E0"/>
                      </a:solidFill>
                      <a:prstDash val="solid"/>
                      <a:round/>
                      <a:headEnd type="none" w="med" len="med"/>
                      <a:tailEnd type="none" w="med" len="med"/>
                    </a:lnR>
                    <a:lnT w="6350" cap="flat" cmpd="sng" algn="ctr">
                      <a:solidFill>
                        <a:srgbClr val="C8D5E0"/>
                      </a:solidFill>
                      <a:prstDash val="solid"/>
                      <a:round/>
                      <a:headEnd type="none" w="med" len="med"/>
                      <a:tailEnd type="none" w="med" len="med"/>
                    </a:lnT>
                    <a:lnB w="6350" cap="flat" cmpd="sng" algn="ctr">
                      <a:solidFill>
                        <a:srgbClr val="C8D5E0"/>
                      </a:solidFill>
                      <a:prstDash val="solid"/>
                      <a:round/>
                      <a:headEnd type="none" w="med" len="med"/>
                      <a:tailEnd type="none" w="med" len="med"/>
                    </a:lnB>
                    <a:solidFill>
                      <a:srgbClr val="EDF2F7"/>
                    </a:solidFill>
                  </a:tcPr>
                </a:tc>
                <a:extLst>
                  <a:ext uri="{0D108BD9-81ED-4DB2-BD59-A6C34878D82A}">
                    <a16:rowId xmlns:a16="http://schemas.microsoft.com/office/drawing/2014/main" val="10003"/>
                  </a:ext>
                </a:extLst>
              </a:tr>
              <a:tr h="420624">
                <a:tc>
                  <a:txBody>
                    <a:bodyPr/>
                    <a:lstStyle/>
                    <a:p>
                      <a:pPr marL="0" indent="0" algn="ctr">
                        <a:buNone/>
                      </a:pPr>
                      <a:r>
                        <a:rPr lang="en-US" sz="1100" dirty="0">
                          <a:solidFill>
                            <a:srgbClr val="0D1F3C"/>
                          </a:solidFill>
                          <a:latin typeface="Calibri" pitchFamily="34" charset="0"/>
                          <a:ea typeface="Calibri" pitchFamily="34" charset="-122"/>
                          <a:cs typeface="Calibri" pitchFamily="34" charset="-120"/>
                        </a:rPr>
                        <a:t>4</a:t>
                      </a:r>
                      <a:endParaRPr lang="en-US" sz="1100" dirty="0">
                        <a:latin typeface="Calibri" charset="0"/>
                        <a:ea typeface="Calibri" charset="0"/>
                        <a:cs typeface="Calibri" charset="0"/>
                      </a:endParaRPr>
                    </a:p>
                  </a:txBody>
                  <a:tcPr>
                    <a:lnL w="6350" cap="flat" cmpd="sng" algn="ctr">
                      <a:solidFill>
                        <a:srgbClr val="C8D5E0"/>
                      </a:solidFill>
                      <a:prstDash val="solid"/>
                      <a:round/>
                      <a:headEnd type="none" w="med" len="med"/>
                      <a:tailEnd type="none" w="med" len="med"/>
                    </a:lnL>
                    <a:lnR w="6350" cap="flat" cmpd="sng" algn="ctr">
                      <a:solidFill>
                        <a:srgbClr val="C8D5E0"/>
                      </a:solidFill>
                      <a:prstDash val="solid"/>
                      <a:round/>
                      <a:headEnd type="none" w="med" len="med"/>
                      <a:tailEnd type="none" w="med" len="med"/>
                    </a:lnR>
                    <a:lnT w="6350" cap="flat" cmpd="sng" algn="ctr">
                      <a:solidFill>
                        <a:srgbClr val="C8D5E0"/>
                      </a:solidFill>
                      <a:prstDash val="solid"/>
                      <a:round/>
                      <a:headEnd type="none" w="med" len="med"/>
                      <a:tailEnd type="none" w="med" len="med"/>
                    </a:lnT>
                    <a:lnB w="6350" cap="flat" cmpd="sng" algn="ctr">
                      <a:solidFill>
                        <a:srgbClr val="C8D5E0"/>
                      </a:solidFill>
                      <a:prstDash val="solid"/>
                      <a:round/>
                      <a:headEnd type="none" w="med" len="med"/>
                      <a:tailEnd type="none" w="med" len="med"/>
                    </a:lnB>
                    <a:solidFill>
                      <a:srgbClr val="FFFFFF"/>
                    </a:solidFill>
                  </a:tcPr>
                </a:tc>
                <a:tc>
                  <a:txBody>
                    <a:bodyPr/>
                    <a:lstStyle/>
                    <a:p>
                      <a:pPr marL="0" indent="0" algn="l">
                        <a:buNone/>
                      </a:pPr>
                      <a:r>
                        <a:rPr lang="en-US" sz="1100" dirty="0">
                          <a:solidFill>
                            <a:srgbClr val="0D1F3C"/>
                          </a:solidFill>
                          <a:latin typeface="Calibri" pitchFamily="34" charset="0"/>
                          <a:ea typeface="Calibri" pitchFamily="34" charset="-122"/>
                          <a:cs typeface="Calibri" pitchFamily="34" charset="-120"/>
                        </a:rPr>
                        <a:t>Compressive Strength</a:t>
                      </a:r>
                      <a:endParaRPr lang="en-US" sz="1100" dirty="0">
                        <a:latin typeface="Calibri" charset="0"/>
                        <a:ea typeface="Calibri" charset="0"/>
                        <a:cs typeface="Calibri" charset="0"/>
                      </a:endParaRPr>
                    </a:p>
                  </a:txBody>
                  <a:tcPr>
                    <a:lnL w="6350" cap="flat" cmpd="sng" algn="ctr">
                      <a:solidFill>
                        <a:srgbClr val="C8D5E0"/>
                      </a:solidFill>
                      <a:prstDash val="solid"/>
                      <a:round/>
                      <a:headEnd type="none" w="med" len="med"/>
                      <a:tailEnd type="none" w="med" len="med"/>
                    </a:lnL>
                    <a:lnR w="6350" cap="flat" cmpd="sng" algn="ctr">
                      <a:solidFill>
                        <a:srgbClr val="C8D5E0"/>
                      </a:solidFill>
                      <a:prstDash val="solid"/>
                      <a:round/>
                      <a:headEnd type="none" w="med" len="med"/>
                      <a:tailEnd type="none" w="med" len="med"/>
                    </a:lnR>
                    <a:lnT w="6350" cap="flat" cmpd="sng" algn="ctr">
                      <a:solidFill>
                        <a:srgbClr val="C8D5E0"/>
                      </a:solidFill>
                      <a:prstDash val="solid"/>
                      <a:round/>
                      <a:headEnd type="none" w="med" len="med"/>
                      <a:tailEnd type="none" w="med" len="med"/>
                    </a:lnT>
                    <a:lnB w="6350" cap="flat" cmpd="sng" algn="ctr">
                      <a:solidFill>
                        <a:srgbClr val="C8D5E0"/>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0D1F3C"/>
                          </a:solidFill>
                          <a:latin typeface="Calibri" pitchFamily="34" charset="0"/>
                          <a:ea typeface="Calibri" pitchFamily="34" charset="-122"/>
                          <a:cs typeface="Calibri" pitchFamily="34" charset="-120"/>
                        </a:rPr>
                        <a:t>psi</a:t>
                      </a:r>
                      <a:endParaRPr lang="en-US" sz="1100" dirty="0">
                        <a:latin typeface="Calibri" charset="0"/>
                        <a:ea typeface="Calibri" charset="0"/>
                        <a:cs typeface="Calibri" charset="0"/>
                      </a:endParaRPr>
                    </a:p>
                  </a:txBody>
                  <a:tcPr>
                    <a:lnL w="6350" cap="flat" cmpd="sng" algn="ctr">
                      <a:solidFill>
                        <a:srgbClr val="C8D5E0"/>
                      </a:solidFill>
                      <a:prstDash val="solid"/>
                      <a:round/>
                      <a:headEnd type="none" w="med" len="med"/>
                      <a:tailEnd type="none" w="med" len="med"/>
                    </a:lnL>
                    <a:lnR w="6350" cap="flat" cmpd="sng" algn="ctr">
                      <a:solidFill>
                        <a:srgbClr val="C8D5E0"/>
                      </a:solidFill>
                      <a:prstDash val="solid"/>
                      <a:round/>
                      <a:headEnd type="none" w="med" len="med"/>
                      <a:tailEnd type="none" w="med" len="med"/>
                    </a:lnR>
                    <a:lnT w="6350" cap="flat" cmpd="sng" algn="ctr">
                      <a:solidFill>
                        <a:srgbClr val="C8D5E0"/>
                      </a:solidFill>
                      <a:prstDash val="solid"/>
                      <a:round/>
                      <a:headEnd type="none" w="med" len="med"/>
                      <a:tailEnd type="none" w="med" len="med"/>
                    </a:lnT>
                    <a:lnB w="6350" cap="flat" cmpd="sng" algn="ctr">
                      <a:solidFill>
                        <a:srgbClr val="C8D5E0"/>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0D1F3C"/>
                          </a:solidFill>
                          <a:latin typeface="Calibri" pitchFamily="34" charset="0"/>
                          <a:ea typeface="Calibri" pitchFamily="34" charset="-122"/>
                          <a:cs typeface="Calibri" pitchFamily="34" charset="-120"/>
                        </a:rPr>
                        <a:t>≥17,400 (≥120 MPa)</a:t>
                      </a:r>
                      <a:endParaRPr lang="en-US" sz="1100" dirty="0">
                        <a:latin typeface="Calibri" charset="0"/>
                        <a:ea typeface="Calibri" charset="0"/>
                        <a:cs typeface="Calibri" charset="0"/>
                      </a:endParaRPr>
                    </a:p>
                  </a:txBody>
                  <a:tcPr>
                    <a:lnL w="6350" cap="flat" cmpd="sng" algn="ctr">
                      <a:solidFill>
                        <a:srgbClr val="C8D5E0"/>
                      </a:solidFill>
                      <a:prstDash val="solid"/>
                      <a:round/>
                      <a:headEnd type="none" w="med" len="med"/>
                      <a:tailEnd type="none" w="med" len="med"/>
                    </a:lnL>
                    <a:lnR w="6350" cap="flat" cmpd="sng" algn="ctr">
                      <a:solidFill>
                        <a:srgbClr val="C8D5E0"/>
                      </a:solidFill>
                      <a:prstDash val="solid"/>
                      <a:round/>
                      <a:headEnd type="none" w="med" len="med"/>
                      <a:tailEnd type="none" w="med" len="med"/>
                    </a:lnR>
                    <a:lnT w="6350" cap="flat" cmpd="sng" algn="ctr">
                      <a:solidFill>
                        <a:srgbClr val="C8D5E0"/>
                      </a:solidFill>
                      <a:prstDash val="solid"/>
                      <a:round/>
                      <a:headEnd type="none" w="med" len="med"/>
                      <a:tailEnd type="none" w="med" len="med"/>
                    </a:lnT>
                    <a:lnB w="6350" cap="flat" cmpd="sng" algn="ctr">
                      <a:solidFill>
                        <a:srgbClr val="C8D5E0"/>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0D1F3C"/>
                          </a:solidFill>
                          <a:latin typeface="Calibri" pitchFamily="34" charset="0"/>
                          <a:ea typeface="Calibri" pitchFamily="34" charset="-122"/>
                          <a:cs typeface="Calibri" pitchFamily="34" charset="-120"/>
                        </a:rPr>
                        <a:t>≥5,800 (≥40 MPa)</a:t>
                      </a:r>
                      <a:endParaRPr lang="en-US" sz="1100" dirty="0">
                        <a:latin typeface="Calibri" charset="0"/>
                        <a:ea typeface="Calibri" charset="0"/>
                        <a:cs typeface="Calibri" charset="0"/>
                      </a:endParaRPr>
                    </a:p>
                  </a:txBody>
                  <a:tcPr>
                    <a:lnL w="6350" cap="flat" cmpd="sng" algn="ctr">
                      <a:solidFill>
                        <a:srgbClr val="C8D5E0"/>
                      </a:solidFill>
                      <a:prstDash val="solid"/>
                      <a:round/>
                      <a:headEnd type="none" w="med" len="med"/>
                      <a:tailEnd type="none" w="med" len="med"/>
                    </a:lnL>
                    <a:lnR w="6350" cap="flat" cmpd="sng" algn="ctr">
                      <a:solidFill>
                        <a:srgbClr val="C8D5E0"/>
                      </a:solidFill>
                      <a:prstDash val="solid"/>
                      <a:round/>
                      <a:headEnd type="none" w="med" len="med"/>
                      <a:tailEnd type="none" w="med" len="med"/>
                    </a:lnR>
                    <a:lnT w="6350" cap="flat" cmpd="sng" algn="ctr">
                      <a:solidFill>
                        <a:srgbClr val="C8D5E0"/>
                      </a:solidFill>
                      <a:prstDash val="solid"/>
                      <a:round/>
                      <a:headEnd type="none" w="med" len="med"/>
                      <a:tailEnd type="none" w="med" len="med"/>
                    </a:lnT>
                    <a:lnB w="6350" cap="flat" cmpd="sng" algn="ctr">
                      <a:solidFill>
                        <a:srgbClr val="C8D5E0"/>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20624">
                <a:tc>
                  <a:txBody>
                    <a:bodyPr/>
                    <a:lstStyle/>
                    <a:p>
                      <a:pPr marL="0" indent="0" algn="ctr">
                        <a:buNone/>
                      </a:pPr>
                      <a:r>
                        <a:rPr lang="en-US" sz="1100" dirty="0">
                          <a:solidFill>
                            <a:srgbClr val="0D1F3C"/>
                          </a:solidFill>
                          <a:latin typeface="Calibri" pitchFamily="34" charset="0"/>
                          <a:ea typeface="Calibri" pitchFamily="34" charset="-122"/>
                          <a:cs typeface="Calibri" pitchFamily="34" charset="-120"/>
                        </a:rPr>
                        <a:t>5</a:t>
                      </a:r>
                      <a:endParaRPr lang="en-US" sz="1100" dirty="0">
                        <a:latin typeface="Calibri" charset="0"/>
                        <a:ea typeface="Calibri" charset="0"/>
                        <a:cs typeface="Calibri" charset="0"/>
                      </a:endParaRPr>
                    </a:p>
                  </a:txBody>
                  <a:tcPr>
                    <a:lnL w="6350" cap="flat" cmpd="sng" algn="ctr">
                      <a:solidFill>
                        <a:srgbClr val="C8D5E0"/>
                      </a:solidFill>
                      <a:prstDash val="solid"/>
                      <a:round/>
                      <a:headEnd type="none" w="med" len="med"/>
                      <a:tailEnd type="none" w="med" len="med"/>
                    </a:lnL>
                    <a:lnR w="6350" cap="flat" cmpd="sng" algn="ctr">
                      <a:solidFill>
                        <a:srgbClr val="C8D5E0"/>
                      </a:solidFill>
                      <a:prstDash val="solid"/>
                      <a:round/>
                      <a:headEnd type="none" w="med" len="med"/>
                      <a:tailEnd type="none" w="med" len="med"/>
                    </a:lnR>
                    <a:lnT w="6350" cap="flat" cmpd="sng" algn="ctr">
                      <a:solidFill>
                        <a:srgbClr val="C8D5E0"/>
                      </a:solidFill>
                      <a:prstDash val="solid"/>
                      <a:round/>
                      <a:headEnd type="none" w="med" len="med"/>
                      <a:tailEnd type="none" w="med" len="med"/>
                    </a:lnT>
                    <a:lnB w="6350" cap="flat" cmpd="sng" algn="ctr">
                      <a:solidFill>
                        <a:srgbClr val="C8D5E0"/>
                      </a:solidFill>
                      <a:prstDash val="solid"/>
                      <a:round/>
                      <a:headEnd type="none" w="med" len="med"/>
                      <a:tailEnd type="none" w="med" len="med"/>
                    </a:lnB>
                    <a:solidFill>
                      <a:srgbClr val="EDF2F7"/>
                    </a:solidFill>
                  </a:tcPr>
                </a:tc>
                <a:tc>
                  <a:txBody>
                    <a:bodyPr/>
                    <a:lstStyle/>
                    <a:p>
                      <a:pPr marL="0" indent="0" algn="l">
                        <a:buNone/>
                      </a:pPr>
                      <a:r>
                        <a:rPr lang="en-US" sz="1100" dirty="0">
                          <a:solidFill>
                            <a:srgbClr val="0D1F3C"/>
                          </a:solidFill>
                          <a:latin typeface="Calibri" pitchFamily="34" charset="0"/>
                          <a:ea typeface="Calibri" pitchFamily="34" charset="-122"/>
                          <a:cs typeface="Calibri" pitchFamily="34" charset="-120"/>
                        </a:rPr>
                        <a:t>Shear Strength</a:t>
                      </a:r>
                      <a:endParaRPr lang="en-US" sz="1100" dirty="0">
                        <a:latin typeface="Calibri" charset="0"/>
                        <a:ea typeface="Calibri" charset="0"/>
                        <a:cs typeface="Calibri" charset="0"/>
                      </a:endParaRPr>
                    </a:p>
                  </a:txBody>
                  <a:tcPr>
                    <a:lnL w="6350" cap="flat" cmpd="sng" algn="ctr">
                      <a:solidFill>
                        <a:srgbClr val="C8D5E0"/>
                      </a:solidFill>
                      <a:prstDash val="solid"/>
                      <a:round/>
                      <a:headEnd type="none" w="med" len="med"/>
                      <a:tailEnd type="none" w="med" len="med"/>
                    </a:lnL>
                    <a:lnR w="6350" cap="flat" cmpd="sng" algn="ctr">
                      <a:solidFill>
                        <a:srgbClr val="C8D5E0"/>
                      </a:solidFill>
                      <a:prstDash val="solid"/>
                      <a:round/>
                      <a:headEnd type="none" w="med" len="med"/>
                      <a:tailEnd type="none" w="med" len="med"/>
                    </a:lnR>
                    <a:lnT w="6350" cap="flat" cmpd="sng" algn="ctr">
                      <a:solidFill>
                        <a:srgbClr val="C8D5E0"/>
                      </a:solidFill>
                      <a:prstDash val="solid"/>
                      <a:round/>
                      <a:headEnd type="none" w="med" len="med"/>
                      <a:tailEnd type="none" w="med" len="med"/>
                    </a:lnT>
                    <a:lnB w="6350" cap="flat" cmpd="sng" algn="ctr">
                      <a:solidFill>
                        <a:srgbClr val="C8D5E0"/>
                      </a:solidFill>
                      <a:prstDash val="solid"/>
                      <a:round/>
                      <a:headEnd type="none" w="med" len="med"/>
                      <a:tailEnd type="none" w="med" len="med"/>
                    </a:lnB>
                    <a:solidFill>
                      <a:srgbClr val="EDF2F7"/>
                    </a:solidFill>
                  </a:tcPr>
                </a:tc>
                <a:tc>
                  <a:txBody>
                    <a:bodyPr/>
                    <a:lstStyle/>
                    <a:p>
                      <a:pPr marL="0" indent="0" algn="ctr">
                        <a:buNone/>
                      </a:pPr>
                      <a:r>
                        <a:rPr lang="en-US" sz="1100" dirty="0">
                          <a:solidFill>
                            <a:srgbClr val="0D1F3C"/>
                          </a:solidFill>
                          <a:latin typeface="Calibri" pitchFamily="34" charset="0"/>
                          <a:ea typeface="Calibri" pitchFamily="34" charset="-122"/>
                          <a:cs typeface="Calibri" pitchFamily="34" charset="-120"/>
                        </a:rPr>
                        <a:t>psi</a:t>
                      </a:r>
                      <a:endParaRPr lang="en-US" sz="1100" dirty="0">
                        <a:latin typeface="Calibri" charset="0"/>
                        <a:ea typeface="Calibri" charset="0"/>
                        <a:cs typeface="Calibri" charset="0"/>
                      </a:endParaRPr>
                    </a:p>
                  </a:txBody>
                  <a:tcPr>
                    <a:lnL w="6350" cap="flat" cmpd="sng" algn="ctr">
                      <a:solidFill>
                        <a:srgbClr val="C8D5E0"/>
                      </a:solidFill>
                      <a:prstDash val="solid"/>
                      <a:round/>
                      <a:headEnd type="none" w="med" len="med"/>
                      <a:tailEnd type="none" w="med" len="med"/>
                    </a:lnL>
                    <a:lnR w="6350" cap="flat" cmpd="sng" algn="ctr">
                      <a:solidFill>
                        <a:srgbClr val="C8D5E0"/>
                      </a:solidFill>
                      <a:prstDash val="solid"/>
                      <a:round/>
                      <a:headEnd type="none" w="med" len="med"/>
                      <a:tailEnd type="none" w="med" len="med"/>
                    </a:lnR>
                    <a:lnT w="6350" cap="flat" cmpd="sng" algn="ctr">
                      <a:solidFill>
                        <a:srgbClr val="C8D5E0"/>
                      </a:solidFill>
                      <a:prstDash val="solid"/>
                      <a:round/>
                      <a:headEnd type="none" w="med" len="med"/>
                      <a:tailEnd type="none" w="med" len="med"/>
                    </a:lnT>
                    <a:lnB w="6350" cap="flat" cmpd="sng" algn="ctr">
                      <a:solidFill>
                        <a:srgbClr val="C8D5E0"/>
                      </a:solidFill>
                      <a:prstDash val="solid"/>
                      <a:round/>
                      <a:headEnd type="none" w="med" len="med"/>
                      <a:tailEnd type="none" w="med" len="med"/>
                    </a:lnB>
                    <a:solidFill>
                      <a:srgbClr val="EDF2F7"/>
                    </a:solidFill>
                  </a:tcPr>
                </a:tc>
                <a:tc>
                  <a:txBody>
                    <a:bodyPr/>
                    <a:lstStyle/>
                    <a:p>
                      <a:pPr marL="0" indent="0" algn="ctr">
                        <a:buNone/>
                      </a:pPr>
                      <a:r>
                        <a:rPr lang="en-US" sz="1100" dirty="0">
                          <a:solidFill>
                            <a:srgbClr val="0D1F3C"/>
                          </a:solidFill>
                          <a:latin typeface="Calibri" pitchFamily="34" charset="0"/>
                          <a:ea typeface="Calibri" pitchFamily="34" charset="-122"/>
                          <a:cs typeface="Calibri" pitchFamily="34" charset="-120"/>
                        </a:rPr>
                        <a:t>≥2,610 (≥18 MPa)</a:t>
                      </a:r>
                      <a:endParaRPr lang="en-US" sz="1100" dirty="0">
                        <a:latin typeface="Calibri" charset="0"/>
                        <a:ea typeface="Calibri" charset="0"/>
                        <a:cs typeface="Calibri" charset="0"/>
                      </a:endParaRPr>
                    </a:p>
                  </a:txBody>
                  <a:tcPr>
                    <a:lnL w="6350" cap="flat" cmpd="sng" algn="ctr">
                      <a:solidFill>
                        <a:srgbClr val="C8D5E0"/>
                      </a:solidFill>
                      <a:prstDash val="solid"/>
                      <a:round/>
                      <a:headEnd type="none" w="med" len="med"/>
                      <a:tailEnd type="none" w="med" len="med"/>
                    </a:lnL>
                    <a:lnR w="6350" cap="flat" cmpd="sng" algn="ctr">
                      <a:solidFill>
                        <a:srgbClr val="C8D5E0"/>
                      </a:solidFill>
                      <a:prstDash val="solid"/>
                      <a:round/>
                      <a:headEnd type="none" w="med" len="med"/>
                      <a:tailEnd type="none" w="med" len="med"/>
                    </a:lnR>
                    <a:lnT w="6350" cap="flat" cmpd="sng" algn="ctr">
                      <a:solidFill>
                        <a:srgbClr val="C8D5E0"/>
                      </a:solidFill>
                      <a:prstDash val="solid"/>
                      <a:round/>
                      <a:headEnd type="none" w="med" len="med"/>
                      <a:tailEnd type="none" w="med" len="med"/>
                    </a:lnT>
                    <a:lnB w="6350" cap="flat" cmpd="sng" algn="ctr">
                      <a:solidFill>
                        <a:srgbClr val="C8D5E0"/>
                      </a:solidFill>
                      <a:prstDash val="solid"/>
                      <a:round/>
                      <a:headEnd type="none" w="med" len="med"/>
                      <a:tailEnd type="none" w="med" len="med"/>
                    </a:lnB>
                    <a:solidFill>
                      <a:srgbClr val="EDF2F7"/>
                    </a:solidFill>
                  </a:tcPr>
                </a:tc>
                <a:tc>
                  <a:txBody>
                    <a:bodyPr/>
                    <a:lstStyle/>
                    <a:p>
                      <a:pPr marL="0" indent="0" algn="ctr">
                        <a:buNone/>
                      </a:pPr>
                      <a:r>
                        <a:rPr lang="en-US" sz="1100" dirty="0">
                          <a:solidFill>
                            <a:srgbClr val="0D1F3C"/>
                          </a:solidFill>
                          <a:latin typeface="Calibri" pitchFamily="34" charset="0"/>
                          <a:ea typeface="Calibri" pitchFamily="34" charset="-122"/>
                          <a:cs typeface="Calibri" pitchFamily="34" charset="-120"/>
                        </a:rPr>
                        <a:t>≥1,015 (≥7 MPa)</a:t>
                      </a:r>
                      <a:endParaRPr lang="en-US" sz="1100" dirty="0">
                        <a:latin typeface="Calibri" charset="0"/>
                        <a:ea typeface="Calibri" charset="0"/>
                        <a:cs typeface="Calibri" charset="0"/>
                      </a:endParaRPr>
                    </a:p>
                  </a:txBody>
                  <a:tcPr>
                    <a:lnL w="6350" cap="flat" cmpd="sng" algn="ctr">
                      <a:solidFill>
                        <a:srgbClr val="C8D5E0"/>
                      </a:solidFill>
                      <a:prstDash val="solid"/>
                      <a:round/>
                      <a:headEnd type="none" w="med" len="med"/>
                      <a:tailEnd type="none" w="med" len="med"/>
                    </a:lnL>
                    <a:lnR w="6350" cap="flat" cmpd="sng" algn="ctr">
                      <a:solidFill>
                        <a:srgbClr val="C8D5E0"/>
                      </a:solidFill>
                      <a:prstDash val="solid"/>
                      <a:round/>
                      <a:headEnd type="none" w="med" len="med"/>
                      <a:tailEnd type="none" w="med" len="med"/>
                    </a:lnR>
                    <a:lnT w="6350" cap="flat" cmpd="sng" algn="ctr">
                      <a:solidFill>
                        <a:srgbClr val="C8D5E0"/>
                      </a:solidFill>
                      <a:prstDash val="solid"/>
                      <a:round/>
                      <a:headEnd type="none" w="med" len="med"/>
                      <a:tailEnd type="none" w="med" len="med"/>
                    </a:lnT>
                    <a:lnB w="6350" cap="flat" cmpd="sng" algn="ctr">
                      <a:solidFill>
                        <a:srgbClr val="C8D5E0"/>
                      </a:solidFill>
                      <a:prstDash val="solid"/>
                      <a:round/>
                      <a:headEnd type="none" w="med" len="med"/>
                      <a:tailEnd type="none" w="med" len="med"/>
                    </a:lnB>
                    <a:solidFill>
                      <a:srgbClr val="EDF2F7"/>
                    </a:solidFill>
                  </a:tcPr>
                </a:tc>
                <a:extLst>
                  <a:ext uri="{0D108BD9-81ED-4DB2-BD59-A6C34878D82A}">
                    <a16:rowId xmlns:a16="http://schemas.microsoft.com/office/drawing/2014/main" val="10005"/>
                  </a:ext>
                </a:extLst>
              </a:tr>
              <a:tr h="420624">
                <a:tc>
                  <a:txBody>
                    <a:bodyPr/>
                    <a:lstStyle/>
                    <a:p>
                      <a:pPr marL="0" indent="0" algn="ctr">
                        <a:buNone/>
                      </a:pPr>
                      <a:r>
                        <a:rPr lang="en-US" sz="1100" dirty="0">
                          <a:solidFill>
                            <a:srgbClr val="0D1F3C"/>
                          </a:solidFill>
                          <a:latin typeface="Calibri" pitchFamily="34" charset="0"/>
                          <a:ea typeface="Calibri" pitchFamily="34" charset="-122"/>
                          <a:cs typeface="Calibri" pitchFamily="34" charset="-120"/>
                        </a:rPr>
                        <a:t>6</a:t>
                      </a:r>
                      <a:endParaRPr lang="en-US" sz="1100" dirty="0">
                        <a:latin typeface="Calibri" charset="0"/>
                        <a:ea typeface="Calibri" charset="0"/>
                        <a:cs typeface="Calibri" charset="0"/>
                      </a:endParaRPr>
                    </a:p>
                  </a:txBody>
                  <a:tcPr>
                    <a:lnL w="6350" cap="flat" cmpd="sng" algn="ctr">
                      <a:solidFill>
                        <a:srgbClr val="C8D5E0"/>
                      </a:solidFill>
                      <a:prstDash val="solid"/>
                      <a:round/>
                      <a:headEnd type="none" w="med" len="med"/>
                      <a:tailEnd type="none" w="med" len="med"/>
                    </a:lnL>
                    <a:lnR w="6350" cap="flat" cmpd="sng" algn="ctr">
                      <a:solidFill>
                        <a:srgbClr val="C8D5E0"/>
                      </a:solidFill>
                      <a:prstDash val="solid"/>
                      <a:round/>
                      <a:headEnd type="none" w="med" len="med"/>
                      <a:tailEnd type="none" w="med" len="med"/>
                    </a:lnR>
                    <a:lnT w="6350" cap="flat" cmpd="sng" algn="ctr">
                      <a:solidFill>
                        <a:srgbClr val="C8D5E0"/>
                      </a:solidFill>
                      <a:prstDash val="solid"/>
                      <a:round/>
                      <a:headEnd type="none" w="med" len="med"/>
                      <a:tailEnd type="none" w="med" len="med"/>
                    </a:lnT>
                    <a:lnB w="6350" cap="flat" cmpd="sng" algn="ctr">
                      <a:solidFill>
                        <a:srgbClr val="C8D5E0"/>
                      </a:solidFill>
                      <a:prstDash val="solid"/>
                      <a:round/>
                      <a:headEnd type="none" w="med" len="med"/>
                      <a:tailEnd type="none" w="med" len="med"/>
                    </a:lnB>
                    <a:solidFill>
                      <a:srgbClr val="FFFFFF"/>
                    </a:solidFill>
                  </a:tcPr>
                </a:tc>
                <a:tc>
                  <a:txBody>
                    <a:bodyPr/>
                    <a:lstStyle/>
                    <a:p>
                      <a:pPr marL="0" indent="0" algn="l">
                        <a:buNone/>
                      </a:pPr>
                      <a:r>
                        <a:rPr lang="en-US" sz="1100" dirty="0">
                          <a:solidFill>
                            <a:srgbClr val="0D1F3C"/>
                          </a:solidFill>
                          <a:latin typeface="Calibri" pitchFamily="34" charset="0"/>
                          <a:ea typeface="Calibri" pitchFamily="34" charset="-122"/>
                          <a:cs typeface="Calibri" pitchFamily="34" charset="-120"/>
                        </a:rPr>
                        <a:t>Threaded Anchor Pull-Out Force</a:t>
                      </a:r>
                      <a:endParaRPr lang="en-US" sz="1100" dirty="0">
                        <a:latin typeface="Calibri" charset="0"/>
                        <a:ea typeface="Calibri" charset="0"/>
                        <a:cs typeface="Calibri" charset="0"/>
                      </a:endParaRPr>
                    </a:p>
                  </a:txBody>
                  <a:tcPr>
                    <a:lnL w="6350" cap="flat" cmpd="sng" algn="ctr">
                      <a:solidFill>
                        <a:srgbClr val="C8D5E0"/>
                      </a:solidFill>
                      <a:prstDash val="solid"/>
                      <a:round/>
                      <a:headEnd type="none" w="med" len="med"/>
                      <a:tailEnd type="none" w="med" len="med"/>
                    </a:lnL>
                    <a:lnR w="6350" cap="flat" cmpd="sng" algn="ctr">
                      <a:solidFill>
                        <a:srgbClr val="C8D5E0"/>
                      </a:solidFill>
                      <a:prstDash val="solid"/>
                      <a:round/>
                      <a:headEnd type="none" w="med" len="med"/>
                      <a:tailEnd type="none" w="med" len="med"/>
                    </a:lnR>
                    <a:lnT w="6350" cap="flat" cmpd="sng" algn="ctr">
                      <a:solidFill>
                        <a:srgbClr val="C8D5E0"/>
                      </a:solidFill>
                      <a:prstDash val="solid"/>
                      <a:round/>
                      <a:headEnd type="none" w="med" len="med"/>
                      <a:tailEnd type="none" w="med" len="med"/>
                    </a:lnT>
                    <a:lnB w="6350" cap="flat" cmpd="sng" algn="ctr">
                      <a:solidFill>
                        <a:srgbClr val="C8D5E0"/>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0D1F3C"/>
                          </a:solidFill>
                          <a:latin typeface="Calibri" pitchFamily="34" charset="0"/>
                          <a:ea typeface="Calibri" pitchFamily="34" charset="-122"/>
                          <a:cs typeface="Calibri" pitchFamily="34" charset="-120"/>
                        </a:rPr>
                        <a:t>lbf</a:t>
                      </a:r>
                      <a:endParaRPr lang="en-US" sz="1100" dirty="0">
                        <a:latin typeface="Calibri" charset="0"/>
                        <a:ea typeface="Calibri" charset="0"/>
                        <a:cs typeface="Calibri" charset="0"/>
                      </a:endParaRPr>
                    </a:p>
                  </a:txBody>
                  <a:tcPr>
                    <a:lnL w="6350" cap="flat" cmpd="sng" algn="ctr">
                      <a:solidFill>
                        <a:srgbClr val="C8D5E0"/>
                      </a:solidFill>
                      <a:prstDash val="solid"/>
                      <a:round/>
                      <a:headEnd type="none" w="med" len="med"/>
                      <a:tailEnd type="none" w="med" len="med"/>
                    </a:lnL>
                    <a:lnR w="6350" cap="flat" cmpd="sng" algn="ctr">
                      <a:solidFill>
                        <a:srgbClr val="C8D5E0"/>
                      </a:solidFill>
                      <a:prstDash val="solid"/>
                      <a:round/>
                      <a:headEnd type="none" w="med" len="med"/>
                      <a:tailEnd type="none" w="med" len="med"/>
                    </a:lnR>
                    <a:lnT w="6350" cap="flat" cmpd="sng" algn="ctr">
                      <a:solidFill>
                        <a:srgbClr val="C8D5E0"/>
                      </a:solidFill>
                      <a:prstDash val="solid"/>
                      <a:round/>
                      <a:headEnd type="none" w="med" len="med"/>
                      <a:tailEnd type="none" w="med" len="med"/>
                    </a:lnT>
                    <a:lnB w="6350" cap="flat" cmpd="sng" algn="ctr">
                      <a:solidFill>
                        <a:srgbClr val="C8D5E0"/>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0D1F3C"/>
                          </a:solidFill>
                          <a:latin typeface="Calibri" pitchFamily="34" charset="0"/>
                          <a:ea typeface="Calibri" pitchFamily="34" charset="-122"/>
                          <a:cs typeface="Calibri" pitchFamily="34" charset="-120"/>
                        </a:rPr>
                        <a:t>≥13,500 (≥60 kN)</a:t>
                      </a:r>
                      <a:endParaRPr lang="en-US" sz="1100" dirty="0">
                        <a:latin typeface="Calibri" charset="0"/>
                        <a:ea typeface="Calibri" charset="0"/>
                        <a:cs typeface="Calibri" charset="0"/>
                      </a:endParaRPr>
                    </a:p>
                  </a:txBody>
                  <a:tcPr>
                    <a:lnL w="6350" cap="flat" cmpd="sng" algn="ctr">
                      <a:solidFill>
                        <a:srgbClr val="C8D5E0"/>
                      </a:solidFill>
                      <a:prstDash val="solid"/>
                      <a:round/>
                      <a:headEnd type="none" w="med" len="med"/>
                      <a:tailEnd type="none" w="med" len="med"/>
                    </a:lnL>
                    <a:lnR w="6350" cap="flat" cmpd="sng" algn="ctr">
                      <a:solidFill>
                        <a:srgbClr val="C8D5E0"/>
                      </a:solidFill>
                      <a:prstDash val="solid"/>
                      <a:round/>
                      <a:headEnd type="none" w="med" len="med"/>
                      <a:tailEnd type="none" w="med" len="med"/>
                    </a:lnR>
                    <a:lnT w="6350" cap="flat" cmpd="sng" algn="ctr">
                      <a:solidFill>
                        <a:srgbClr val="C8D5E0"/>
                      </a:solidFill>
                      <a:prstDash val="solid"/>
                      <a:round/>
                      <a:headEnd type="none" w="med" len="med"/>
                      <a:tailEnd type="none" w="med" len="med"/>
                    </a:lnT>
                    <a:lnB w="6350" cap="flat" cmpd="sng" algn="ctr">
                      <a:solidFill>
                        <a:srgbClr val="C8D5E0"/>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0D1F3C"/>
                          </a:solidFill>
                          <a:latin typeface="Calibri" pitchFamily="34" charset="0"/>
                          <a:ea typeface="Calibri" pitchFamily="34" charset="-122"/>
                          <a:cs typeface="Calibri" pitchFamily="34" charset="-120"/>
                        </a:rPr>
                        <a:t>≥8,990 (≥40 kN)</a:t>
                      </a:r>
                      <a:endParaRPr lang="en-US" sz="1100" dirty="0">
                        <a:latin typeface="Calibri" charset="0"/>
                        <a:ea typeface="Calibri" charset="0"/>
                        <a:cs typeface="Calibri" charset="0"/>
                      </a:endParaRPr>
                    </a:p>
                  </a:txBody>
                  <a:tcPr>
                    <a:lnL w="6350" cap="flat" cmpd="sng" algn="ctr">
                      <a:solidFill>
                        <a:srgbClr val="C8D5E0"/>
                      </a:solidFill>
                      <a:prstDash val="solid"/>
                      <a:round/>
                      <a:headEnd type="none" w="med" len="med"/>
                      <a:tailEnd type="none" w="med" len="med"/>
                    </a:lnL>
                    <a:lnR w="6350" cap="flat" cmpd="sng" algn="ctr">
                      <a:solidFill>
                        <a:srgbClr val="C8D5E0"/>
                      </a:solidFill>
                      <a:prstDash val="solid"/>
                      <a:round/>
                      <a:headEnd type="none" w="med" len="med"/>
                      <a:tailEnd type="none" w="med" len="med"/>
                    </a:lnR>
                    <a:lnT w="6350" cap="flat" cmpd="sng" algn="ctr">
                      <a:solidFill>
                        <a:srgbClr val="C8D5E0"/>
                      </a:solidFill>
                      <a:prstDash val="solid"/>
                      <a:round/>
                      <a:headEnd type="none" w="med" len="med"/>
                      <a:tailEnd type="none" w="med" len="med"/>
                    </a:lnT>
                    <a:lnB w="6350" cap="flat" cmpd="sng" algn="ctr">
                      <a:solidFill>
                        <a:srgbClr val="C8D5E0"/>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420624">
                <a:tc>
                  <a:txBody>
                    <a:bodyPr/>
                    <a:lstStyle/>
                    <a:p>
                      <a:pPr marL="0" indent="0" algn="ctr">
                        <a:buNone/>
                      </a:pPr>
                      <a:r>
                        <a:rPr lang="en-US" sz="1100" dirty="0">
                          <a:solidFill>
                            <a:srgbClr val="0D1F3C"/>
                          </a:solidFill>
                          <a:latin typeface="Calibri" pitchFamily="34" charset="0"/>
                          <a:ea typeface="Calibri" pitchFamily="34" charset="-122"/>
                          <a:cs typeface="Calibri" pitchFamily="34" charset="-120"/>
                        </a:rPr>
                        <a:t>7</a:t>
                      </a:r>
                      <a:endParaRPr lang="en-US" sz="1100" dirty="0">
                        <a:latin typeface="Calibri" charset="0"/>
                        <a:ea typeface="Calibri" charset="0"/>
                        <a:cs typeface="Calibri" charset="0"/>
                      </a:endParaRPr>
                    </a:p>
                  </a:txBody>
                  <a:tcPr>
                    <a:lnL w="6350" cap="flat" cmpd="sng" algn="ctr">
                      <a:solidFill>
                        <a:srgbClr val="C8D5E0"/>
                      </a:solidFill>
                      <a:prstDash val="solid"/>
                      <a:round/>
                      <a:headEnd type="none" w="med" len="med"/>
                      <a:tailEnd type="none" w="med" len="med"/>
                    </a:lnL>
                    <a:lnR w="6350" cap="flat" cmpd="sng" algn="ctr">
                      <a:solidFill>
                        <a:srgbClr val="C8D5E0"/>
                      </a:solidFill>
                      <a:prstDash val="solid"/>
                      <a:round/>
                      <a:headEnd type="none" w="med" len="med"/>
                      <a:tailEnd type="none" w="med" len="med"/>
                    </a:lnR>
                    <a:lnT w="6350" cap="flat" cmpd="sng" algn="ctr">
                      <a:solidFill>
                        <a:srgbClr val="C8D5E0"/>
                      </a:solidFill>
                      <a:prstDash val="solid"/>
                      <a:round/>
                      <a:headEnd type="none" w="med" len="med"/>
                      <a:tailEnd type="none" w="med" len="med"/>
                    </a:lnT>
                    <a:lnB w="6350" cap="flat" cmpd="sng" algn="ctr">
                      <a:solidFill>
                        <a:srgbClr val="C8D5E0"/>
                      </a:solidFill>
                      <a:prstDash val="solid"/>
                      <a:round/>
                      <a:headEnd type="none" w="med" len="med"/>
                      <a:tailEnd type="none" w="med" len="med"/>
                    </a:lnB>
                    <a:solidFill>
                      <a:srgbClr val="EDF2F7"/>
                    </a:solidFill>
                  </a:tcPr>
                </a:tc>
                <a:tc>
                  <a:txBody>
                    <a:bodyPr/>
                    <a:lstStyle/>
                    <a:p>
                      <a:pPr marL="0" indent="0" algn="l">
                        <a:buNone/>
                      </a:pPr>
                      <a:r>
                        <a:rPr lang="en-US" sz="1100" dirty="0">
                          <a:solidFill>
                            <a:srgbClr val="0D1F3C"/>
                          </a:solidFill>
                          <a:latin typeface="Calibri" pitchFamily="34" charset="0"/>
                          <a:ea typeface="Calibri" pitchFamily="34" charset="-122"/>
                          <a:cs typeface="Calibri" pitchFamily="34" charset="-120"/>
                        </a:rPr>
                        <a:t>Finished Product Bending Load</a:t>
                      </a:r>
                      <a:endParaRPr lang="en-US" sz="1100" dirty="0">
                        <a:latin typeface="Calibri" charset="0"/>
                        <a:ea typeface="Calibri" charset="0"/>
                        <a:cs typeface="Calibri" charset="0"/>
                      </a:endParaRPr>
                    </a:p>
                  </a:txBody>
                  <a:tcPr>
                    <a:lnL w="6350" cap="flat" cmpd="sng" algn="ctr">
                      <a:solidFill>
                        <a:srgbClr val="C8D5E0"/>
                      </a:solidFill>
                      <a:prstDash val="solid"/>
                      <a:round/>
                      <a:headEnd type="none" w="med" len="med"/>
                      <a:tailEnd type="none" w="med" len="med"/>
                    </a:lnL>
                    <a:lnR w="6350" cap="flat" cmpd="sng" algn="ctr">
                      <a:solidFill>
                        <a:srgbClr val="C8D5E0"/>
                      </a:solidFill>
                      <a:prstDash val="solid"/>
                      <a:round/>
                      <a:headEnd type="none" w="med" len="med"/>
                      <a:tailEnd type="none" w="med" len="med"/>
                    </a:lnR>
                    <a:lnT w="6350" cap="flat" cmpd="sng" algn="ctr">
                      <a:solidFill>
                        <a:srgbClr val="C8D5E0"/>
                      </a:solidFill>
                      <a:prstDash val="solid"/>
                      <a:round/>
                      <a:headEnd type="none" w="med" len="med"/>
                      <a:tailEnd type="none" w="med" len="med"/>
                    </a:lnT>
                    <a:lnB w="6350" cap="flat" cmpd="sng" algn="ctr">
                      <a:solidFill>
                        <a:srgbClr val="C8D5E0"/>
                      </a:solidFill>
                      <a:prstDash val="solid"/>
                      <a:round/>
                      <a:headEnd type="none" w="med" len="med"/>
                      <a:tailEnd type="none" w="med" len="med"/>
                    </a:lnB>
                    <a:solidFill>
                      <a:srgbClr val="EDF2F7"/>
                    </a:solidFill>
                  </a:tcPr>
                </a:tc>
                <a:tc>
                  <a:txBody>
                    <a:bodyPr/>
                    <a:lstStyle/>
                    <a:p>
                      <a:pPr marL="0" indent="0" algn="ctr">
                        <a:buNone/>
                      </a:pPr>
                      <a:r>
                        <a:rPr lang="en-US" sz="1100" dirty="0">
                          <a:solidFill>
                            <a:srgbClr val="0D1F3C"/>
                          </a:solidFill>
                          <a:latin typeface="Calibri" pitchFamily="34" charset="0"/>
                          <a:ea typeface="Calibri" pitchFamily="34" charset="-122"/>
                          <a:cs typeface="Calibri" pitchFamily="34" charset="-120"/>
                        </a:rPr>
                        <a:t>lbf</a:t>
                      </a:r>
                      <a:endParaRPr lang="en-US" sz="1100" dirty="0">
                        <a:latin typeface="Calibri" charset="0"/>
                        <a:ea typeface="Calibri" charset="0"/>
                        <a:cs typeface="Calibri" charset="0"/>
                      </a:endParaRPr>
                    </a:p>
                  </a:txBody>
                  <a:tcPr>
                    <a:lnL w="6350" cap="flat" cmpd="sng" algn="ctr">
                      <a:solidFill>
                        <a:srgbClr val="C8D5E0"/>
                      </a:solidFill>
                      <a:prstDash val="solid"/>
                      <a:round/>
                      <a:headEnd type="none" w="med" len="med"/>
                      <a:tailEnd type="none" w="med" len="med"/>
                    </a:lnL>
                    <a:lnR w="6350" cap="flat" cmpd="sng" algn="ctr">
                      <a:solidFill>
                        <a:srgbClr val="C8D5E0"/>
                      </a:solidFill>
                      <a:prstDash val="solid"/>
                      <a:round/>
                      <a:headEnd type="none" w="med" len="med"/>
                      <a:tailEnd type="none" w="med" len="med"/>
                    </a:lnR>
                    <a:lnT w="6350" cap="flat" cmpd="sng" algn="ctr">
                      <a:solidFill>
                        <a:srgbClr val="C8D5E0"/>
                      </a:solidFill>
                      <a:prstDash val="solid"/>
                      <a:round/>
                      <a:headEnd type="none" w="med" len="med"/>
                      <a:tailEnd type="none" w="med" len="med"/>
                    </a:lnT>
                    <a:lnB w="6350" cap="flat" cmpd="sng" algn="ctr">
                      <a:solidFill>
                        <a:srgbClr val="C8D5E0"/>
                      </a:solidFill>
                      <a:prstDash val="solid"/>
                      <a:round/>
                      <a:headEnd type="none" w="med" len="med"/>
                      <a:tailEnd type="none" w="med" len="med"/>
                    </a:lnB>
                    <a:solidFill>
                      <a:srgbClr val="EDF2F7"/>
                    </a:solidFill>
                  </a:tcPr>
                </a:tc>
                <a:tc>
                  <a:txBody>
                    <a:bodyPr/>
                    <a:lstStyle/>
                    <a:p>
                      <a:pPr marL="0" indent="0" algn="ctr">
                        <a:buNone/>
                      </a:pPr>
                      <a:r>
                        <a:rPr lang="en-US" sz="1100" dirty="0">
                          <a:solidFill>
                            <a:srgbClr val="0D1F3C"/>
                          </a:solidFill>
                          <a:latin typeface="Calibri" pitchFamily="34" charset="0"/>
                          <a:ea typeface="Calibri" pitchFamily="34" charset="-122"/>
                          <a:cs typeface="Calibri" pitchFamily="34" charset="-120"/>
                        </a:rPr>
                        <a:t>≥224,800 (≥1,000 kN)</a:t>
                      </a:r>
                      <a:endParaRPr lang="en-US" sz="1100" dirty="0">
                        <a:latin typeface="Calibri" charset="0"/>
                        <a:ea typeface="Calibri" charset="0"/>
                        <a:cs typeface="Calibri" charset="0"/>
                      </a:endParaRPr>
                    </a:p>
                  </a:txBody>
                  <a:tcPr>
                    <a:lnL w="6350" cap="flat" cmpd="sng" algn="ctr">
                      <a:solidFill>
                        <a:srgbClr val="C8D5E0"/>
                      </a:solidFill>
                      <a:prstDash val="solid"/>
                      <a:round/>
                      <a:headEnd type="none" w="med" len="med"/>
                      <a:tailEnd type="none" w="med" len="med"/>
                    </a:lnL>
                    <a:lnR w="6350" cap="flat" cmpd="sng" algn="ctr">
                      <a:solidFill>
                        <a:srgbClr val="C8D5E0"/>
                      </a:solidFill>
                      <a:prstDash val="solid"/>
                      <a:round/>
                      <a:headEnd type="none" w="med" len="med"/>
                      <a:tailEnd type="none" w="med" len="med"/>
                    </a:lnR>
                    <a:lnT w="6350" cap="flat" cmpd="sng" algn="ctr">
                      <a:solidFill>
                        <a:srgbClr val="C8D5E0"/>
                      </a:solidFill>
                      <a:prstDash val="solid"/>
                      <a:round/>
                      <a:headEnd type="none" w="med" len="med"/>
                      <a:tailEnd type="none" w="med" len="med"/>
                    </a:lnT>
                    <a:lnB w="6350" cap="flat" cmpd="sng" algn="ctr">
                      <a:solidFill>
                        <a:srgbClr val="C8D5E0"/>
                      </a:solidFill>
                      <a:prstDash val="solid"/>
                      <a:round/>
                      <a:headEnd type="none" w="med" len="med"/>
                      <a:tailEnd type="none" w="med" len="med"/>
                    </a:lnB>
                    <a:solidFill>
                      <a:srgbClr val="EDF2F7"/>
                    </a:solidFill>
                  </a:tcPr>
                </a:tc>
                <a:tc>
                  <a:txBody>
                    <a:bodyPr/>
                    <a:lstStyle/>
                    <a:p>
                      <a:pPr marL="0" indent="0" algn="ctr">
                        <a:buNone/>
                      </a:pPr>
                      <a:r>
                        <a:rPr lang="en-US" sz="1100" dirty="0">
                          <a:solidFill>
                            <a:srgbClr val="0D1F3C"/>
                          </a:solidFill>
                          <a:latin typeface="Calibri" pitchFamily="34" charset="0"/>
                          <a:ea typeface="Calibri" pitchFamily="34" charset="-122"/>
                          <a:cs typeface="Calibri" pitchFamily="34" charset="-120"/>
                        </a:rPr>
                        <a:t>≥38,220 (≥170 kN)</a:t>
                      </a:r>
                      <a:endParaRPr lang="en-US" sz="1100" dirty="0">
                        <a:latin typeface="Calibri" charset="0"/>
                        <a:ea typeface="Calibri" charset="0"/>
                        <a:cs typeface="Calibri" charset="0"/>
                      </a:endParaRPr>
                    </a:p>
                  </a:txBody>
                  <a:tcPr>
                    <a:lnL w="6350" cap="flat" cmpd="sng" algn="ctr">
                      <a:solidFill>
                        <a:srgbClr val="C8D5E0"/>
                      </a:solidFill>
                      <a:prstDash val="solid"/>
                      <a:round/>
                      <a:headEnd type="none" w="med" len="med"/>
                      <a:tailEnd type="none" w="med" len="med"/>
                    </a:lnL>
                    <a:lnR w="6350" cap="flat" cmpd="sng" algn="ctr">
                      <a:solidFill>
                        <a:srgbClr val="C8D5E0"/>
                      </a:solidFill>
                      <a:prstDash val="solid"/>
                      <a:round/>
                      <a:headEnd type="none" w="med" len="med"/>
                      <a:tailEnd type="none" w="med" len="med"/>
                    </a:lnR>
                    <a:lnT w="6350" cap="flat" cmpd="sng" algn="ctr">
                      <a:solidFill>
                        <a:srgbClr val="C8D5E0"/>
                      </a:solidFill>
                      <a:prstDash val="solid"/>
                      <a:round/>
                      <a:headEnd type="none" w="med" len="med"/>
                      <a:tailEnd type="none" w="med" len="med"/>
                    </a:lnT>
                    <a:lnB w="6350" cap="flat" cmpd="sng" algn="ctr">
                      <a:solidFill>
                        <a:srgbClr val="C8D5E0"/>
                      </a:solidFill>
                      <a:prstDash val="solid"/>
                      <a:round/>
                      <a:headEnd type="none" w="med" len="med"/>
                      <a:tailEnd type="none" w="med" len="med"/>
                    </a:lnB>
                    <a:solidFill>
                      <a:srgbClr val="EDF2F7"/>
                    </a:solidFill>
                  </a:tcPr>
                </a:tc>
                <a:extLst>
                  <a:ext uri="{0D108BD9-81ED-4DB2-BD59-A6C34878D82A}">
                    <a16:rowId xmlns:a16="http://schemas.microsoft.com/office/drawing/2014/main" val="10007"/>
                  </a:ext>
                </a:extLst>
              </a:tr>
              <a:tr h="420624">
                <a:tc>
                  <a:txBody>
                    <a:bodyPr/>
                    <a:lstStyle/>
                    <a:p>
                      <a:pPr marL="0" indent="0" algn="ctr">
                        <a:buNone/>
                      </a:pPr>
                      <a:r>
                        <a:rPr lang="en-US" sz="1100" dirty="0">
                          <a:solidFill>
                            <a:srgbClr val="0D1F3C"/>
                          </a:solidFill>
                          <a:latin typeface="Calibri" pitchFamily="34" charset="0"/>
                          <a:ea typeface="Calibri" pitchFamily="34" charset="-122"/>
                          <a:cs typeface="Calibri" pitchFamily="34" charset="-120"/>
                        </a:rPr>
                        <a:t>8</a:t>
                      </a:r>
                      <a:endParaRPr lang="en-US" sz="1100" dirty="0">
                        <a:latin typeface="Calibri" charset="0"/>
                        <a:ea typeface="Calibri" charset="0"/>
                        <a:cs typeface="Calibri" charset="0"/>
                      </a:endParaRPr>
                    </a:p>
                  </a:txBody>
                  <a:tcPr>
                    <a:lnL w="6350" cap="flat" cmpd="sng" algn="ctr">
                      <a:solidFill>
                        <a:srgbClr val="C8D5E0"/>
                      </a:solidFill>
                      <a:prstDash val="solid"/>
                      <a:round/>
                      <a:headEnd type="none" w="med" len="med"/>
                      <a:tailEnd type="none" w="med" len="med"/>
                    </a:lnL>
                    <a:lnR w="6350" cap="flat" cmpd="sng" algn="ctr">
                      <a:solidFill>
                        <a:srgbClr val="C8D5E0"/>
                      </a:solidFill>
                      <a:prstDash val="solid"/>
                      <a:round/>
                      <a:headEnd type="none" w="med" len="med"/>
                      <a:tailEnd type="none" w="med" len="med"/>
                    </a:lnR>
                    <a:lnT w="6350" cap="flat" cmpd="sng" algn="ctr">
                      <a:solidFill>
                        <a:srgbClr val="C8D5E0"/>
                      </a:solidFill>
                      <a:prstDash val="solid"/>
                      <a:round/>
                      <a:headEnd type="none" w="med" len="med"/>
                      <a:tailEnd type="none" w="med" len="med"/>
                    </a:lnT>
                    <a:lnB w="6350" cap="flat" cmpd="sng" algn="ctr">
                      <a:solidFill>
                        <a:srgbClr val="C8D5E0"/>
                      </a:solidFill>
                      <a:prstDash val="solid"/>
                      <a:round/>
                      <a:headEnd type="none" w="med" len="med"/>
                      <a:tailEnd type="none" w="med" len="med"/>
                    </a:lnB>
                    <a:solidFill>
                      <a:srgbClr val="FFFFFF"/>
                    </a:solidFill>
                  </a:tcPr>
                </a:tc>
                <a:tc>
                  <a:txBody>
                    <a:bodyPr/>
                    <a:lstStyle/>
                    <a:p>
                      <a:pPr marL="0" indent="0" algn="l">
                        <a:buNone/>
                      </a:pPr>
                      <a:r>
                        <a:rPr lang="en-US" sz="1100" dirty="0">
                          <a:solidFill>
                            <a:srgbClr val="0D1F3C"/>
                          </a:solidFill>
                          <a:latin typeface="Calibri" pitchFamily="34" charset="0"/>
                          <a:ea typeface="Calibri" pitchFamily="34" charset="-122"/>
                          <a:cs typeface="Calibri" pitchFamily="34" charset="-120"/>
                        </a:rPr>
                        <a:t>Fatigue Cycles (Bending)</a:t>
                      </a:r>
                      <a:endParaRPr lang="en-US" sz="1100" dirty="0">
                        <a:latin typeface="Calibri" charset="0"/>
                        <a:ea typeface="Calibri" charset="0"/>
                        <a:cs typeface="Calibri" charset="0"/>
                      </a:endParaRPr>
                    </a:p>
                  </a:txBody>
                  <a:tcPr>
                    <a:lnL w="6350" cap="flat" cmpd="sng" algn="ctr">
                      <a:solidFill>
                        <a:srgbClr val="C8D5E0"/>
                      </a:solidFill>
                      <a:prstDash val="solid"/>
                      <a:round/>
                      <a:headEnd type="none" w="med" len="med"/>
                      <a:tailEnd type="none" w="med" len="med"/>
                    </a:lnL>
                    <a:lnR w="6350" cap="flat" cmpd="sng" algn="ctr">
                      <a:solidFill>
                        <a:srgbClr val="C8D5E0"/>
                      </a:solidFill>
                      <a:prstDash val="solid"/>
                      <a:round/>
                      <a:headEnd type="none" w="med" len="med"/>
                      <a:tailEnd type="none" w="med" len="med"/>
                    </a:lnR>
                    <a:lnT w="6350" cap="flat" cmpd="sng" algn="ctr">
                      <a:solidFill>
                        <a:srgbClr val="C8D5E0"/>
                      </a:solidFill>
                      <a:prstDash val="solid"/>
                      <a:round/>
                      <a:headEnd type="none" w="med" len="med"/>
                      <a:tailEnd type="none" w="med" len="med"/>
                    </a:lnT>
                    <a:lnB w="6350" cap="flat" cmpd="sng" algn="ctr">
                      <a:solidFill>
                        <a:srgbClr val="C8D5E0"/>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0D1F3C"/>
                          </a:solidFill>
                          <a:latin typeface="Calibri" pitchFamily="34" charset="0"/>
                          <a:ea typeface="Calibri" pitchFamily="34" charset="-122"/>
                          <a:cs typeface="Calibri" pitchFamily="34" charset="-120"/>
                        </a:rPr>
                        <a:t>cycles</a:t>
                      </a:r>
                      <a:endParaRPr lang="en-US" sz="1100" dirty="0">
                        <a:latin typeface="Calibri" charset="0"/>
                        <a:ea typeface="Calibri" charset="0"/>
                        <a:cs typeface="Calibri" charset="0"/>
                      </a:endParaRPr>
                    </a:p>
                  </a:txBody>
                  <a:tcPr>
                    <a:lnL w="6350" cap="flat" cmpd="sng" algn="ctr">
                      <a:solidFill>
                        <a:srgbClr val="C8D5E0"/>
                      </a:solidFill>
                      <a:prstDash val="solid"/>
                      <a:round/>
                      <a:headEnd type="none" w="med" len="med"/>
                      <a:tailEnd type="none" w="med" len="med"/>
                    </a:lnL>
                    <a:lnR w="6350" cap="flat" cmpd="sng" algn="ctr">
                      <a:solidFill>
                        <a:srgbClr val="C8D5E0"/>
                      </a:solidFill>
                      <a:prstDash val="solid"/>
                      <a:round/>
                      <a:headEnd type="none" w="med" len="med"/>
                      <a:tailEnd type="none" w="med" len="med"/>
                    </a:lnR>
                    <a:lnT w="6350" cap="flat" cmpd="sng" algn="ctr">
                      <a:solidFill>
                        <a:srgbClr val="C8D5E0"/>
                      </a:solidFill>
                      <a:prstDash val="solid"/>
                      <a:round/>
                      <a:headEnd type="none" w="med" len="med"/>
                      <a:tailEnd type="none" w="med" len="med"/>
                    </a:lnT>
                    <a:lnB w="6350" cap="flat" cmpd="sng" algn="ctr">
                      <a:solidFill>
                        <a:srgbClr val="C8D5E0"/>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0D1F3C"/>
                          </a:solidFill>
                          <a:latin typeface="Calibri" pitchFamily="34" charset="0"/>
                          <a:ea typeface="Calibri" pitchFamily="34" charset="-122"/>
                          <a:cs typeface="Calibri" pitchFamily="34" charset="-120"/>
                        </a:rPr>
                        <a:t>≥2,000,000</a:t>
                      </a:r>
                      <a:endParaRPr lang="en-US" sz="1100" dirty="0">
                        <a:latin typeface="Calibri" charset="0"/>
                        <a:ea typeface="Calibri" charset="0"/>
                        <a:cs typeface="Calibri" charset="0"/>
                      </a:endParaRPr>
                    </a:p>
                  </a:txBody>
                  <a:tcPr>
                    <a:lnL w="6350" cap="flat" cmpd="sng" algn="ctr">
                      <a:solidFill>
                        <a:srgbClr val="C8D5E0"/>
                      </a:solidFill>
                      <a:prstDash val="solid"/>
                      <a:round/>
                      <a:headEnd type="none" w="med" len="med"/>
                      <a:tailEnd type="none" w="med" len="med"/>
                    </a:lnL>
                    <a:lnR w="6350" cap="flat" cmpd="sng" algn="ctr">
                      <a:solidFill>
                        <a:srgbClr val="C8D5E0"/>
                      </a:solidFill>
                      <a:prstDash val="solid"/>
                      <a:round/>
                      <a:headEnd type="none" w="med" len="med"/>
                      <a:tailEnd type="none" w="med" len="med"/>
                    </a:lnR>
                    <a:lnT w="6350" cap="flat" cmpd="sng" algn="ctr">
                      <a:solidFill>
                        <a:srgbClr val="C8D5E0"/>
                      </a:solidFill>
                      <a:prstDash val="solid"/>
                      <a:round/>
                      <a:headEnd type="none" w="med" len="med"/>
                      <a:tailEnd type="none" w="med" len="med"/>
                    </a:lnT>
                    <a:lnB w="6350" cap="flat" cmpd="sng" algn="ctr">
                      <a:solidFill>
                        <a:srgbClr val="C8D5E0"/>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0D1F3C"/>
                          </a:solidFill>
                          <a:latin typeface="Calibri" pitchFamily="34" charset="0"/>
                          <a:ea typeface="Calibri" pitchFamily="34" charset="-122"/>
                          <a:cs typeface="Calibri" pitchFamily="34" charset="-120"/>
                        </a:rPr>
                        <a:t>≥100,000</a:t>
                      </a:r>
                      <a:endParaRPr lang="en-US" sz="1100" dirty="0">
                        <a:latin typeface="Calibri" charset="0"/>
                        <a:ea typeface="Calibri" charset="0"/>
                        <a:cs typeface="Calibri" charset="0"/>
                      </a:endParaRPr>
                    </a:p>
                  </a:txBody>
                  <a:tcPr>
                    <a:lnL w="6350" cap="flat" cmpd="sng" algn="ctr">
                      <a:solidFill>
                        <a:srgbClr val="C8D5E0"/>
                      </a:solidFill>
                      <a:prstDash val="solid"/>
                      <a:round/>
                      <a:headEnd type="none" w="med" len="med"/>
                      <a:tailEnd type="none" w="med" len="med"/>
                    </a:lnL>
                    <a:lnR w="6350" cap="flat" cmpd="sng" algn="ctr">
                      <a:solidFill>
                        <a:srgbClr val="C8D5E0"/>
                      </a:solidFill>
                      <a:prstDash val="solid"/>
                      <a:round/>
                      <a:headEnd type="none" w="med" len="med"/>
                      <a:tailEnd type="none" w="med" len="med"/>
                    </a:lnR>
                    <a:lnT w="6350" cap="flat" cmpd="sng" algn="ctr">
                      <a:solidFill>
                        <a:srgbClr val="C8D5E0"/>
                      </a:solidFill>
                      <a:prstDash val="solid"/>
                      <a:round/>
                      <a:headEnd type="none" w="med" len="med"/>
                      <a:tailEnd type="none" w="med" len="med"/>
                    </a:lnT>
                    <a:lnB w="6350" cap="flat" cmpd="sng" algn="ctr">
                      <a:solidFill>
                        <a:srgbClr val="C8D5E0"/>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r h="420624">
                <a:tc>
                  <a:txBody>
                    <a:bodyPr/>
                    <a:lstStyle/>
                    <a:p>
                      <a:pPr marL="0" indent="0" algn="ctr">
                        <a:buNone/>
                      </a:pPr>
                      <a:r>
                        <a:rPr lang="en-US" sz="1100" dirty="0">
                          <a:solidFill>
                            <a:srgbClr val="0D1F3C"/>
                          </a:solidFill>
                          <a:latin typeface="Calibri" pitchFamily="34" charset="0"/>
                          <a:ea typeface="Calibri" pitchFamily="34" charset="-122"/>
                          <a:cs typeface="Calibri" pitchFamily="34" charset="-120"/>
                        </a:rPr>
                        <a:t>9</a:t>
                      </a:r>
                      <a:endParaRPr lang="en-US" sz="1100" dirty="0">
                        <a:latin typeface="Calibri" charset="0"/>
                        <a:ea typeface="Calibri" charset="0"/>
                        <a:cs typeface="Calibri" charset="0"/>
                      </a:endParaRPr>
                    </a:p>
                  </a:txBody>
                  <a:tcPr>
                    <a:lnL w="6350" cap="flat" cmpd="sng" algn="ctr">
                      <a:solidFill>
                        <a:srgbClr val="C8D5E0"/>
                      </a:solidFill>
                      <a:prstDash val="solid"/>
                      <a:round/>
                      <a:headEnd type="none" w="med" len="med"/>
                      <a:tailEnd type="none" w="med" len="med"/>
                    </a:lnL>
                    <a:lnR w="6350" cap="flat" cmpd="sng" algn="ctr">
                      <a:solidFill>
                        <a:srgbClr val="C8D5E0"/>
                      </a:solidFill>
                      <a:prstDash val="solid"/>
                      <a:round/>
                      <a:headEnd type="none" w="med" len="med"/>
                      <a:tailEnd type="none" w="med" len="med"/>
                    </a:lnR>
                    <a:lnT w="6350" cap="flat" cmpd="sng" algn="ctr">
                      <a:solidFill>
                        <a:srgbClr val="C8D5E0"/>
                      </a:solidFill>
                      <a:prstDash val="solid"/>
                      <a:round/>
                      <a:headEnd type="none" w="med" len="med"/>
                      <a:tailEnd type="none" w="med" len="med"/>
                    </a:lnT>
                    <a:lnB w="6350" cap="flat" cmpd="sng" algn="ctr">
                      <a:solidFill>
                        <a:srgbClr val="C8D5E0"/>
                      </a:solidFill>
                      <a:prstDash val="solid"/>
                      <a:round/>
                      <a:headEnd type="none" w="med" len="med"/>
                      <a:tailEnd type="none" w="med" len="med"/>
                    </a:lnB>
                    <a:solidFill>
                      <a:srgbClr val="EDF2F7"/>
                    </a:solidFill>
                  </a:tcPr>
                </a:tc>
                <a:tc>
                  <a:txBody>
                    <a:bodyPr/>
                    <a:lstStyle/>
                    <a:p>
                      <a:pPr marL="0" indent="0" algn="l">
                        <a:buNone/>
                      </a:pPr>
                      <a:r>
                        <a:rPr lang="en-US" sz="1100" dirty="0">
                          <a:solidFill>
                            <a:srgbClr val="0D1F3C"/>
                          </a:solidFill>
                          <a:latin typeface="Calibri" pitchFamily="34" charset="0"/>
                          <a:ea typeface="Calibri" pitchFamily="34" charset="-122"/>
                          <a:cs typeface="Calibri" pitchFamily="34" charset="-120"/>
                        </a:rPr>
                        <a:t>Strength Retention (1,000hr salt spray)</a:t>
                      </a:r>
                      <a:endParaRPr lang="en-US" sz="1100" dirty="0">
                        <a:latin typeface="Calibri" charset="0"/>
                        <a:ea typeface="Calibri" charset="0"/>
                        <a:cs typeface="Calibri" charset="0"/>
                      </a:endParaRPr>
                    </a:p>
                  </a:txBody>
                  <a:tcPr>
                    <a:lnL w="6350" cap="flat" cmpd="sng" algn="ctr">
                      <a:solidFill>
                        <a:srgbClr val="C8D5E0"/>
                      </a:solidFill>
                      <a:prstDash val="solid"/>
                      <a:round/>
                      <a:headEnd type="none" w="med" len="med"/>
                      <a:tailEnd type="none" w="med" len="med"/>
                    </a:lnL>
                    <a:lnR w="6350" cap="flat" cmpd="sng" algn="ctr">
                      <a:solidFill>
                        <a:srgbClr val="C8D5E0"/>
                      </a:solidFill>
                      <a:prstDash val="solid"/>
                      <a:round/>
                      <a:headEnd type="none" w="med" len="med"/>
                      <a:tailEnd type="none" w="med" len="med"/>
                    </a:lnR>
                    <a:lnT w="6350" cap="flat" cmpd="sng" algn="ctr">
                      <a:solidFill>
                        <a:srgbClr val="C8D5E0"/>
                      </a:solidFill>
                      <a:prstDash val="solid"/>
                      <a:round/>
                      <a:headEnd type="none" w="med" len="med"/>
                      <a:tailEnd type="none" w="med" len="med"/>
                    </a:lnT>
                    <a:lnB w="6350" cap="flat" cmpd="sng" algn="ctr">
                      <a:solidFill>
                        <a:srgbClr val="C8D5E0"/>
                      </a:solidFill>
                      <a:prstDash val="solid"/>
                      <a:round/>
                      <a:headEnd type="none" w="med" len="med"/>
                      <a:tailEnd type="none" w="med" len="med"/>
                    </a:lnB>
                    <a:solidFill>
                      <a:srgbClr val="EDF2F7"/>
                    </a:solidFill>
                  </a:tcPr>
                </a:tc>
                <a:tc>
                  <a:txBody>
                    <a:bodyPr/>
                    <a:lstStyle/>
                    <a:p>
                      <a:pPr marL="0" indent="0" algn="ctr">
                        <a:buNone/>
                      </a:pPr>
                      <a:r>
                        <a:rPr lang="en-US" sz="1100" dirty="0">
                          <a:solidFill>
                            <a:srgbClr val="0D1F3C"/>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a:lnL w="6350" cap="flat" cmpd="sng" algn="ctr">
                      <a:solidFill>
                        <a:srgbClr val="C8D5E0"/>
                      </a:solidFill>
                      <a:prstDash val="solid"/>
                      <a:round/>
                      <a:headEnd type="none" w="med" len="med"/>
                      <a:tailEnd type="none" w="med" len="med"/>
                    </a:lnL>
                    <a:lnR w="6350" cap="flat" cmpd="sng" algn="ctr">
                      <a:solidFill>
                        <a:srgbClr val="C8D5E0"/>
                      </a:solidFill>
                      <a:prstDash val="solid"/>
                      <a:round/>
                      <a:headEnd type="none" w="med" len="med"/>
                      <a:tailEnd type="none" w="med" len="med"/>
                    </a:lnR>
                    <a:lnT w="6350" cap="flat" cmpd="sng" algn="ctr">
                      <a:solidFill>
                        <a:srgbClr val="C8D5E0"/>
                      </a:solidFill>
                      <a:prstDash val="solid"/>
                      <a:round/>
                      <a:headEnd type="none" w="med" len="med"/>
                      <a:tailEnd type="none" w="med" len="med"/>
                    </a:lnT>
                    <a:lnB w="6350" cap="flat" cmpd="sng" algn="ctr">
                      <a:solidFill>
                        <a:srgbClr val="C8D5E0"/>
                      </a:solidFill>
                      <a:prstDash val="solid"/>
                      <a:round/>
                      <a:headEnd type="none" w="med" len="med"/>
                      <a:tailEnd type="none" w="med" len="med"/>
                    </a:lnB>
                    <a:solidFill>
                      <a:srgbClr val="EDF2F7"/>
                    </a:solidFill>
                  </a:tcPr>
                </a:tc>
                <a:tc>
                  <a:txBody>
                    <a:bodyPr/>
                    <a:lstStyle/>
                    <a:p>
                      <a:pPr marL="0" indent="0" algn="ctr">
                        <a:buNone/>
                      </a:pPr>
                      <a:r>
                        <a:rPr lang="en-US" sz="1100" dirty="0">
                          <a:solidFill>
                            <a:srgbClr val="0D1F3C"/>
                          </a:solidFill>
                          <a:latin typeface="Calibri" pitchFamily="34" charset="0"/>
                          <a:ea typeface="Calibri" pitchFamily="34" charset="-122"/>
                          <a:cs typeface="Calibri" pitchFamily="34" charset="-120"/>
                        </a:rPr>
                        <a:t>≥95%</a:t>
                      </a:r>
                      <a:endParaRPr lang="en-US" sz="1100" dirty="0">
                        <a:latin typeface="Calibri" charset="0"/>
                        <a:ea typeface="Calibri" charset="0"/>
                        <a:cs typeface="Calibri" charset="0"/>
                      </a:endParaRPr>
                    </a:p>
                  </a:txBody>
                  <a:tcPr>
                    <a:lnL w="6350" cap="flat" cmpd="sng" algn="ctr">
                      <a:solidFill>
                        <a:srgbClr val="C8D5E0"/>
                      </a:solidFill>
                      <a:prstDash val="solid"/>
                      <a:round/>
                      <a:headEnd type="none" w="med" len="med"/>
                      <a:tailEnd type="none" w="med" len="med"/>
                    </a:lnL>
                    <a:lnR w="6350" cap="flat" cmpd="sng" algn="ctr">
                      <a:solidFill>
                        <a:srgbClr val="C8D5E0"/>
                      </a:solidFill>
                      <a:prstDash val="solid"/>
                      <a:round/>
                      <a:headEnd type="none" w="med" len="med"/>
                      <a:tailEnd type="none" w="med" len="med"/>
                    </a:lnR>
                    <a:lnT w="6350" cap="flat" cmpd="sng" algn="ctr">
                      <a:solidFill>
                        <a:srgbClr val="C8D5E0"/>
                      </a:solidFill>
                      <a:prstDash val="solid"/>
                      <a:round/>
                      <a:headEnd type="none" w="med" len="med"/>
                      <a:tailEnd type="none" w="med" len="med"/>
                    </a:lnT>
                    <a:lnB w="6350" cap="flat" cmpd="sng" algn="ctr">
                      <a:solidFill>
                        <a:srgbClr val="C8D5E0"/>
                      </a:solidFill>
                      <a:prstDash val="solid"/>
                      <a:round/>
                      <a:headEnd type="none" w="med" len="med"/>
                      <a:tailEnd type="none" w="med" len="med"/>
                    </a:lnB>
                    <a:solidFill>
                      <a:srgbClr val="EDF2F7"/>
                    </a:solidFill>
                  </a:tcPr>
                </a:tc>
                <a:tc>
                  <a:txBody>
                    <a:bodyPr/>
                    <a:lstStyle/>
                    <a:p>
                      <a:pPr marL="0" indent="0" algn="ctr">
                        <a:buNone/>
                      </a:pPr>
                      <a:r>
                        <a:rPr lang="en-US" sz="1100" dirty="0">
                          <a:solidFill>
                            <a:srgbClr val="0D1F3C"/>
                          </a:solidFill>
                          <a:latin typeface="Calibri" pitchFamily="34" charset="0"/>
                          <a:ea typeface="Calibri" pitchFamily="34" charset="-122"/>
                          <a:cs typeface="Calibri" pitchFamily="34" charset="-120"/>
                        </a:rPr>
                        <a:t>≥95%</a:t>
                      </a:r>
                      <a:endParaRPr lang="en-US" sz="1100" dirty="0">
                        <a:latin typeface="Calibri" charset="0"/>
                        <a:ea typeface="Calibri" charset="0"/>
                        <a:cs typeface="Calibri" charset="0"/>
                      </a:endParaRPr>
                    </a:p>
                  </a:txBody>
                  <a:tcPr>
                    <a:lnL w="6350" cap="flat" cmpd="sng" algn="ctr">
                      <a:solidFill>
                        <a:srgbClr val="C8D5E0"/>
                      </a:solidFill>
                      <a:prstDash val="solid"/>
                      <a:round/>
                      <a:headEnd type="none" w="med" len="med"/>
                      <a:tailEnd type="none" w="med" len="med"/>
                    </a:lnL>
                    <a:lnR w="6350" cap="flat" cmpd="sng" algn="ctr">
                      <a:solidFill>
                        <a:srgbClr val="C8D5E0"/>
                      </a:solidFill>
                      <a:prstDash val="solid"/>
                      <a:round/>
                      <a:headEnd type="none" w="med" len="med"/>
                      <a:tailEnd type="none" w="med" len="med"/>
                    </a:lnR>
                    <a:lnT w="6350" cap="flat" cmpd="sng" algn="ctr">
                      <a:solidFill>
                        <a:srgbClr val="C8D5E0"/>
                      </a:solidFill>
                      <a:prstDash val="solid"/>
                      <a:round/>
                      <a:headEnd type="none" w="med" len="med"/>
                      <a:tailEnd type="none" w="med" len="med"/>
                    </a:lnT>
                    <a:lnB w="6350" cap="flat" cmpd="sng" algn="ctr">
                      <a:solidFill>
                        <a:srgbClr val="C8D5E0"/>
                      </a:solidFill>
                      <a:prstDash val="solid"/>
                      <a:round/>
                      <a:headEnd type="none" w="med" len="med"/>
                      <a:tailEnd type="none" w="med" len="med"/>
                    </a:lnB>
                    <a:solidFill>
                      <a:srgbClr val="EDF2F7"/>
                    </a:solidFill>
                  </a:tcPr>
                </a:tc>
                <a:extLst>
                  <a:ext uri="{0D108BD9-81ED-4DB2-BD59-A6C34878D82A}">
                    <a16:rowId xmlns:a16="http://schemas.microsoft.com/office/drawing/2014/main" val="10009"/>
                  </a:ext>
                </a:extLst>
              </a:tr>
            </a:tbl>
          </a:graphicData>
        </a:graphic>
      </p:graphicFrame>
      <p:sp>
        <p:nvSpPr>
          <p:cNvPr id="8" name="Text 4"/>
          <p:cNvSpPr/>
          <p:nvPr/>
        </p:nvSpPr>
        <p:spPr>
          <a:xfrm>
            <a:off x="365760" y="6199632"/>
            <a:ext cx="11430000" cy="256032"/>
          </a:xfrm>
          <a:prstGeom prst="rect">
            <a:avLst/>
          </a:prstGeom>
          <a:noFill/>
          <a:ln/>
        </p:spPr>
        <p:txBody>
          <a:bodyPr wrap="square" lIns="0" tIns="0" rIns="0" bIns="0" rtlCol="0" anchor="ctr"/>
          <a:lstStyle/>
          <a:p>
            <a:pPr marL="0" indent="0">
              <a:buNone/>
            </a:pPr>
            <a:r>
              <a:rPr lang="en-US" sz="900" i="1" dirty="0">
                <a:solidFill>
                  <a:srgbClr val="4A5568"/>
                </a:solidFill>
              </a:rPr>
              <a:t>† Values detected after disassembly and reassembly  ‡ No abnormalities observed after test completion</a:t>
            </a:r>
            <a:endParaRPr lang="en-US" sz="900" dirty="0"/>
          </a:p>
        </p:txBody>
      </p:sp>
      <p:sp>
        <p:nvSpPr>
          <p:cNvPr id="9" name="Shape 5"/>
          <p:cNvSpPr/>
          <p:nvPr/>
        </p:nvSpPr>
        <p:spPr>
          <a:xfrm>
            <a:off x="0" y="6537960"/>
            <a:ext cx="12161520" cy="320040"/>
          </a:xfrm>
          <a:prstGeom prst="rect">
            <a:avLst/>
          </a:prstGeom>
          <a:solidFill>
            <a:srgbClr val="CC1414"/>
          </a:solidFill>
          <a:ln w="12700">
            <a:solidFill>
              <a:srgbClr val="CC1414"/>
            </a:solidFill>
            <a:prstDash val="solid"/>
          </a:ln>
        </p:spPr>
        <p:txBody>
          <a:bodyPr/>
          <a:lstStyle/>
          <a:p>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6F9"/>
        </a:solidFill>
        <a:effectLst/>
      </p:bgPr>
    </p:bg>
    <p:spTree>
      <p:nvGrpSpPr>
        <p:cNvPr id="1" name=""/>
        <p:cNvGrpSpPr/>
        <p:nvPr/>
      </p:nvGrpSpPr>
      <p:grpSpPr>
        <a:xfrm>
          <a:off x="0" y="0"/>
          <a:ext cx="0" cy="0"/>
          <a:chOff x="0" y="0"/>
          <a:chExt cx="0" cy="0"/>
        </a:xfrm>
      </p:grpSpPr>
      <p:sp>
        <p:nvSpPr>
          <p:cNvPr id="2" name="Shape 0"/>
          <p:cNvSpPr/>
          <p:nvPr/>
        </p:nvSpPr>
        <p:spPr>
          <a:xfrm>
            <a:off x="0" y="0"/>
            <a:ext cx="12161520" cy="685800"/>
          </a:xfrm>
          <a:prstGeom prst="rect">
            <a:avLst/>
          </a:prstGeom>
          <a:solidFill>
            <a:srgbClr val="0D1F3C"/>
          </a:solidFill>
          <a:ln w="12700">
            <a:solidFill>
              <a:srgbClr val="0D1F3C"/>
            </a:solidFill>
            <a:prstDash val="solid"/>
          </a:ln>
        </p:spPr>
        <p:txBody>
          <a:bodyPr/>
          <a:lstStyle/>
          <a:p>
            <a:endParaRPr lang="en-US"/>
          </a:p>
        </p:txBody>
      </p:sp>
      <p:pic>
        <p:nvPicPr>
          <p:cNvPr id="3" name="Image 0" descr="preencoded.png"/>
          <p:cNvPicPr>
            <a:picLocks noChangeAspect="1"/>
          </p:cNvPicPr>
          <p:nvPr/>
        </p:nvPicPr>
        <p:blipFill>
          <a:blip r:embed="rId3"/>
          <a:stretch>
            <a:fillRect/>
          </a:stretch>
        </p:blipFill>
        <p:spPr>
          <a:xfrm>
            <a:off x="274320" y="64008"/>
            <a:ext cx="1113046" cy="566928"/>
          </a:xfrm>
          <a:prstGeom prst="rect">
            <a:avLst/>
          </a:prstGeom>
        </p:spPr>
      </p:pic>
      <p:sp>
        <p:nvSpPr>
          <p:cNvPr id="4" name="Text 1"/>
          <p:cNvSpPr/>
          <p:nvPr/>
        </p:nvSpPr>
        <p:spPr>
          <a:xfrm>
            <a:off x="2011680" y="164592"/>
            <a:ext cx="8229600" cy="365760"/>
          </a:xfrm>
          <a:prstGeom prst="rect">
            <a:avLst/>
          </a:prstGeom>
          <a:noFill/>
          <a:ln/>
        </p:spPr>
        <p:txBody>
          <a:bodyPr wrap="square" lIns="0" tIns="0" rIns="0" bIns="0" rtlCol="0" anchor="ctr"/>
          <a:lstStyle/>
          <a:p>
            <a:pPr marL="0" indent="0">
              <a:buNone/>
            </a:pPr>
            <a:r>
              <a:rPr lang="en-US" sz="1600" b="1" kern="0" spc="300" dirty="0">
                <a:solidFill>
                  <a:srgbClr val="FFFFFF"/>
                </a:solidFill>
              </a:rPr>
              <a:t>APPLICATIONS &amp; INSTALLATION</a:t>
            </a:r>
            <a:endParaRPr lang="en-US" sz="1600" dirty="0"/>
          </a:p>
        </p:txBody>
      </p:sp>
      <p:sp>
        <p:nvSpPr>
          <p:cNvPr id="5" name="Text 2"/>
          <p:cNvSpPr/>
          <p:nvPr/>
        </p:nvSpPr>
        <p:spPr>
          <a:xfrm>
            <a:off x="457200" y="822960"/>
            <a:ext cx="11338560" cy="502920"/>
          </a:xfrm>
          <a:prstGeom prst="rect">
            <a:avLst/>
          </a:prstGeom>
          <a:noFill/>
          <a:ln/>
        </p:spPr>
        <p:txBody>
          <a:bodyPr wrap="square" lIns="0" tIns="0" rIns="0" bIns="0" rtlCol="0" anchor="ctr"/>
          <a:lstStyle/>
          <a:p>
            <a:pPr marL="0" indent="0">
              <a:buNone/>
            </a:pPr>
            <a:r>
              <a:rPr lang="en-US" sz="2400" b="1" dirty="0">
                <a:solidFill>
                  <a:srgbClr val="0D1F3C"/>
                </a:solidFill>
                <a:latin typeface="Georgia" pitchFamily="34" charset="0"/>
                <a:ea typeface="Georgia" pitchFamily="34" charset="-122"/>
                <a:cs typeface="Georgia" pitchFamily="34" charset="-120"/>
              </a:rPr>
              <a:t>Proven Performance Across Track Environments</a:t>
            </a:r>
            <a:endParaRPr lang="en-US" sz="2400" dirty="0"/>
          </a:p>
        </p:txBody>
      </p:sp>
      <p:pic>
        <p:nvPicPr>
          <p:cNvPr id="6" name="Image 1" descr="preencoded.png"/>
          <p:cNvPicPr>
            <a:picLocks noChangeAspect="1"/>
          </p:cNvPicPr>
          <p:nvPr/>
        </p:nvPicPr>
        <p:blipFill>
          <a:blip r:embed="rId4"/>
          <a:srcRect/>
          <a:stretch/>
        </p:blipFill>
        <p:spPr>
          <a:xfrm>
            <a:off x="365760" y="1417320"/>
            <a:ext cx="5236254" cy="3200400"/>
          </a:xfrm>
          <a:prstGeom prst="rect">
            <a:avLst/>
          </a:prstGeom>
        </p:spPr>
      </p:pic>
      <p:pic>
        <p:nvPicPr>
          <p:cNvPr id="7" name="Image 2" descr="preencoded.png"/>
          <p:cNvPicPr>
            <a:picLocks noChangeAspect="1"/>
          </p:cNvPicPr>
          <p:nvPr/>
        </p:nvPicPr>
        <p:blipFill>
          <a:blip r:embed="rId5"/>
          <a:srcRect/>
          <a:stretch/>
        </p:blipFill>
        <p:spPr>
          <a:xfrm>
            <a:off x="6199632" y="1417319"/>
            <a:ext cx="5330952" cy="3200401"/>
          </a:xfrm>
          <a:prstGeom prst="rect">
            <a:avLst/>
          </a:prstGeom>
        </p:spPr>
      </p:pic>
      <p:sp>
        <p:nvSpPr>
          <p:cNvPr id="9" name="Shape 3"/>
          <p:cNvSpPr/>
          <p:nvPr/>
        </p:nvSpPr>
        <p:spPr>
          <a:xfrm>
            <a:off x="365760" y="4736592"/>
            <a:ext cx="2651760" cy="1554480"/>
          </a:xfrm>
          <a:prstGeom prst="rect">
            <a:avLst/>
          </a:prstGeom>
          <a:solidFill>
            <a:srgbClr val="0D1F3C"/>
          </a:solidFill>
          <a:ln w="12700">
            <a:solidFill>
              <a:srgbClr val="0D1F3C"/>
            </a:solidFill>
            <a:prstDash val="solid"/>
          </a:ln>
        </p:spPr>
        <p:txBody>
          <a:bodyPr/>
          <a:lstStyle/>
          <a:p>
            <a:endParaRPr lang="en-US"/>
          </a:p>
        </p:txBody>
      </p:sp>
      <p:sp>
        <p:nvSpPr>
          <p:cNvPr id="10" name="Shape 4"/>
          <p:cNvSpPr/>
          <p:nvPr/>
        </p:nvSpPr>
        <p:spPr>
          <a:xfrm>
            <a:off x="365760" y="4736592"/>
            <a:ext cx="2651760" cy="109728"/>
          </a:xfrm>
          <a:prstGeom prst="rect">
            <a:avLst/>
          </a:prstGeom>
          <a:solidFill>
            <a:srgbClr val="CC1414"/>
          </a:solidFill>
          <a:ln w="12700">
            <a:solidFill>
              <a:srgbClr val="CC1414"/>
            </a:solidFill>
            <a:prstDash val="solid"/>
          </a:ln>
        </p:spPr>
        <p:txBody>
          <a:bodyPr/>
          <a:lstStyle/>
          <a:p>
            <a:endParaRPr lang="en-US"/>
          </a:p>
        </p:txBody>
      </p:sp>
      <p:sp>
        <p:nvSpPr>
          <p:cNvPr id="11" name="Text 5"/>
          <p:cNvSpPr/>
          <p:nvPr/>
        </p:nvSpPr>
        <p:spPr>
          <a:xfrm>
            <a:off x="475488" y="4846320"/>
            <a:ext cx="2468880" cy="320040"/>
          </a:xfrm>
          <a:prstGeom prst="rect">
            <a:avLst/>
          </a:prstGeom>
          <a:noFill/>
          <a:ln/>
        </p:spPr>
        <p:txBody>
          <a:bodyPr wrap="square" lIns="0" tIns="0" rIns="0" bIns="0" rtlCol="0" anchor="ctr"/>
          <a:lstStyle/>
          <a:p>
            <a:pPr marL="0" indent="0">
              <a:buNone/>
            </a:pPr>
            <a:r>
              <a:rPr lang="en-US" sz="1100" b="1" dirty="0">
                <a:solidFill>
                  <a:srgbClr val="FFFFFF"/>
                </a:solidFill>
              </a:rPr>
              <a:t>Steel Railway Bridges</a:t>
            </a:r>
            <a:endParaRPr lang="en-US" sz="1100" dirty="0"/>
          </a:p>
        </p:txBody>
      </p:sp>
      <p:sp>
        <p:nvSpPr>
          <p:cNvPr id="12" name="Text 6"/>
          <p:cNvSpPr/>
          <p:nvPr/>
        </p:nvSpPr>
        <p:spPr>
          <a:xfrm>
            <a:off x="475488" y="5212080"/>
            <a:ext cx="2468880" cy="1005840"/>
          </a:xfrm>
          <a:prstGeom prst="rect">
            <a:avLst/>
          </a:prstGeom>
          <a:noFill/>
          <a:ln/>
        </p:spPr>
        <p:txBody>
          <a:bodyPr wrap="square" lIns="0" tIns="0" rIns="0" bIns="0" rtlCol="0" anchor="ctr"/>
          <a:lstStyle/>
          <a:p>
            <a:pPr marL="0" indent="0">
              <a:buNone/>
            </a:pPr>
            <a:r>
              <a:rPr lang="en-US" sz="1200" dirty="0">
                <a:solidFill>
                  <a:srgbClr val="C8D8E8"/>
                </a:solidFill>
              </a:rPr>
              <a:t>HFFP ties excel on steel truss bridges — reducing dead load while eliminating wood rot and tie replacement downtime.</a:t>
            </a:r>
            <a:endParaRPr lang="en-US" sz="1200" dirty="0"/>
          </a:p>
        </p:txBody>
      </p:sp>
      <p:sp>
        <p:nvSpPr>
          <p:cNvPr id="13" name="Shape 7"/>
          <p:cNvSpPr/>
          <p:nvPr/>
        </p:nvSpPr>
        <p:spPr>
          <a:xfrm>
            <a:off x="3227832" y="4736592"/>
            <a:ext cx="2651760" cy="1554480"/>
          </a:xfrm>
          <a:prstGeom prst="rect">
            <a:avLst/>
          </a:prstGeom>
          <a:solidFill>
            <a:srgbClr val="0D1F3C"/>
          </a:solidFill>
          <a:ln w="12700">
            <a:solidFill>
              <a:srgbClr val="0D1F3C"/>
            </a:solidFill>
            <a:prstDash val="solid"/>
          </a:ln>
        </p:spPr>
        <p:txBody>
          <a:bodyPr/>
          <a:lstStyle/>
          <a:p>
            <a:endParaRPr lang="en-US"/>
          </a:p>
        </p:txBody>
      </p:sp>
      <p:sp>
        <p:nvSpPr>
          <p:cNvPr id="14" name="Shape 8"/>
          <p:cNvSpPr/>
          <p:nvPr/>
        </p:nvSpPr>
        <p:spPr>
          <a:xfrm>
            <a:off x="3227832" y="4736592"/>
            <a:ext cx="2651760" cy="109728"/>
          </a:xfrm>
          <a:prstGeom prst="rect">
            <a:avLst/>
          </a:prstGeom>
          <a:solidFill>
            <a:srgbClr val="CC1414"/>
          </a:solidFill>
          <a:ln w="12700">
            <a:solidFill>
              <a:srgbClr val="CC1414"/>
            </a:solidFill>
            <a:prstDash val="solid"/>
          </a:ln>
        </p:spPr>
        <p:txBody>
          <a:bodyPr/>
          <a:lstStyle/>
          <a:p>
            <a:endParaRPr lang="en-US"/>
          </a:p>
        </p:txBody>
      </p:sp>
      <p:sp>
        <p:nvSpPr>
          <p:cNvPr id="15" name="Text 9"/>
          <p:cNvSpPr/>
          <p:nvPr/>
        </p:nvSpPr>
        <p:spPr>
          <a:xfrm>
            <a:off x="3337560" y="4846320"/>
            <a:ext cx="2468880" cy="320040"/>
          </a:xfrm>
          <a:prstGeom prst="rect">
            <a:avLst/>
          </a:prstGeom>
          <a:noFill/>
          <a:ln/>
        </p:spPr>
        <p:txBody>
          <a:bodyPr wrap="square" lIns="0" tIns="0" rIns="0" bIns="0" rtlCol="0" anchor="ctr"/>
          <a:lstStyle/>
          <a:p>
            <a:pPr marL="0" indent="0">
              <a:buNone/>
            </a:pPr>
            <a:r>
              <a:rPr lang="en-US" sz="1100" b="1" dirty="0">
                <a:solidFill>
                  <a:srgbClr val="FFFFFF"/>
                </a:solidFill>
              </a:rPr>
              <a:t>Subway &amp; Light Rail</a:t>
            </a:r>
            <a:endParaRPr lang="en-US" sz="1100" dirty="0"/>
          </a:p>
        </p:txBody>
      </p:sp>
      <p:sp>
        <p:nvSpPr>
          <p:cNvPr id="16" name="Text 10"/>
          <p:cNvSpPr/>
          <p:nvPr/>
        </p:nvSpPr>
        <p:spPr>
          <a:xfrm>
            <a:off x="3337560" y="5212080"/>
            <a:ext cx="2468880" cy="1005840"/>
          </a:xfrm>
          <a:prstGeom prst="rect">
            <a:avLst/>
          </a:prstGeom>
          <a:noFill/>
          <a:ln/>
        </p:spPr>
        <p:txBody>
          <a:bodyPr wrap="square" lIns="0" tIns="0" rIns="0" bIns="0" rtlCol="0" anchor="ctr"/>
          <a:lstStyle/>
          <a:p>
            <a:pPr marL="0" indent="0">
              <a:buNone/>
            </a:pPr>
            <a:r>
              <a:rPr lang="en-US" sz="1200" dirty="0">
                <a:solidFill>
                  <a:srgbClr val="C8D8E8"/>
                </a:solidFill>
              </a:rPr>
              <a:t>LFFP ties prioritize low-vibration, high-insulation performance for urban transit systems including switch zones.</a:t>
            </a:r>
            <a:endParaRPr lang="en-US" sz="1200" dirty="0"/>
          </a:p>
        </p:txBody>
      </p:sp>
      <p:sp>
        <p:nvSpPr>
          <p:cNvPr id="17" name="Shape 11"/>
          <p:cNvSpPr/>
          <p:nvPr/>
        </p:nvSpPr>
        <p:spPr>
          <a:xfrm>
            <a:off x="6089904" y="4736592"/>
            <a:ext cx="2651760" cy="1554480"/>
          </a:xfrm>
          <a:prstGeom prst="rect">
            <a:avLst/>
          </a:prstGeom>
          <a:solidFill>
            <a:srgbClr val="0D1F3C"/>
          </a:solidFill>
          <a:ln w="12700">
            <a:solidFill>
              <a:srgbClr val="0D1F3C"/>
            </a:solidFill>
            <a:prstDash val="solid"/>
          </a:ln>
        </p:spPr>
        <p:txBody>
          <a:bodyPr/>
          <a:lstStyle/>
          <a:p>
            <a:endParaRPr lang="en-US"/>
          </a:p>
        </p:txBody>
      </p:sp>
      <p:sp>
        <p:nvSpPr>
          <p:cNvPr id="18" name="Shape 12"/>
          <p:cNvSpPr/>
          <p:nvPr/>
        </p:nvSpPr>
        <p:spPr>
          <a:xfrm>
            <a:off x="6089904" y="4736592"/>
            <a:ext cx="2651760" cy="109728"/>
          </a:xfrm>
          <a:prstGeom prst="rect">
            <a:avLst/>
          </a:prstGeom>
          <a:solidFill>
            <a:srgbClr val="CC1414"/>
          </a:solidFill>
          <a:ln w="12700">
            <a:solidFill>
              <a:srgbClr val="CC1414"/>
            </a:solidFill>
            <a:prstDash val="solid"/>
          </a:ln>
        </p:spPr>
        <p:txBody>
          <a:bodyPr/>
          <a:lstStyle/>
          <a:p>
            <a:endParaRPr lang="en-US"/>
          </a:p>
        </p:txBody>
      </p:sp>
      <p:sp>
        <p:nvSpPr>
          <p:cNvPr id="19" name="Text 13"/>
          <p:cNvSpPr/>
          <p:nvPr/>
        </p:nvSpPr>
        <p:spPr>
          <a:xfrm>
            <a:off x="6199632" y="4846320"/>
            <a:ext cx="2468880" cy="320040"/>
          </a:xfrm>
          <a:prstGeom prst="rect">
            <a:avLst/>
          </a:prstGeom>
          <a:noFill/>
          <a:ln/>
        </p:spPr>
        <p:txBody>
          <a:bodyPr wrap="square" lIns="0" tIns="0" rIns="0" bIns="0" rtlCol="0" anchor="ctr"/>
          <a:lstStyle/>
          <a:p>
            <a:pPr marL="0" indent="0">
              <a:buNone/>
            </a:pPr>
            <a:r>
              <a:rPr lang="en-US" sz="1100" b="1" dirty="0">
                <a:solidFill>
                  <a:srgbClr val="FFFFFF"/>
                </a:solidFill>
              </a:rPr>
              <a:t>Switch &amp; Turnout Zones</a:t>
            </a:r>
            <a:endParaRPr lang="en-US" sz="1100" dirty="0"/>
          </a:p>
        </p:txBody>
      </p:sp>
      <p:sp>
        <p:nvSpPr>
          <p:cNvPr id="20" name="Text 14"/>
          <p:cNvSpPr/>
          <p:nvPr/>
        </p:nvSpPr>
        <p:spPr>
          <a:xfrm>
            <a:off x="6199632" y="5212080"/>
            <a:ext cx="2468880" cy="1005840"/>
          </a:xfrm>
          <a:prstGeom prst="rect">
            <a:avLst/>
          </a:prstGeom>
          <a:noFill/>
          <a:ln/>
        </p:spPr>
        <p:txBody>
          <a:bodyPr wrap="square" lIns="0" tIns="0" rIns="0" bIns="0" rtlCol="0" anchor="ctr"/>
          <a:lstStyle/>
          <a:p>
            <a:pPr marL="0" indent="0">
              <a:buNone/>
            </a:pPr>
            <a:r>
              <a:rPr lang="en-US" sz="1200" dirty="0">
                <a:solidFill>
                  <a:srgbClr val="C8D8E8"/>
                </a:solidFill>
              </a:rPr>
              <a:t>Installed as priority locations in turnout zones at subway and urban rail lines — cumulative volume over 35,310 ft³ (1,000 m³).</a:t>
            </a:r>
            <a:endParaRPr lang="en-US" sz="1200" dirty="0"/>
          </a:p>
        </p:txBody>
      </p:sp>
      <p:sp>
        <p:nvSpPr>
          <p:cNvPr id="21" name="Shape 15"/>
          <p:cNvSpPr/>
          <p:nvPr/>
        </p:nvSpPr>
        <p:spPr>
          <a:xfrm>
            <a:off x="8951976" y="4736592"/>
            <a:ext cx="2651760" cy="1554480"/>
          </a:xfrm>
          <a:prstGeom prst="rect">
            <a:avLst/>
          </a:prstGeom>
          <a:solidFill>
            <a:srgbClr val="0D1F3C"/>
          </a:solidFill>
          <a:ln w="12700">
            <a:solidFill>
              <a:srgbClr val="0D1F3C"/>
            </a:solidFill>
            <a:prstDash val="solid"/>
          </a:ln>
        </p:spPr>
        <p:txBody>
          <a:bodyPr/>
          <a:lstStyle/>
          <a:p>
            <a:endParaRPr lang="en-US"/>
          </a:p>
        </p:txBody>
      </p:sp>
      <p:sp>
        <p:nvSpPr>
          <p:cNvPr id="22" name="Shape 16"/>
          <p:cNvSpPr/>
          <p:nvPr/>
        </p:nvSpPr>
        <p:spPr>
          <a:xfrm>
            <a:off x="8951976" y="4736592"/>
            <a:ext cx="2651760" cy="109728"/>
          </a:xfrm>
          <a:prstGeom prst="rect">
            <a:avLst/>
          </a:prstGeom>
          <a:solidFill>
            <a:srgbClr val="CC1414"/>
          </a:solidFill>
          <a:ln w="12700">
            <a:solidFill>
              <a:srgbClr val="CC1414"/>
            </a:solidFill>
            <a:prstDash val="solid"/>
          </a:ln>
        </p:spPr>
        <p:txBody>
          <a:bodyPr/>
          <a:lstStyle/>
          <a:p>
            <a:endParaRPr lang="en-US"/>
          </a:p>
        </p:txBody>
      </p:sp>
      <p:sp>
        <p:nvSpPr>
          <p:cNvPr id="23" name="Text 17"/>
          <p:cNvSpPr/>
          <p:nvPr/>
        </p:nvSpPr>
        <p:spPr>
          <a:xfrm>
            <a:off x="9061704" y="4846320"/>
            <a:ext cx="2468880" cy="320040"/>
          </a:xfrm>
          <a:prstGeom prst="rect">
            <a:avLst/>
          </a:prstGeom>
          <a:noFill/>
          <a:ln/>
        </p:spPr>
        <p:txBody>
          <a:bodyPr wrap="square" lIns="0" tIns="0" rIns="0" bIns="0" rtlCol="0" anchor="ctr"/>
          <a:lstStyle/>
          <a:p>
            <a:pPr marL="0" indent="0">
              <a:buNone/>
            </a:pPr>
            <a:r>
              <a:rPr lang="en-US" sz="1100" b="1" dirty="0">
                <a:solidFill>
                  <a:srgbClr val="FFFFFF"/>
                </a:solidFill>
              </a:rPr>
              <a:t>Heavy Haul Freight Rail</a:t>
            </a:r>
            <a:endParaRPr lang="en-US" sz="1100" dirty="0"/>
          </a:p>
        </p:txBody>
      </p:sp>
      <p:sp>
        <p:nvSpPr>
          <p:cNvPr id="24" name="Text 18"/>
          <p:cNvSpPr/>
          <p:nvPr/>
        </p:nvSpPr>
        <p:spPr>
          <a:xfrm>
            <a:off x="9061704" y="5212080"/>
            <a:ext cx="2468880" cy="1005840"/>
          </a:xfrm>
          <a:prstGeom prst="rect">
            <a:avLst/>
          </a:prstGeom>
          <a:noFill/>
          <a:ln/>
        </p:spPr>
        <p:txBody>
          <a:bodyPr wrap="square" lIns="0" tIns="0" rIns="0" bIns="0" rtlCol="0" anchor="ctr"/>
          <a:lstStyle/>
          <a:p>
            <a:pPr marL="0" indent="0">
              <a:buNone/>
            </a:pPr>
            <a:r>
              <a:rPr lang="en-US" sz="1200" dirty="0">
                <a:solidFill>
                  <a:srgbClr val="C8D8E8"/>
                </a:solidFill>
              </a:rPr>
              <a:t>High compressive and bending strength handles demanding freight loads without creep or degradation over decades of use.</a:t>
            </a:r>
            <a:endParaRPr lang="en-US" sz="1200" dirty="0"/>
          </a:p>
        </p:txBody>
      </p:sp>
      <p:sp>
        <p:nvSpPr>
          <p:cNvPr id="25" name="Shape 19"/>
          <p:cNvSpPr/>
          <p:nvPr/>
        </p:nvSpPr>
        <p:spPr>
          <a:xfrm>
            <a:off x="0" y="6537960"/>
            <a:ext cx="12161520" cy="320040"/>
          </a:xfrm>
          <a:prstGeom prst="rect">
            <a:avLst/>
          </a:prstGeom>
          <a:solidFill>
            <a:srgbClr val="CC1414"/>
          </a:solidFill>
          <a:ln w="12700">
            <a:solidFill>
              <a:srgbClr val="CC1414"/>
            </a:solidFill>
            <a:prstDash val="solid"/>
          </a:ln>
        </p:spPr>
        <p:txBody>
          <a:bodyPr/>
          <a:lstStyle/>
          <a:p>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61520" cy="685800"/>
          </a:xfrm>
          <a:prstGeom prst="rect">
            <a:avLst/>
          </a:prstGeom>
          <a:solidFill>
            <a:srgbClr val="0D1F3C"/>
          </a:solidFill>
          <a:ln w="12700">
            <a:solidFill>
              <a:srgbClr val="0D1F3C"/>
            </a:solidFill>
            <a:prstDash val="solid"/>
          </a:ln>
        </p:spPr>
        <p:txBody>
          <a:bodyPr/>
          <a:lstStyle/>
          <a:p>
            <a:endParaRPr lang="en-US"/>
          </a:p>
        </p:txBody>
      </p:sp>
      <p:pic>
        <p:nvPicPr>
          <p:cNvPr id="3" name="Image 0" descr="preencoded.png"/>
          <p:cNvPicPr>
            <a:picLocks noChangeAspect="1"/>
          </p:cNvPicPr>
          <p:nvPr/>
        </p:nvPicPr>
        <p:blipFill>
          <a:blip r:embed="rId3"/>
          <a:stretch>
            <a:fillRect/>
          </a:stretch>
        </p:blipFill>
        <p:spPr>
          <a:xfrm>
            <a:off x="274320" y="64008"/>
            <a:ext cx="1102535" cy="566928"/>
          </a:xfrm>
          <a:prstGeom prst="rect">
            <a:avLst/>
          </a:prstGeom>
        </p:spPr>
      </p:pic>
      <p:sp>
        <p:nvSpPr>
          <p:cNvPr id="4" name="Text 1"/>
          <p:cNvSpPr/>
          <p:nvPr/>
        </p:nvSpPr>
        <p:spPr>
          <a:xfrm>
            <a:off x="2011680" y="164592"/>
            <a:ext cx="8229600" cy="365760"/>
          </a:xfrm>
          <a:prstGeom prst="rect">
            <a:avLst/>
          </a:prstGeom>
          <a:noFill/>
          <a:ln/>
        </p:spPr>
        <p:txBody>
          <a:bodyPr wrap="square" lIns="0" tIns="0" rIns="0" bIns="0" rtlCol="0" anchor="ctr"/>
          <a:lstStyle/>
          <a:p>
            <a:pPr marL="0" indent="0">
              <a:buNone/>
            </a:pPr>
            <a:r>
              <a:rPr lang="en-US" sz="1600" b="1" kern="0" spc="300" dirty="0">
                <a:solidFill>
                  <a:srgbClr val="FFFFFF"/>
                </a:solidFill>
              </a:rPr>
              <a:t>MANUFACTURING PROCESS</a:t>
            </a:r>
            <a:endParaRPr lang="en-US" sz="1600" dirty="0"/>
          </a:p>
        </p:txBody>
      </p:sp>
      <p:sp>
        <p:nvSpPr>
          <p:cNvPr id="5" name="Text 2"/>
          <p:cNvSpPr/>
          <p:nvPr/>
        </p:nvSpPr>
        <p:spPr>
          <a:xfrm>
            <a:off x="457200" y="822960"/>
            <a:ext cx="8229600" cy="502920"/>
          </a:xfrm>
          <a:prstGeom prst="rect">
            <a:avLst/>
          </a:prstGeom>
          <a:noFill/>
          <a:ln/>
        </p:spPr>
        <p:txBody>
          <a:bodyPr wrap="square" lIns="0" tIns="0" rIns="0" bIns="0" rtlCol="0" anchor="ctr"/>
          <a:lstStyle/>
          <a:p>
            <a:pPr marL="0" indent="0">
              <a:buNone/>
            </a:pPr>
            <a:r>
              <a:rPr lang="en-US" sz="2400" b="1" dirty="0">
                <a:solidFill>
                  <a:srgbClr val="0D1F3C"/>
                </a:solidFill>
                <a:latin typeface="Georgia" pitchFamily="34" charset="0"/>
                <a:ea typeface="Georgia" pitchFamily="34" charset="-122"/>
                <a:cs typeface="Georgia" pitchFamily="34" charset="-120"/>
              </a:rPr>
              <a:t>Continuous Pultrusion Manufacturing</a:t>
            </a:r>
            <a:endParaRPr lang="en-US" sz="2400" dirty="0"/>
          </a:p>
        </p:txBody>
      </p:sp>
      <p:sp>
        <p:nvSpPr>
          <p:cNvPr id="6" name="Shape 3"/>
          <p:cNvSpPr/>
          <p:nvPr/>
        </p:nvSpPr>
        <p:spPr>
          <a:xfrm>
            <a:off x="365760" y="1463040"/>
            <a:ext cx="594360" cy="594360"/>
          </a:xfrm>
          <a:prstGeom prst="rect">
            <a:avLst/>
          </a:prstGeom>
          <a:solidFill>
            <a:srgbClr val="CC1414"/>
          </a:solidFill>
          <a:ln w="12700">
            <a:solidFill>
              <a:srgbClr val="CC1414"/>
            </a:solidFill>
            <a:prstDash val="solid"/>
          </a:ln>
        </p:spPr>
        <p:txBody>
          <a:bodyPr/>
          <a:lstStyle/>
          <a:p>
            <a:endParaRPr lang="en-US"/>
          </a:p>
        </p:txBody>
      </p:sp>
      <p:sp>
        <p:nvSpPr>
          <p:cNvPr id="7" name="Text 4"/>
          <p:cNvSpPr/>
          <p:nvPr/>
        </p:nvSpPr>
        <p:spPr>
          <a:xfrm>
            <a:off x="365760" y="1517904"/>
            <a:ext cx="594360" cy="457200"/>
          </a:xfrm>
          <a:prstGeom prst="rect">
            <a:avLst/>
          </a:prstGeom>
          <a:noFill/>
          <a:ln/>
        </p:spPr>
        <p:txBody>
          <a:bodyPr wrap="square" lIns="0" tIns="0" rIns="0" bIns="0" rtlCol="0" anchor="ctr"/>
          <a:lstStyle/>
          <a:p>
            <a:pPr marL="0" indent="0" algn="ctr">
              <a:buNone/>
            </a:pPr>
            <a:r>
              <a:rPr lang="en-US" sz="2200" b="1" dirty="0">
                <a:solidFill>
                  <a:srgbClr val="FFFFFF"/>
                </a:solidFill>
              </a:rPr>
              <a:t>1</a:t>
            </a:r>
            <a:endParaRPr lang="en-US" sz="2200" dirty="0"/>
          </a:p>
        </p:txBody>
      </p:sp>
      <p:sp>
        <p:nvSpPr>
          <p:cNvPr id="8" name="Text 5"/>
          <p:cNvSpPr/>
          <p:nvPr/>
        </p:nvSpPr>
        <p:spPr>
          <a:xfrm>
            <a:off x="1143000" y="1499616"/>
            <a:ext cx="4572000" cy="274320"/>
          </a:xfrm>
          <a:prstGeom prst="rect">
            <a:avLst/>
          </a:prstGeom>
          <a:noFill/>
          <a:ln/>
        </p:spPr>
        <p:txBody>
          <a:bodyPr wrap="square" lIns="0" tIns="0" rIns="0" bIns="0" rtlCol="0" anchor="ctr"/>
          <a:lstStyle/>
          <a:p>
            <a:pPr marL="0" indent="0">
              <a:buNone/>
            </a:pPr>
            <a:r>
              <a:rPr lang="en-US" sz="1300" b="1" dirty="0">
                <a:solidFill>
                  <a:srgbClr val="0D1F3C"/>
                </a:solidFill>
              </a:rPr>
              <a:t>Fiber Preparation</a:t>
            </a:r>
            <a:endParaRPr lang="en-US" sz="1300" dirty="0"/>
          </a:p>
        </p:txBody>
      </p:sp>
      <p:sp>
        <p:nvSpPr>
          <p:cNvPr id="9" name="Text 6"/>
          <p:cNvSpPr/>
          <p:nvPr/>
        </p:nvSpPr>
        <p:spPr>
          <a:xfrm>
            <a:off x="1143000" y="1810512"/>
            <a:ext cx="4572000" cy="777240"/>
          </a:xfrm>
          <a:prstGeom prst="rect">
            <a:avLst/>
          </a:prstGeom>
          <a:noFill/>
          <a:ln/>
        </p:spPr>
        <p:txBody>
          <a:bodyPr wrap="square" lIns="0" tIns="0" rIns="0" bIns="0" rtlCol="0" anchor="ctr"/>
          <a:lstStyle/>
          <a:p>
            <a:pPr marL="0" indent="0">
              <a:buNone/>
            </a:pPr>
            <a:r>
              <a:rPr lang="en-US" sz="1150" dirty="0">
                <a:solidFill>
                  <a:srgbClr val="4A5568"/>
                </a:solidFill>
              </a:rPr>
              <a:t>Continuous glass or carbon fibers are drawn from spools and aligned in the desired orientation for optimal structural properties.</a:t>
            </a:r>
            <a:endParaRPr lang="en-US" sz="1150" dirty="0"/>
          </a:p>
        </p:txBody>
      </p:sp>
      <p:sp>
        <p:nvSpPr>
          <p:cNvPr id="10" name="Shape 7"/>
          <p:cNvSpPr/>
          <p:nvPr/>
        </p:nvSpPr>
        <p:spPr>
          <a:xfrm>
            <a:off x="576072" y="2057400"/>
            <a:ext cx="137160" cy="640080"/>
          </a:xfrm>
          <a:prstGeom prst="rect">
            <a:avLst/>
          </a:prstGeom>
          <a:solidFill>
            <a:srgbClr val="C0CDD8"/>
          </a:solidFill>
          <a:ln w="12700">
            <a:solidFill>
              <a:srgbClr val="C0CDD8"/>
            </a:solidFill>
            <a:prstDash val="solid"/>
          </a:ln>
        </p:spPr>
        <p:txBody>
          <a:bodyPr/>
          <a:lstStyle/>
          <a:p>
            <a:endParaRPr lang="en-US"/>
          </a:p>
        </p:txBody>
      </p:sp>
      <p:sp>
        <p:nvSpPr>
          <p:cNvPr id="11" name="Shape 8"/>
          <p:cNvSpPr/>
          <p:nvPr/>
        </p:nvSpPr>
        <p:spPr>
          <a:xfrm>
            <a:off x="365760" y="2697480"/>
            <a:ext cx="594360" cy="594360"/>
          </a:xfrm>
          <a:prstGeom prst="rect">
            <a:avLst/>
          </a:prstGeom>
          <a:solidFill>
            <a:srgbClr val="CC1414"/>
          </a:solidFill>
          <a:ln w="12700">
            <a:solidFill>
              <a:srgbClr val="CC1414"/>
            </a:solidFill>
            <a:prstDash val="solid"/>
          </a:ln>
        </p:spPr>
        <p:txBody>
          <a:bodyPr/>
          <a:lstStyle/>
          <a:p>
            <a:endParaRPr lang="en-US"/>
          </a:p>
        </p:txBody>
      </p:sp>
      <p:sp>
        <p:nvSpPr>
          <p:cNvPr id="12" name="Text 9"/>
          <p:cNvSpPr/>
          <p:nvPr/>
        </p:nvSpPr>
        <p:spPr>
          <a:xfrm>
            <a:off x="365760" y="2752344"/>
            <a:ext cx="594360" cy="457200"/>
          </a:xfrm>
          <a:prstGeom prst="rect">
            <a:avLst/>
          </a:prstGeom>
          <a:noFill/>
          <a:ln/>
        </p:spPr>
        <p:txBody>
          <a:bodyPr wrap="square" lIns="0" tIns="0" rIns="0" bIns="0" rtlCol="0" anchor="ctr"/>
          <a:lstStyle/>
          <a:p>
            <a:pPr marL="0" indent="0" algn="ctr">
              <a:buNone/>
            </a:pPr>
            <a:r>
              <a:rPr lang="en-US" sz="2200" b="1" dirty="0">
                <a:solidFill>
                  <a:srgbClr val="FFFFFF"/>
                </a:solidFill>
              </a:rPr>
              <a:t>2</a:t>
            </a:r>
            <a:endParaRPr lang="en-US" sz="2200" dirty="0"/>
          </a:p>
        </p:txBody>
      </p:sp>
      <p:sp>
        <p:nvSpPr>
          <p:cNvPr id="13" name="Text 10"/>
          <p:cNvSpPr/>
          <p:nvPr/>
        </p:nvSpPr>
        <p:spPr>
          <a:xfrm>
            <a:off x="1143000" y="2734056"/>
            <a:ext cx="4572000" cy="274320"/>
          </a:xfrm>
          <a:prstGeom prst="rect">
            <a:avLst/>
          </a:prstGeom>
          <a:noFill/>
          <a:ln/>
        </p:spPr>
        <p:txBody>
          <a:bodyPr wrap="square" lIns="0" tIns="0" rIns="0" bIns="0" rtlCol="0" anchor="ctr"/>
          <a:lstStyle/>
          <a:p>
            <a:pPr marL="0" indent="0">
              <a:buNone/>
            </a:pPr>
            <a:r>
              <a:rPr lang="en-US" sz="1300" b="1" dirty="0">
                <a:solidFill>
                  <a:srgbClr val="0D1F3C"/>
                </a:solidFill>
              </a:rPr>
              <a:t>Resin Infusion</a:t>
            </a:r>
            <a:endParaRPr lang="en-US" sz="1300" dirty="0"/>
          </a:p>
        </p:txBody>
      </p:sp>
      <p:sp>
        <p:nvSpPr>
          <p:cNvPr id="14" name="Text 11"/>
          <p:cNvSpPr/>
          <p:nvPr/>
        </p:nvSpPr>
        <p:spPr>
          <a:xfrm>
            <a:off x="1143000" y="3044952"/>
            <a:ext cx="4572000" cy="777240"/>
          </a:xfrm>
          <a:prstGeom prst="rect">
            <a:avLst/>
          </a:prstGeom>
          <a:noFill/>
          <a:ln/>
        </p:spPr>
        <p:txBody>
          <a:bodyPr wrap="square" lIns="0" tIns="0" rIns="0" bIns="0" rtlCol="0" anchor="ctr"/>
          <a:lstStyle/>
          <a:p>
            <a:pPr marL="0" indent="0">
              <a:buNone/>
            </a:pPr>
            <a:r>
              <a:rPr lang="en-US" sz="1150" dirty="0">
                <a:solidFill>
                  <a:srgbClr val="4A5568"/>
                </a:solidFill>
              </a:rPr>
              <a:t>Fibers pass through a resin bath containing polyurethane foam resin (ISO + POL components), ensuring full impregnation.</a:t>
            </a:r>
            <a:endParaRPr lang="en-US" sz="1150" dirty="0"/>
          </a:p>
        </p:txBody>
      </p:sp>
      <p:sp>
        <p:nvSpPr>
          <p:cNvPr id="15" name="Shape 12"/>
          <p:cNvSpPr/>
          <p:nvPr/>
        </p:nvSpPr>
        <p:spPr>
          <a:xfrm>
            <a:off x="576072" y="3291840"/>
            <a:ext cx="137160" cy="640080"/>
          </a:xfrm>
          <a:prstGeom prst="rect">
            <a:avLst/>
          </a:prstGeom>
          <a:solidFill>
            <a:srgbClr val="C0CDD8"/>
          </a:solidFill>
          <a:ln w="12700">
            <a:solidFill>
              <a:srgbClr val="C0CDD8"/>
            </a:solidFill>
            <a:prstDash val="solid"/>
          </a:ln>
        </p:spPr>
        <p:txBody>
          <a:bodyPr/>
          <a:lstStyle/>
          <a:p>
            <a:endParaRPr lang="en-US"/>
          </a:p>
        </p:txBody>
      </p:sp>
      <p:sp>
        <p:nvSpPr>
          <p:cNvPr id="16" name="Shape 13"/>
          <p:cNvSpPr/>
          <p:nvPr/>
        </p:nvSpPr>
        <p:spPr>
          <a:xfrm>
            <a:off x="365760" y="3931920"/>
            <a:ext cx="594360" cy="594360"/>
          </a:xfrm>
          <a:prstGeom prst="rect">
            <a:avLst/>
          </a:prstGeom>
          <a:solidFill>
            <a:srgbClr val="CC1414"/>
          </a:solidFill>
          <a:ln w="12700">
            <a:solidFill>
              <a:srgbClr val="CC1414"/>
            </a:solidFill>
            <a:prstDash val="solid"/>
          </a:ln>
        </p:spPr>
        <p:txBody>
          <a:bodyPr/>
          <a:lstStyle/>
          <a:p>
            <a:endParaRPr lang="en-US"/>
          </a:p>
        </p:txBody>
      </p:sp>
      <p:sp>
        <p:nvSpPr>
          <p:cNvPr id="17" name="Text 14"/>
          <p:cNvSpPr/>
          <p:nvPr/>
        </p:nvSpPr>
        <p:spPr>
          <a:xfrm>
            <a:off x="365760" y="3986784"/>
            <a:ext cx="594360" cy="457200"/>
          </a:xfrm>
          <a:prstGeom prst="rect">
            <a:avLst/>
          </a:prstGeom>
          <a:noFill/>
          <a:ln/>
        </p:spPr>
        <p:txBody>
          <a:bodyPr wrap="square" lIns="0" tIns="0" rIns="0" bIns="0" rtlCol="0" anchor="ctr"/>
          <a:lstStyle/>
          <a:p>
            <a:pPr marL="0" indent="0" algn="ctr">
              <a:buNone/>
            </a:pPr>
            <a:r>
              <a:rPr lang="en-US" sz="2200" b="1" dirty="0">
                <a:solidFill>
                  <a:srgbClr val="FFFFFF"/>
                </a:solidFill>
              </a:rPr>
              <a:t>3</a:t>
            </a:r>
            <a:endParaRPr lang="en-US" sz="2200" dirty="0"/>
          </a:p>
        </p:txBody>
      </p:sp>
      <p:sp>
        <p:nvSpPr>
          <p:cNvPr id="18" name="Text 15"/>
          <p:cNvSpPr/>
          <p:nvPr/>
        </p:nvSpPr>
        <p:spPr>
          <a:xfrm>
            <a:off x="1143000" y="3968496"/>
            <a:ext cx="4572000" cy="274320"/>
          </a:xfrm>
          <a:prstGeom prst="rect">
            <a:avLst/>
          </a:prstGeom>
          <a:noFill/>
          <a:ln/>
        </p:spPr>
        <p:txBody>
          <a:bodyPr wrap="square" lIns="0" tIns="0" rIns="0" bIns="0" rtlCol="0" anchor="ctr"/>
          <a:lstStyle/>
          <a:p>
            <a:pPr marL="0" indent="0">
              <a:buNone/>
            </a:pPr>
            <a:r>
              <a:rPr lang="en-US" sz="1300" b="1" dirty="0">
                <a:solidFill>
                  <a:srgbClr val="0D1F3C"/>
                </a:solidFill>
              </a:rPr>
              <a:t>Mold &amp; Cure</a:t>
            </a:r>
            <a:endParaRPr lang="en-US" sz="1300" dirty="0"/>
          </a:p>
        </p:txBody>
      </p:sp>
      <p:sp>
        <p:nvSpPr>
          <p:cNvPr id="19" name="Text 16"/>
          <p:cNvSpPr/>
          <p:nvPr/>
        </p:nvSpPr>
        <p:spPr>
          <a:xfrm>
            <a:off x="1143000" y="4279392"/>
            <a:ext cx="4572000" cy="777240"/>
          </a:xfrm>
          <a:prstGeom prst="rect">
            <a:avLst/>
          </a:prstGeom>
          <a:noFill/>
          <a:ln/>
        </p:spPr>
        <p:txBody>
          <a:bodyPr wrap="square" lIns="0" tIns="0" rIns="0" bIns="0" rtlCol="0" anchor="ctr"/>
          <a:lstStyle/>
          <a:p>
            <a:pPr marL="0" indent="0">
              <a:buNone/>
            </a:pPr>
            <a:r>
              <a:rPr lang="en-US" sz="1150" dirty="0">
                <a:solidFill>
                  <a:srgbClr val="4A5568"/>
                </a:solidFill>
              </a:rPr>
              <a:t>Impregnated fiber bundle passes through a heated precision mold, forming the final tie cross-section and curing the polymer matrix.</a:t>
            </a:r>
            <a:endParaRPr lang="en-US" sz="1150" dirty="0"/>
          </a:p>
        </p:txBody>
      </p:sp>
      <p:sp>
        <p:nvSpPr>
          <p:cNvPr id="20" name="Shape 17"/>
          <p:cNvSpPr/>
          <p:nvPr/>
        </p:nvSpPr>
        <p:spPr>
          <a:xfrm>
            <a:off x="576072" y="4526280"/>
            <a:ext cx="137160" cy="640080"/>
          </a:xfrm>
          <a:prstGeom prst="rect">
            <a:avLst/>
          </a:prstGeom>
          <a:solidFill>
            <a:srgbClr val="C0CDD8"/>
          </a:solidFill>
          <a:ln w="12700">
            <a:solidFill>
              <a:srgbClr val="C0CDD8"/>
            </a:solidFill>
            <a:prstDash val="solid"/>
          </a:ln>
        </p:spPr>
        <p:txBody>
          <a:bodyPr/>
          <a:lstStyle/>
          <a:p>
            <a:endParaRPr lang="en-US"/>
          </a:p>
        </p:txBody>
      </p:sp>
      <p:sp>
        <p:nvSpPr>
          <p:cNvPr id="21" name="Shape 18"/>
          <p:cNvSpPr/>
          <p:nvPr/>
        </p:nvSpPr>
        <p:spPr>
          <a:xfrm>
            <a:off x="365760" y="5166360"/>
            <a:ext cx="594360" cy="594360"/>
          </a:xfrm>
          <a:prstGeom prst="rect">
            <a:avLst/>
          </a:prstGeom>
          <a:solidFill>
            <a:srgbClr val="CC1414"/>
          </a:solidFill>
          <a:ln w="12700">
            <a:solidFill>
              <a:srgbClr val="CC1414"/>
            </a:solidFill>
            <a:prstDash val="solid"/>
          </a:ln>
        </p:spPr>
        <p:txBody>
          <a:bodyPr/>
          <a:lstStyle/>
          <a:p>
            <a:endParaRPr lang="en-US"/>
          </a:p>
        </p:txBody>
      </p:sp>
      <p:sp>
        <p:nvSpPr>
          <p:cNvPr id="22" name="Text 19"/>
          <p:cNvSpPr/>
          <p:nvPr/>
        </p:nvSpPr>
        <p:spPr>
          <a:xfrm>
            <a:off x="365760" y="5221224"/>
            <a:ext cx="594360" cy="457200"/>
          </a:xfrm>
          <a:prstGeom prst="rect">
            <a:avLst/>
          </a:prstGeom>
          <a:noFill/>
          <a:ln/>
        </p:spPr>
        <p:txBody>
          <a:bodyPr wrap="square" lIns="0" tIns="0" rIns="0" bIns="0" rtlCol="0" anchor="ctr"/>
          <a:lstStyle/>
          <a:p>
            <a:pPr marL="0" indent="0" algn="ctr">
              <a:buNone/>
            </a:pPr>
            <a:r>
              <a:rPr lang="en-US" sz="2200" b="1" dirty="0">
                <a:solidFill>
                  <a:srgbClr val="FFFFFF"/>
                </a:solidFill>
              </a:rPr>
              <a:t>4</a:t>
            </a:r>
            <a:endParaRPr lang="en-US" sz="2200" dirty="0"/>
          </a:p>
        </p:txBody>
      </p:sp>
      <p:sp>
        <p:nvSpPr>
          <p:cNvPr id="23" name="Text 20"/>
          <p:cNvSpPr/>
          <p:nvPr/>
        </p:nvSpPr>
        <p:spPr>
          <a:xfrm>
            <a:off x="1143000" y="5202936"/>
            <a:ext cx="4572000" cy="274320"/>
          </a:xfrm>
          <a:prstGeom prst="rect">
            <a:avLst/>
          </a:prstGeom>
          <a:noFill/>
          <a:ln/>
        </p:spPr>
        <p:txBody>
          <a:bodyPr wrap="square" lIns="0" tIns="0" rIns="0" bIns="0" rtlCol="0" anchor="ctr"/>
          <a:lstStyle/>
          <a:p>
            <a:pPr marL="0" indent="0">
              <a:buNone/>
            </a:pPr>
            <a:r>
              <a:rPr lang="en-US" sz="1300" b="1" dirty="0">
                <a:solidFill>
                  <a:srgbClr val="0D1F3C"/>
                </a:solidFill>
              </a:rPr>
              <a:t>Pulling &amp; Cutting</a:t>
            </a:r>
            <a:endParaRPr lang="en-US" sz="1300" dirty="0"/>
          </a:p>
        </p:txBody>
      </p:sp>
      <p:sp>
        <p:nvSpPr>
          <p:cNvPr id="24" name="Text 21"/>
          <p:cNvSpPr/>
          <p:nvPr/>
        </p:nvSpPr>
        <p:spPr>
          <a:xfrm>
            <a:off x="1143000" y="5513832"/>
            <a:ext cx="4572000" cy="777240"/>
          </a:xfrm>
          <a:prstGeom prst="rect">
            <a:avLst/>
          </a:prstGeom>
          <a:noFill/>
          <a:ln/>
        </p:spPr>
        <p:txBody>
          <a:bodyPr wrap="square" lIns="0" tIns="0" rIns="0" bIns="0" rtlCol="0" anchor="ctr"/>
          <a:lstStyle/>
          <a:p>
            <a:pPr marL="0" indent="0">
              <a:buNone/>
            </a:pPr>
            <a:r>
              <a:rPr lang="en-US" sz="1150" dirty="0">
                <a:solidFill>
                  <a:srgbClr val="4A5568"/>
                </a:solidFill>
              </a:rPr>
              <a:t>A precision puller draws the cured composite through the die at a controlled rate. A cut-off saw then cuts ties to specified lengths.</a:t>
            </a:r>
            <a:endParaRPr lang="en-US" sz="1150" dirty="0"/>
          </a:p>
        </p:txBody>
      </p:sp>
      <p:sp>
        <p:nvSpPr>
          <p:cNvPr id="25" name="Shape 22"/>
          <p:cNvSpPr/>
          <p:nvPr/>
        </p:nvSpPr>
        <p:spPr>
          <a:xfrm>
            <a:off x="6492240" y="804672"/>
            <a:ext cx="5303520" cy="5669280"/>
          </a:xfrm>
          <a:prstGeom prst="rect">
            <a:avLst/>
          </a:prstGeom>
          <a:solidFill>
            <a:srgbClr val="E8EEF4"/>
          </a:solidFill>
          <a:ln w="12700">
            <a:solidFill>
              <a:srgbClr val="D0DBE8"/>
            </a:solidFill>
            <a:prstDash val="solid"/>
          </a:ln>
        </p:spPr>
        <p:txBody>
          <a:bodyPr/>
          <a:lstStyle/>
          <a:p>
            <a:endParaRPr lang="en-US"/>
          </a:p>
        </p:txBody>
      </p:sp>
      <p:sp>
        <p:nvSpPr>
          <p:cNvPr id="26" name="Text 23"/>
          <p:cNvSpPr/>
          <p:nvPr/>
        </p:nvSpPr>
        <p:spPr>
          <a:xfrm>
            <a:off x="6583680" y="914400"/>
            <a:ext cx="5029200" cy="274320"/>
          </a:xfrm>
          <a:prstGeom prst="rect">
            <a:avLst/>
          </a:prstGeom>
          <a:noFill/>
          <a:ln/>
        </p:spPr>
        <p:txBody>
          <a:bodyPr wrap="square" lIns="0" tIns="0" rIns="0" bIns="0" rtlCol="0" anchor="ctr"/>
          <a:lstStyle/>
          <a:p>
            <a:pPr marL="0" indent="0">
              <a:buNone/>
            </a:pPr>
            <a:r>
              <a:rPr lang="en-US" sz="900" b="1" kern="0" spc="200" dirty="0">
                <a:solidFill>
                  <a:srgbClr val="CC1414"/>
                </a:solidFill>
              </a:rPr>
              <a:t>STANDARD TIE DIMENSIONS (US)</a:t>
            </a:r>
            <a:endParaRPr lang="en-US" sz="900" dirty="0"/>
          </a:p>
        </p:txBody>
      </p:sp>
      <p:graphicFrame>
        <p:nvGraphicFramePr>
          <p:cNvPr id="27" name="Table 0"/>
          <p:cNvGraphicFramePr>
            <a:graphicFrameLocks noGrp="1"/>
          </p:cNvGraphicFramePr>
          <p:nvPr>
            <p:extLst>
              <p:ext uri="{D42A27DB-BD31-4B8C-83A1-F6EECF244321}">
                <p14:modId xmlns:p14="http://schemas.microsoft.com/office/powerpoint/2010/main" val="1579011935"/>
              </p:ext>
            </p:extLst>
          </p:nvPr>
        </p:nvGraphicFramePr>
        <p:xfrm>
          <a:off x="6492240" y="1261872"/>
          <a:ext cx="5029200" cy="2084832"/>
        </p:xfrm>
        <a:graphic>
          <a:graphicData uri="http://schemas.openxmlformats.org/drawingml/2006/table">
            <a:tbl>
              <a:tblPr/>
              <a:tblGrid>
                <a:gridCol w="2057400">
                  <a:extLst>
                    <a:ext uri="{9D8B030D-6E8A-4147-A177-3AD203B41FA5}">
                      <a16:colId xmlns:a16="http://schemas.microsoft.com/office/drawing/2014/main" val="20000"/>
                    </a:ext>
                  </a:extLst>
                </a:gridCol>
                <a:gridCol w="1463040">
                  <a:extLst>
                    <a:ext uri="{9D8B030D-6E8A-4147-A177-3AD203B41FA5}">
                      <a16:colId xmlns:a16="http://schemas.microsoft.com/office/drawing/2014/main" val="20001"/>
                    </a:ext>
                  </a:extLst>
                </a:gridCol>
                <a:gridCol w="1508760">
                  <a:extLst>
                    <a:ext uri="{9D8B030D-6E8A-4147-A177-3AD203B41FA5}">
                      <a16:colId xmlns:a16="http://schemas.microsoft.com/office/drawing/2014/main" val="20002"/>
                    </a:ext>
                  </a:extLst>
                </a:gridCol>
              </a:tblGrid>
              <a:tr h="347472">
                <a:tc>
                  <a:txBody>
                    <a:bodyPr/>
                    <a:lstStyle/>
                    <a:p>
                      <a:pPr marL="0" indent="0" algn="ctr">
                        <a:buNone/>
                      </a:pPr>
                      <a:r>
                        <a:rPr lang="en-US" sz="1150" b="1" dirty="0">
                          <a:solidFill>
                            <a:srgbClr val="0D1F3C"/>
                          </a:solidFill>
                        </a:rPr>
                        <a:t>Length</a:t>
                      </a:r>
                      <a:endParaRPr lang="en-US" sz="1150" dirty="0"/>
                    </a:p>
                  </a:txBody>
                  <a:tcPr>
                    <a:lnL w="6350" cap="flat" cmpd="sng" algn="ctr">
                      <a:solidFill>
                        <a:srgbClr val="B8CCE0"/>
                      </a:solidFill>
                      <a:prstDash val="solid"/>
                      <a:round/>
                      <a:headEnd type="none" w="med" len="med"/>
                      <a:tailEnd type="none" w="med" len="med"/>
                    </a:lnL>
                    <a:lnR w="6350" cap="flat" cmpd="sng" algn="ctr">
                      <a:solidFill>
                        <a:srgbClr val="B8CCE0"/>
                      </a:solidFill>
                      <a:prstDash val="solid"/>
                      <a:round/>
                      <a:headEnd type="none" w="med" len="med"/>
                      <a:tailEnd type="none" w="med" len="med"/>
                    </a:lnR>
                    <a:lnT w="6350" cap="flat" cmpd="sng" algn="ctr">
                      <a:solidFill>
                        <a:srgbClr val="B8CCE0"/>
                      </a:solidFill>
                      <a:prstDash val="solid"/>
                      <a:round/>
                      <a:headEnd type="none" w="med" len="med"/>
                      <a:tailEnd type="none" w="med" len="med"/>
                    </a:lnT>
                    <a:lnB w="6350" cap="flat" cmpd="sng" algn="ctr">
                      <a:solidFill>
                        <a:srgbClr val="B8CCE0"/>
                      </a:solidFill>
                      <a:prstDash val="solid"/>
                      <a:round/>
                      <a:headEnd type="none" w="med" len="med"/>
                      <a:tailEnd type="none" w="med" len="med"/>
                    </a:lnB>
                    <a:solidFill>
                      <a:srgbClr val="D4E1EE"/>
                    </a:solidFill>
                  </a:tcPr>
                </a:tc>
                <a:tc>
                  <a:txBody>
                    <a:bodyPr/>
                    <a:lstStyle/>
                    <a:p>
                      <a:pPr marL="0" indent="0" algn="ctr">
                        <a:buNone/>
                      </a:pPr>
                      <a:r>
                        <a:rPr lang="en-US" sz="1150" b="1" dirty="0">
                          <a:solidFill>
                            <a:srgbClr val="0D1F3C"/>
                          </a:solidFill>
                        </a:rPr>
                        <a:t>Width</a:t>
                      </a:r>
                      <a:endParaRPr lang="en-US" sz="1150" dirty="0"/>
                    </a:p>
                  </a:txBody>
                  <a:tcPr>
                    <a:lnL w="6350" cap="flat" cmpd="sng" algn="ctr">
                      <a:solidFill>
                        <a:srgbClr val="B8CCE0"/>
                      </a:solidFill>
                      <a:prstDash val="solid"/>
                      <a:round/>
                      <a:headEnd type="none" w="med" len="med"/>
                      <a:tailEnd type="none" w="med" len="med"/>
                    </a:lnL>
                    <a:lnR w="6350" cap="flat" cmpd="sng" algn="ctr">
                      <a:solidFill>
                        <a:srgbClr val="B8CCE0"/>
                      </a:solidFill>
                      <a:prstDash val="solid"/>
                      <a:round/>
                      <a:headEnd type="none" w="med" len="med"/>
                      <a:tailEnd type="none" w="med" len="med"/>
                    </a:lnR>
                    <a:lnT w="6350" cap="flat" cmpd="sng" algn="ctr">
                      <a:solidFill>
                        <a:srgbClr val="B8CCE0"/>
                      </a:solidFill>
                      <a:prstDash val="solid"/>
                      <a:round/>
                      <a:headEnd type="none" w="med" len="med"/>
                      <a:tailEnd type="none" w="med" len="med"/>
                    </a:lnT>
                    <a:lnB w="6350" cap="flat" cmpd="sng" algn="ctr">
                      <a:solidFill>
                        <a:srgbClr val="B8CCE0"/>
                      </a:solidFill>
                      <a:prstDash val="solid"/>
                      <a:round/>
                      <a:headEnd type="none" w="med" len="med"/>
                      <a:tailEnd type="none" w="med" len="med"/>
                    </a:lnB>
                    <a:solidFill>
                      <a:srgbClr val="D4E1EE"/>
                    </a:solidFill>
                  </a:tcPr>
                </a:tc>
                <a:tc>
                  <a:txBody>
                    <a:bodyPr/>
                    <a:lstStyle/>
                    <a:p>
                      <a:pPr marL="0" indent="0" algn="ctr">
                        <a:buNone/>
                      </a:pPr>
                      <a:r>
                        <a:rPr lang="en-US" sz="1150" b="1" dirty="0">
                          <a:solidFill>
                            <a:srgbClr val="0D1F3C"/>
                          </a:solidFill>
                        </a:rPr>
                        <a:t>Depth</a:t>
                      </a:r>
                      <a:endParaRPr lang="en-US" sz="1150" dirty="0"/>
                    </a:p>
                  </a:txBody>
                  <a:tcPr>
                    <a:lnL w="6350" cap="flat" cmpd="sng" algn="ctr">
                      <a:solidFill>
                        <a:srgbClr val="B8CCE0"/>
                      </a:solidFill>
                      <a:prstDash val="solid"/>
                      <a:round/>
                      <a:headEnd type="none" w="med" len="med"/>
                      <a:tailEnd type="none" w="med" len="med"/>
                    </a:lnL>
                    <a:lnR w="6350" cap="flat" cmpd="sng" algn="ctr">
                      <a:solidFill>
                        <a:srgbClr val="B8CCE0"/>
                      </a:solidFill>
                      <a:prstDash val="solid"/>
                      <a:round/>
                      <a:headEnd type="none" w="med" len="med"/>
                      <a:tailEnd type="none" w="med" len="med"/>
                    </a:lnR>
                    <a:lnT w="6350" cap="flat" cmpd="sng" algn="ctr">
                      <a:solidFill>
                        <a:srgbClr val="B8CCE0"/>
                      </a:solidFill>
                      <a:prstDash val="solid"/>
                      <a:round/>
                      <a:headEnd type="none" w="med" len="med"/>
                      <a:tailEnd type="none" w="med" len="med"/>
                    </a:lnT>
                    <a:lnB w="6350" cap="flat" cmpd="sng" algn="ctr">
                      <a:solidFill>
                        <a:srgbClr val="B8CCE0"/>
                      </a:solidFill>
                      <a:prstDash val="solid"/>
                      <a:round/>
                      <a:headEnd type="none" w="med" len="med"/>
                      <a:tailEnd type="none" w="med" len="med"/>
                    </a:lnB>
                    <a:solidFill>
                      <a:srgbClr val="D4E1EE"/>
                    </a:solidFill>
                  </a:tcPr>
                </a:tc>
                <a:extLst>
                  <a:ext uri="{0D108BD9-81ED-4DB2-BD59-A6C34878D82A}">
                    <a16:rowId xmlns:a16="http://schemas.microsoft.com/office/drawing/2014/main" val="10000"/>
                  </a:ext>
                </a:extLst>
              </a:tr>
              <a:tr h="347472">
                <a:tc>
                  <a:txBody>
                    <a:bodyPr/>
                    <a:lstStyle/>
                    <a:p>
                      <a:pPr marL="0" indent="0" algn="ctr">
                        <a:buNone/>
                      </a:pPr>
                      <a:r>
                        <a:rPr lang="en-US" sz="1150" dirty="0">
                          <a:solidFill>
                            <a:srgbClr val="4A5568"/>
                          </a:solidFill>
                        </a:rPr>
                        <a:t>94.5 in (2,400 mm)</a:t>
                      </a:r>
                      <a:endParaRPr lang="en-US" sz="1150" dirty="0"/>
                    </a:p>
                  </a:txBody>
                  <a:tcPr>
                    <a:lnL w="6350" cap="flat" cmpd="sng" algn="ctr">
                      <a:solidFill>
                        <a:srgbClr val="B8CCE0"/>
                      </a:solidFill>
                      <a:prstDash val="solid"/>
                      <a:round/>
                      <a:headEnd type="none" w="med" len="med"/>
                      <a:tailEnd type="none" w="med" len="med"/>
                    </a:lnL>
                    <a:lnR w="6350" cap="flat" cmpd="sng" algn="ctr">
                      <a:solidFill>
                        <a:srgbClr val="B8CCE0"/>
                      </a:solidFill>
                      <a:prstDash val="solid"/>
                      <a:round/>
                      <a:headEnd type="none" w="med" len="med"/>
                      <a:tailEnd type="none" w="med" len="med"/>
                    </a:lnR>
                    <a:lnT w="6350" cap="flat" cmpd="sng" algn="ctr">
                      <a:solidFill>
                        <a:srgbClr val="B8CCE0"/>
                      </a:solidFill>
                      <a:prstDash val="solid"/>
                      <a:round/>
                      <a:headEnd type="none" w="med" len="med"/>
                      <a:tailEnd type="none" w="med" len="med"/>
                    </a:lnT>
                    <a:lnB w="6350" cap="flat" cmpd="sng" algn="ctr">
                      <a:solidFill>
                        <a:srgbClr val="B8CCE0"/>
                      </a:solidFill>
                      <a:prstDash val="solid"/>
                      <a:round/>
                      <a:headEnd type="none" w="med" len="med"/>
                      <a:tailEnd type="none" w="med" len="med"/>
                    </a:lnB>
                    <a:solidFill>
                      <a:srgbClr val="E8EEF4"/>
                    </a:solidFill>
                  </a:tcPr>
                </a:tc>
                <a:tc>
                  <a:txBody>
                    <a:bodyPr/>
                    <a:lstStyle/>
                    <a:p>
                      <a:pPr marL="0" indent="0" algn="ctr">
                        <a:buNone/>
                      </a:pPr>
                      <a:r>
                        <a:rPr lang="en-US" sz="1150" dirty="0">
                          <a:solidFill>
                            <a:srgbClr val="4A5568"/>
                          </a:solidFill>
                        </a:rPr>
                        <a:t>9.06 in (230 mm)</a:t>
                      </a:r>
                      <a:endParaRPr lang="en-US" sz="1150" dirty="0"/>
                    </a:p>
                  </a:txBody>
                  <a:tcPr>
                    <a:lnL w="6350" cap="flat" cmpd="sng" algn="ctr">
                      <a:solidFill>
                        <a:srgbClr val="B8CCE0"/>
                      </a:solidFill>
                      <a:prstDash val="solid"/>
                      <a:round/>
                      <a:headEnd type="none" w="med" len="med"/>
                      <a:tailEnd type="none" w="med" len="med"/>
                    </a:lnL>
                    <a:lnR w="6350" cap="flat" cmpd="sng" algn="ctr">
                      <a:solidFill>
                        <a:srgbClr val="B8CCE0"/>
                      </a:solidFill>
                      <a:prstDash val="solid"/>
                      <a:round/>
                      <a:headEnd type="none" w="med" len="med"/>
                      <a:tailEnd type="none" w="med" len="med"/>
                    </a:lnR>
                    <a:lnT w="6350" cap="flat" cmpd="sng" algn="ctr">
                      <a:solidFill>
                        <a:srgbClr val="B8CCE0"/>
                      </a:solidFill>
                      <a:prstDash val="solid"/>
                      <a:round/>
                      <a:headEnd type="none" w="med" len="med"/>
                      <a:tailEnd type="none" w="med" len="med"/>
                    </a:lnT>
                    <a:lnB w="6350" cap="flat" cmpd="sng" algn="ctr">
                      <a:solidFill>
                        <a:srgbClr val="B8CCE0"/>
                      </a:solidFill>
                      <a:prstDash val="solid"/>
                      <a:round/>
                      <a:headEnd type="none" w="med" len="med"/>
                      <a:tailEnd type="none" w="med" len="med"/>
                    </a:lnB>
                    <a:solidFill>
                      <a:srgbClr val="E8EEF4"/>
                    </a:solidFill>
                  </a:tcPr>
                </a:tc>
                <a:tc>
                  <a:txBody>
                    <a:bodyPr/>
                    <a:lstStyle/>
                    <a:p>
                      <a:pPr marL="0" indent="0" algn="ctr">
                        <a:buNone/>
                      </a:pPr>
                      <a:r>
                        <a:rPr lang="en-US" sz="1150" dirty="0">
                          <a:solidFill>
                            <a:srgbClr val="4A5568"/>
                          </a:solidFill>
                        </a:rPr>
                        <a:t>5.51 in (140 mm)</a:t>
                      </a:r>
                      <a:endParaRPr lang="en-US" sz="1150" dirty="0"/>
                    </a:p>
                  </a:txBody>
                  <a:tcPr>
                    <a:lnL w="6350" cap="flat" cmpd="sng" algn="ctr">
                      <a:solidFill>
                        <a:srgbClr val="B8CCE0"/>
                      </a:solidFill>
                      <a:prstDash val="solid"/>
                      <a:round/>
                      <a:headEnd type="none" w="med" len="med"/>
                      <a:tailEnd type="none" w="med" len="med"/>
                    </a:lnL>
                    <a:lnR w="6350" cap="flat" cmpd="sng" algn="ctr">
                      <a:solidFill>
                        <a:srgbClr val="B8CCE0"/>
                      </a:solidFill>
                      <a:prstDash val="solid"/>
                      <a:round/>
                      <a:headEnd type="none" w="med" len="med"/>
                      <a:tailEnd type="none" w="med" len="med"/>
                    </a:lnR>
                    <a:lnT w="6350" cap="flat" cmpd="sng" algn="ctr">
                      <a:solidFill>
                        <a:srgbClr val="B8CCE0"/>
                      </a:solidFill>
                      <a:prstDash val="solid"/>
                      <a:round/>
                      <a:headEnd type="none" w="med" len="med"/>
                      <a:tailEnd type="none" w="med" len="med"/>
                    </a:lnT>
                    <a:lnB w="6350" cap="flat" cmpd="sng" algn="ctr">
                      <a:solidFill>
                        <a:srgbClr val="B8CCE0"/>
                      </a:solidFill>
                      <a:prstDash val="solid"/>
                      <a:round/>
                      <a:headEnd type="none" w="med" len="med"/>
                      <a:tailEnd type="none" w="med" len="med"/>
                    </a:lnB>
                    <a:solidFill>
                      <a:srgbClr val="E8EEF4"/>
                    </a:solidFill>
                  </a:tcPr>
                </a:tc>
                <a:extLst>
                  <a:ext uri="{0D108BD9-81ED-4DB2-BD59-A6C34878D82A}">
                    <a16:rowId xmlns:a16="http://schemas.microsoft.com/office/drawing/2014/main" val="10001"/>
                  </a:ext>
                </a:extLst>
              </a:tr>
              <a:tr h="347472">
                <a:tc>
                  <a:txBody>
                    <a:bodyPr/>
                    <a:lstStyle/>
                    <a:p>
                      <a:pPr marL="0" indent="0" algn="ctr">
                        <a:buNone/>
                      </a:pPr>
                      <a:r>
                        <a:rPr lang="en-US" sz="1150" dirty="0">
                          <a:solidFill>
                            <a:srgbClr val="4A5568"/>
                          </a:solidFill>
                        </a:rPr>
                        <a:t>98.4 in (2,500 mm)</a:t>
                      </a:r>
                      <a:endParaRPr lang="en-US" sz="1150" dirty="0"/>
                    </a:p>
                  </a:txBody>
                  <a:tcPr>
                    <a:lnL w="6350" cap="flat" cmpd="sng" algn="ctr">
                      <a:solidFill>
                        <a:srgbClr val="B8CCE0"/>
                      </a:solidFill>
                      <a:prstDash val="solid"/>
                      <a:round/>
                      <a:headEnd type="none" w="med" len="med"/>
                      <a:tailEnd type="none" w="med" len="med"/>
                    </a:lnL>
                    <a:lnR w="6350" cap="flat" cmpd="sng" algn="ctr">
                      <a:solidFill>
                        <a:srgbClr val="B8CCE0"/>
                      </a:solidFill>
                      <a:prstDash val="solid"/>
                      <a:round/>
                      <a:headEnd type="none" w="med" len="med"/>
                      <a:tailEnd type="none" w="med" len="med"/>
                    </a:lnR>
                    <a:lnT w="6350" cap="flat" cmpd="sng" algn="ctr">
                      <a:solidFill>
                        <a:srgbClr val="B8CCE0"/>
                      </a:solidFill>
                      <a:prstDash val="solid"/>
                      <a:round/>
                      <a:headEnd type="none" w="med" len="med"/>
                      <a:tailEnd type="none" w="med" len="med"/>
                    </a:lnT>
                    <a:lnB w="6350" cap="flat" cmpd="sng" algn="ctr">
                      <a:solidFill>
                        <a:srgbClr val="B8CCE0"/>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4A5568"/>
                          </a:solidFill>
                        </a:rPr>
                        <a:t>9.06 in (230 mm)</a:t>
                      </a:r>
                      <a:endParaRPr lang="en-US" sz="1150" dirty="0"/>
                    </a:p>
                  </a:txBody>
                  <a:tcPr>
                    <a:lnL w="6350" cap="flat" cmpd="sng" algn="ctr">
                      <a:solidFill>
                        <a:srgbClr val="B8CCE0"/>
                      </a:solidFill>
                      <a:prstDash val="solid"/>
                      <a:round/>
                      <a:headEnd type="none" w="med" len="med"/>
                      <a:tailEnd type="none" w="med" len="med"/>
                    </a:lnL>
                    <a:lnR w="6350" cap="flat" cmpd="sng" algn="ctr">
                      <a:solidFill>
                        <a:srgbClr val="B8CCE0"/>
                      </a:solidFill>
                      <a:prstDash val="solid"/>
                      <a:round/>
                      <a:headEnd type="none" w="med" len="med"/>
                      <a:tailEnd type="none" w="med" len="med"/>
                    </a:lnR>
                    <a:lnT w="6350" cap="flat" cmpd="sng" algn="ctr">
                      <a:solidFill>
                        <a:srgbClr val="B8CCE0"/>
                      </a:solidFill>
                      <a:prstDash val="solid"/>
                      <a:round/>
                      <a:headEnd type="none" w="med" len="med"/>
                      <a:tailEnd type="none" w="med" len="med"/>
                    </a:lnT>
                    <a:lnB w="6350" cap="flat" cmpd="sng" algn="ctr">
                      <a:solidFill>
                        <a:srgbClr val="B8CCE0"/>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4A5568"/>
                          </a:solidFill>
                        </a:rPr>
                        <a:t>5.51 in (140 mm)</a:t>
                      </a:r>
                      <a:endParaRPr lang="en-US" sz="1150" dirty="0"/>
                    </a:p>
                  </a:txBody>
                  <a:tcPr>
                    <a:lnL w="6350" cap="flat" cmpd="sng" algn="ctr">
                      <a:solidFill>
                        <a:srgbClr val="B8CCE0"/>
                      </a:solidFill>
                      <a:prstDash val="solid"/>
                      <a:round/>
                      <a:headEnd type="none" w="med" len="med"/>
                      <a:tailEnd type="none" w="med" len="med"/>
                    </a:lnL>
                    <a:lnR w="6350" cap="flat" cmpd="sng" algn="ctr">
                      <a:solidFill>
                        <a:srgbClr val="B8CCE0"/>
                      </a:solidFill>
                      <a:prstDash val="solid"/>
                      <a:round/>
                      <a:headEnd type="none" w="med" len="med"/>
                      <a:tailEnd type="none" w="med" len="med"/>
                    </a:lnR>
                    <a:lnT w="6350" cap="flat" cmpd="sng" algn="ctr">
                      <a:solidFill>
                        <a:srgbClr val="B8CCE0"/>
                      </a:solidFill>
                      <a:prstDash val="solid"/>
                      <a:round/>
                      <a:headEnd type="none" w="med" len="med"/>
                      <a:tailEnd type="none" w="med" len="med"/>
                    </a:lnT>
                    <a:lnB w="6350" cap="flat" cmpd="sng" algn="ctr">
                      <a:solidFill>
                        <a:srgbClr val="B8CCE0"/>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47472">
                <a:tc>
                  <a:txBody>
                    <a:bodyPr/>
                    <a:lstStyle/>
                    <a:p>
                      <a:pPr marL="0" indent="0" algn="ctr">
                        <a:buNone/>
                      </a:pPr>
                      <a:r>
                        <a:rPr lang="en-US" sz="1150" dirty="0">
                          <a:solidFill>
                            <a:srgbClr val="4A5568"/>
                          </a:solidFill>
                        </a:rPr>
                        <a:t>102.4 in (2,600 mm)</a:t>
                      </a:r>
                      <a:endParaRPr lang="en-US" sz="1150" dirty="0"/>
                    </a:p>
                  </a:txBody>
                  <a:tcPr>
                    <a:lnL w="6350" cap="flat" cmpd="sng" algn="ctr">
                      <a:solidFill>
                        <a:srgbClr val="B8CCE0"/>
                      </a:solidFill>
                      <a:prstDash val="solid"/>
                      <a:round/>
                      <a:headEnd type="none" w="med" len="med"/>
                      <a:tailEnd type="none" w="med" len="med"/>
                    </a:lnL>
                    <a:lnR w="6350" cap="flat" cmpd="sng" algn="ctr">
                      <a:solidFill>
                        <a:srgbClr val="B8CCE0"/>
                      </a:solidFill>
                      <a:prstDash val="solid"/>
                      <a:round/>
                      <a:headEnd type="none" w="med" len="med"/>
                      <a:tailEnd type="none" w="med" len="med"/>
                    </a:lnR>
                    <a:lnT w="6350" cap="flat" cmpd="sng" algn="ctr">
                      <a:solidFill>
                        <a:srgbClr val="B8CCE0"/>
                      </a:solidFill>
                      <a:prstDash val="solid"/>
                      <a:round/>
                      <a:headEnd type="none" w="med" len="med"/>
                      <a:tailEnd type="none" w="med" len="med"/>
                    </a:lnT>
                    <a:lnB w="6350" cap="flat" cmpd="sng" algn="ctr">
                      <a:solidFill>
                        <a:srgbClr val="B8CCE0"/>
                      </a:solidFill>
                      <a:prstDash val="solid"/>
                      <a:round/>
                      <a:headEnd type="none" w="med" len="med"/>
                      <a:tailEnd type="none" w="med" len="med"/>
                    </a:lnB>
                    <a:solidFill>
                      <a:srgbClr val="E8EEF4"/>
                    </a:solidFill>
                  </a:tcPr>
                </a:tc>
                <a:tc>
                  <a:txBody>
                    <a:bodyPr/>
                    <a:lstStyle/>
                    <a:p>
                      <a:pPr marL="0" indent="0" algn="ctr">
                        <a:buNone/>
                      </a:pPr>
                      <a:r>
                        <a:rPr lang="en-US" sz="1150" dirty="0">
                          <a:solidFill>
                            <a:srgbClr val="4A5568"/>
                          </a:solidFill>
                        </a:rPr>
                        <a:t>9.06 in (230 mm)</a:t>
                      </a:r>
                      <a:endParaRPr lang="en-US" sz="1150" dirty="0"/>
                    </a:p>
                  </a:txBody>
                  <a:tcPr>
                    <a:lnL w="6350" cap="flat" cmpd="sng" algn="ctr">
                      <a:solidFill>
                        <a:srgbClr val="B8CCE0"/>
                      </a:solidFill>
                      <a:prstDash val="solid"/>
                      <a:round/>
                      <a:headEnd type="none" w="med" len="med"/>
                      <a:tailEnd type="none" w="med" len="med"/>
                    </a:lnL>
                    <a:lnR w="6350" cap="flat" cmpd="sng" algn="ctr">
                      <a:solidFill>
                        <a:srgbClr val="B8CCE0"/>
                      </a:solidFill>
                      <a:prstDash val="solid"/>
                      <a:round/>
                      <a:headEnd type="none" w="med" len="med"/>
                      <a:tailEnd type="none" w="med" len="med"/>
                    </a:lnR>
                    <a:lnT w="6350" cap="flat" cmpd="sng" algn="ctr">
                      <a:solidFill>
                        <a:srgbClr val="B8CCE0"/>
                      </a:solidFill>
                      <a:prstDash val="solid"/>
                      <a:round/>
                      <a:headEnd type="none" w="med" len="med"/>
                      <a:tailEnd type="none" w="med" len="med"/>
                    </a:lnT>
                    <a:lnB w="6350" cap="flat" cmpd="sng" algn="ctr">
                      <a:solidFill>
                        <a:srgbClr val="B8CCE0"/>
                      </a:solidFill>
                      <a:prstDash val="solid"/>
                      <a:round/>
                      <a:headEnd type="none" w="med" len="med"/>
                      <a:tailEnd type="none" w="med" len="med"/>
                    </a:lnB>
                    <a:solidFill>
                      <a:srgbClr val="E8EEF4"/>
                    </a:solidFill>
                  </a:tcPr>
                </a:tc>
                <a:tc>
                  <a:txBody>
                    <a:bodyPr/>
                    <a:lstStyle/>
                    <a:p>
                      <a:pPr marL="0" indent="0" algn="ctr">
                        <a:buNone/>
                      </a:pPr>
                      <a:r>
                        <a:rPr lang="en-US" sz="1150" dirty="0">
                          <a:solidFill>
                            <a:srgbClr val="4A5568"/>
                          </a:solidFill>
                        </a:rPr>
                        <a:t>5.51 in (140 mm)</a:t>
                      </a:r>
                      <a:endParaRPr lang="en-US" sz="1150" dirty="0"/>
                    </a:p>
                  </a:txBody>
                  <a:tcPr>
                    <a:lnL w="6350" cap="flat" cmpd="sng" algn="ctr">
                      <a:solidFill>
                        <a:srgbClr val="B8CCE0"/>
                      </a:solidFill>
                      <a:prstDash val="solid"/>
                      <a:round/>
                      <a:headEnd type="none" w="med" len="med"/>
                      <a:tailEnd type="none" w="med" len="med"/>
                    </a:lnL>
                    <a:lnR w="6350" cap="flat" cmpd="sng" algn="ctr">
                      <a:solidFill>
                        <a:srgbClr val="B8CCE0"/>
                      </a:solidFill>
                      <a:prstDash val="solid"/>
                      <a:round/>
                      <a:headEnd type="none" w="med" len="med"/>
                      <a:tailEnd type="none" w="med" len="med"/>
                    </a:lnR>
                    <a:lnT w="6350" cap="flat" cmpd="sng" algn="ctr">
                      <a:solidFill>
                        <a:srgbClr val="B8CCE0"/>
                      </a:solidFill>
                      <a:prstDash val="solid"/>
                      <a:round/>
                      <a:headEnd type="none" w="med" len="med"/>
                      <a:tailEnd type="none" w="med" len="med"/>
                    </a:lnT>
                    <a:lnB w="6350" cap="flat" cmpd="sng" algn="ctr">
                      <a:solidFill>
                        <a:srgbClr val="B8CCE0"/>
                      </a:solidFill>
                      <a:prstDash val="solid"/>
                      <a:round/>
                      <a:headEnd type="none" w="med" len="med"/>
                      <a:tailEnd type="none" w="med" len="med"/>
                    </a:lnB>
                    <a:solidFill>
                      <a:srgbClr val="E8EEF4"/>
                    </a:solidFill>
                  </a:tcPr>
                </a:tc>
                <a:extLst>
                  <a:ext uri="{0D108BD9-81ED-4DB2-BD59-A6C34878D82A}">
                    <a16:rowId xmlns:a16="http://schemas.microsoft.com/office/drawing/2014/main" val="10003"/>
                  </a:ext>
                </a:extLst>
              </a:tr>
              <a:tr h="347472">
                <a:tc>
                  <a:txBody>
                    <a:bodyPr/>
                    <a:lstStyle/>
                    <a:p>
                      <a:pPr marL="0" indent="0" algn="ctr">
                        <a:buNone/>
                      </a:pPr>
                      <a:r>
                        <a:rPr lang="en-US" sz="1150" dirty="0">
                          <a:solidFill>
                            <a:srgbClr val="4A5568"/>
                          </a:solidFill>
                        </a:rPr>
                        <a:t>110.2 in (2,800 mm)</a:t>
                      </a:r>
                      <a:endParaRPr lang="en-US" sz="1150" dirty="0"/>
                    </a:p>
                  </a:txBody>
                  <a:tcPr>
                    <a:lnL w="6350" cap="flat" cmpd="sng" algn="ctr">
                      <a:solidFill>
                        <a:srgbClr val="B8CCE0"/>
                      </a:solidFill>
                      <a:prstDash val="solid"/>
                      <a:round/>
                      <a:headEnd type="none" w="med" len="med"/>
                      <a:tailEnd type="none" w="med" len="med"/>
                    </a:lnL>
                    <a:lnR w="6350" cap="flat" cmpd="sng" algn="ctr">
                      <a:solidFill>
                        <a:srgbClr val="B8CCE0"/>
                      </a:solidFill>
                      <a:prstDash val="solid"/>
                      <a:round/>
                      <a:headEnd type="none" w="med" len="med"/>
                      <a:tailEnd type="none" w="med" len="med"/>
                    </a:lnR>
                    <a:lnT w="6350" cap="flat" cmpd="sng" algn="ctr">
                      <a:solidFill>
                        <a:srgbClr val="B8CCE0"/>
                      </a:solidFill>
                      <a:prstDash val="solid"/>
                      <a:round/>
                      <a:headEnd type="none" w="med" len="med"/>
                      <a:tailEnd type="none" w="med" len="med"/>
                    </a:lnT>
                    <a:lnB w="6350" cap="flat" cmpd="sng" algn="ctr">
                      <a:solidFill>
                        <a:srgbClr val="B8CCE0"/>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4A5568"/>
                          </a:solidFill>
                        </a:rPr>
                        <a:t>9.06 in (230 mm)</a:t>
                      </a:r>
                      <a:endParaRPr lang="en-US" sz="1150" dirty="0"/>
                    </a:p>
                  </a:txBody>
                  <a:tcPr>
                    <a:lnL w="6350" cap="flat" cmpd="sng" algn="ctr">
                      <a:solidFill>
                        <a:srgbClr val="B8CCE0"/>
                      </a:solidFill>
                      <a:prstDash val="solid"/>
                      <a:round/>
                      <a:headEnd type="none" w="med" len="med"/>
                      <a:tailEnd type="none" w="med" len="med"/>
                    </a:lnL>
                    <a:lnR w="6350" cap="flat" cmpd="sng" algn="ctr">
                      <a:solidFill>
                        <a:srgbClr val="B8CCE0"/>
                      </a:solidFill>
                      <a:prstDash val="solid"/>
                      <a:round/>
                      <a:headEnd type="none" w="med" len="med"/>
                      <a:tailEnd type="none" w="med" len="med"/>
                    </a:lnR>
                    <a:lnT w="6350" cap="flat" cmpd="sng" algn="ctr">
                      <a:solidFill>
                        <a:srgbClr val="B8CCE0"/>
                      </a:solidFill>
                      <a:prstDash val="solid"/>
                      <a:round/>
                      <a:headEnd type="none" w="med" len="med"/>
                      <a:tailEnd type="none" w="med" len="med"/>
                    </a:lnT>
                    <a:lnB w="6350" cap="flat" cmpd="sng" algn="ctr">
                      <a:solidFill>
                        <a:srgbClr val="B8CCE0"/>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4A5568"/>
                          </a:solidFill>
                        </a:rPr>
                        <a:t>5.51 in (140 mm)</a:t>
                      </a:r>
                      <a:endParaRPr lang="en-US" sz="1150" dirty="0"/>
                    </a:p>
                  </a:txBody>
                  <a:tcPr>
                    <a:lnL w="6350" cap="flat" cmpd="sng" algn="ctr">
                      <a:solidFill>
                        <a:srgbClr val="B8CCE0"/>
                      </a:solidFill>
                      <a:prstDash val="solid"/>
                      <a:round/>
                      <a:headEnd type="none" w="med" len="med"/>
                      <a:tailEnd type="none" w="med" len="med"/>
                    </a:lnL>
                    <a:lnR w="6350" cap="flat" cmpd="sng" algn="ctr">
                      <a:solidFill>
                        <a:srgbClr val="B8CCE0"/>
                      </a:solidFill>
                      <a:prstDash val="solid"/>
                      <a:round/>
                      <a:headEnd type="none" w="med" len="med"/>
                      <a:tailEnd type="none" w="med" len="med"/>
                    </a:lnR>
                    <a:lnT w="6350" cap="flat" cmpd="sng" algn="ctr">
                      <a:solidFill>
                        <a:srgbClr val="B8CCE0"/>
                      </a:solidFill>
                      <a:prstDash val="solid"/>
                      <a:round/>
                      <a:headEnd type="none" w="med" len="med"/>
                      <a:tailEnd type="none" w="med" len="med"/>
                    </a:lnT>
                    <a:lnB w="6350" cap="flat" cmpd="sng" algn="ctr">
                      <a:solidFill>
                        <a:srgbClr val="B8CCE0"/>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47472">
                <a:tc>
                  <a:txBody>
                    <a:bodyPr/>
                    <a:lstStyle/>
                    <a:p>
                      <a:pPr marL="0" indent="0" algn="ctr">
                        <a:buNone/>
                      </a:pPr>
                      <a:r>
                        <a:rPr lang="en-US" sz="1150" dirty="0">
                          <a:solidFill>
                            <a:srgbClr val="4A5568"/>
                          </a:solidFill>
                        </a:rPr>
                        <a:t>118.1 in (3,000 mm)</a:t>
                      </a:r>
                      <a:endParaRPr lang="en-US" sz="1150" dirty="0"/>
                    </a:p>
                  </a:txBody>
                  <a:tcPr>
                    <a:lnL w="6350" cap="flat" cmpd="sng" algn="ctr">
                      <a:solidFill>
                        <a:srgbClr val="B8CCE0"/>
                      </a:solidFill>
                      <a:prstDash val="solid"/>
                      <a:round/>
                      <a:headEnd type="none" w="med" len="med"/>
                      <a:tailEnd type="none" w="med" len="med"/>
                    </a:lnL>
                    <a:lnR w="6350" cap="flat" cmpd="sng" algn="ctr">
                      <a:solidFill>
                        <a:srgbClr val="B8CCE0"/>
                      </a:solidFill>
                      <a:prstDash val="solid"/>
                      <a:round/>
                      <a:headEnd type="none" w="med" len="med"/>
                      <a:tailEnd type="none" w="med" len="med"/>
                    </a:lnR>
                    <a:lnT w="6350" cap="flat" cmpd="sng" algn="ctr">
                      <a:solidFill>
                        <a:srgbClr val="B8CCE0"/>
                      </a:solidFill>
                      <a:prstDash val="solid"/>
                      <a:round/>
                      <a:headEnd type="none" w="med" len="med"/>
                      <a:tailEnd type="none" w="med" len="med"/>
                    </a:lnT>
                    <a:lnB w="6350" cap="flat" cmpd="sng" algn="ctr">
                      <a:solidFill>
                        <a:srgbClr val="B8CCE0"/>
                      </a:solidFill>
                      <a:prstDash val="solid"/>
                      <a:round/>
                      <a:headEnd type="none" w="med" len="med"/>
                      <a:tailEnd type="none" w="med" len="med"/>
                    </a:lnB>
                    <a:solidFill>
                      <a:srgbClr val="E8EEF4"/>
                    </a:solidFill>
                  </a:tcPr>
                </a:tc>
                <a:tc>
                  <a:txBody>
                    <a:bodyPr/>
                    <a:lstStyle/>
                    <a:p>
                      <a:pPr marL="0" indent="0" algn="ctr">
                        <a:buNone/>
                      </a:pPr>
                      <a:r>
                        <a:rPr lang="en-US" sz="1150" dirty="0">
                          <a:solidFill>
                            <a:srgbClr val="4A5568"/>
                          </a:solidFill>
                        </a:rPr>
                        <a:t>9.06 in (230 mm)</a:t>
                      </a:r>
                      <a:endParaRPr lang="en-US" sz="1150" dirty="0"/>
                    </a:p>
                  </a:txBody>
                  <a:tcPr>
                    <a:lnL w="6350" cap="flat" cmpd="sng" algn="ctr">
                      <a:solidFill>
                        <a:srgbClr val="B8CCE0"/>
                      </a:solidFill>
                      <a:prstDash val="solid"/>
                      <a:round/>
                      <a:headEnd type="none" w="med" len="med"/>
                      <a:tailEnd type="none" w="med" len="med"/>
                    </a:lnL>
                    <a:lnR w="6350" cap="flat" cmpd="sng" algn="ctr">
                      <a:solidFill>
                        <a:srgbClr val="B8CCE0"/>
                      </a:solidFill>
                      <a:prstDash val="solid"/>
                      <a:round/>
                      <a:headEnd type="none" w="med" len="med"/>
                      <a:tailEnd type="none" w="med" len="med"/>
                    </a:lnR>
                    <a:lnT w="6350" cap="flat" cmpd="sng" algn="ctr">
                      <a:solidFill>
                        <a:srgbClr val="B8CCE0"/>
                      </a:solidFill>
                      <a:prstDash val="solid"/>
                      <a:round/>
                      <a:headEnd type="none" w="med" len="med"/>
                      <a:tailEnd type="none" w="med" len="med"/>
                    </a:lnT>
                    <a:lnB w="6350" cap="flat" cmpd="sng" algn="ctr">
                      <a:solidFill>
                        <a:srgbClr val="B8CCE0"/>
                      </a:solidFill>
                      <a:prstDash val="solid"/>
                      <a:round/>
                      <a:headEnd type="none" w="med" len="med"/>
                      <a:tailEnd type="none" w="med" len="med"/>
                    </a:lnB>
                    <a:solidFill>
                      <a:srgbClr val="E8EEF4"/>
                    </a:solidFill>
                  </a:tcPr>
                </a:tc>
                <a:tc>
                  <a:txBody>
                    <a:bodyPr/>
                    <a:lstStyle/>
                    <a:p>
                      <a:pPr marL="0" indent="0" algn="ctr">
                        <a:buNone/>
                      </a:pPr>
                      <a:r>
                        <a:rPr lang="en-US" sz="1150" dirty="0">
                          <a:solidFill>
                            <a:srgbClr val="4A5568"/>
                          </a:solidFill>
                        </a:rPr>
                        <a:t>5.51 in (140 mm)</a:t>
                      </a:r>
                      <a:endParaRPr lang="en-US" sz="1150" dirty="0"/>
                    </a:p>
                  </a:txBody>
                  <a:tcPr>
                    <a:lnL w="6350" cap="flat" cmpd="sng" algn="ctr">
                      <a:solidFill>
                        <a:srgbClr val="B8CCE0"/>
                      </a:solidFill>
                      <a:prstDash val="solid"/>
                      <a:round/>
                      <a:headEnd type="none" w="med" len="med"/>
                      <a:tailEnd type="none" w="med" len="med"/>
                    </a:lnL>
                    <a:lnR w="6350" cap="flat" cmpd="sng" algn="ctr">
                      <a:solidFill>
                        <a:srgbClr val="B8CCE0"/>
                      </a:solidFill>
                      <a:prstDash val="solid"/>
                      <a:round/>
                      <a:headEnd type="none" w="med" len="med"/>
                      <a:tailEnd type="none" w="med" len="med"/>
                    </a:lnR>
                    <a:lnT w="6350" cap="flat" cmpd="sng" algn="ctr">
                      <a:solidFill>
                        <a:srgbClr val="B8CCE0"/>
                      </a:solidFill>
                      <a:prstDash val="solid"/>
                      <a:round/>
                      <a:headEnd type="none" w="med" len="med"/>
                      <a:tailEnd type="none" w="med" len="med"/>
                    </a:lnT>
                    <a:lnB w="6350" cap="flat" cmpd="sng" algn="ctr">
                      <a:solidFill>
                        <a:srgbClr val="B8CCE0"/>
                      </a:solidFill>
                      <a:prstDash val="solid"/>
                      <a:round/>
                      <a:headEnd type="none" w="med" len="med"/>
                      <a:tailEnd type="none" w="med" len="med"/>
                    </a:lnB>
                    <a:solidFill>
                      <a:srgbClr val="E8EEF4"/>
                    </a:solidFill>
                  </a:tcPr>
                </a:tc>
                <a:extLst>
                  <a:ext uri="{0D108BD9-81ED-4DB2-BD59-A6C34878D82A}">
                    <a16:rowId xmlns:a16="http://schemas.microsoft.com/office/drawing/2014/main" val="10005"/>
                  </a:ext>
                </a:extLst>
              </a:tr>
            </a:tbl>
          </a:graphicData>
        </a:graphic>
      </p:graphicFrame>
      <p:sp>
        <p:nvSpPr>
          <p:cNvPr id="28" name="Text 24"/>
          <p:cNvSpPr/>
          <p:nvPr/>
        </p:nvSpPr>
        <p:spPr>
          <a:xfrm>
            <a:off x="6583680" y="3474720"/>
            <a:ext cx="5029200" cy="457200"/>
          </a:xfrm>
          <a:prstGeom prst="rect">
            <a:avLst/>
          </a:prstGeom>
          <a:noFill/>
          <a:ln/>
        </p:spPr>
        <p:txBody>
          <a:bodyPr wrap="square" lIns="0" tIns="0" rIns="0" bIns="0" rtlCol="0" anchor="ctr"/>
          <a:lstStyle/>
          <a:p>
            <a:pPr marL="0" indent="0">
              <a:buNone/>
            </a:pPr>
            <a:r>
              <a:rPr lang="en-US" sz="1100" i="1" dirty="0">
                <a:solidFill>
                  <a:srgbClr val="4A5568"/>
                </a:solidFill>
              </a:rPr>
              <a:t>Custom lengths available per project specification.</a:t>
            </a:r>
            <a:endParaRPr lang="en-US" sz="1100" dirty="0"/>
          </a:p>
          <a:p>
            <a:pPr marL="0" indent="0">
              <a:buNone/>
            </a:pPr>
            <a:r>
              <a:rPr lang="en-US" sz="1100" i="1" dirty="0">
                <a:solidFill>
                  <a:srgbClr val="4A5568"/>
                </a:solidFill>
              </a:rPr>
              <a:t>All dimensions can be manufactured to order.</a:t>
            </a:r>
            <a:endParaRPr lang="en-US" sz="1100" dirty="0"/>
          </a:p>
        </p:txBody>
      </p:sp>
      <p:sp>
        <p:nvSpPr>
          <p:cNvPr id="29" name="Text 25"/>
          <p:cNvSpPr/>
          <p:nvPr/>
        </p:nvSpPr>
        <p:spPr>
          <a:xfrm>
            <a:off x="6583680" y="4484869"/>
            <a:ext cx="5029200" cy="274320"/>
          </a:xfrm>
          <a:prstGeom prst="rect">
            <a:avLst/>
          </a:prstGeom>
          <a:noFill/>
          <a:ln/>
        </p:spPr>
        <p:txBody>
          <a:bodyPr wrap="square" lIns="0" tIns="0" rIns="0" bIns="0" rtlCol="0" anchor="ctr"/>
          <a:lstStyle/>
          <a:p>
            <a:pPr marL="0" indent="0">
              <a:buNone/>
            </a:pPr>
            <a:r>
              <a:rPr lang="en-US" sz="900" b="1" kern="0" spc="200" dirty="0">
                <a:solidFill>
                  <a:srgbClr val="CC1414"/>
                </a:solidFill>
              </a:rPr>
              <a:t>RAW MATERIAL PROCESS</a:t>
            </a:r>
            <a:endParaRPr lang="en-US" sz="900" dirty="0"/>
          </a:p>
        </p:txBody>
      </p:sp>
      <p:sp>
        <p:nvSpPr>
          <p:cNvPr id="30" name="Text 26"/>
          <p:cNvSpPr/>
          <p:nvPr/>
        </p:nvSpPr>
        <p:spPr>
          <a:xfrm>
            <a:off x="6583680" y="4407408"/>
            <a:ext cx="5029200" cy="1920240"/>
          </a:xfrm>
          <a:prstGeom prst="rect">
            <a:avLst/>
          </a:prstGeom>
          <a:noFill/>
          <a:ln/>
        </p:spPr>
        <p:txBody>
          <a:bodyPr wrap="square" lIns="0" tIns="0" rIns="0" bIns="0" rtlCol="0" anchor="ctr"/>
          <a:lstStyle/>
          <a:p>
            <a:pPr marL="0" indent="0">
              <a:buNone/>
            </a:pPr>
            <a:r>
              <a:rPr lang="en-US" sz="1100" dirty="0">
                <a:solidFill>
                  <a:srgbClr val="4A5568"/>
                </a:solidFill>
              </a:rPr>
              <a:t>Both HFFP and LFFP ties are produced via continuous fiber-reinforced pultrusion using identical raw material types (glass fiber + polyurethane foam). The two product families are differentiated by raw material density grade, optimized for each application category. The raw material types are the same — different model numbers are specified to meet varying customer performance requirements.</a:t>
            </a:r>
            <a:endParaRPr lang="en-US" sz="1100" dirty="0"/>
          </a:p>
        </p:txBody>
      </p:sp>
      <p:sp>
        <p:nvSpPr>
          <p:cNvPr id="31" name="Shape 27"/>
          <p:cNvSpPr/>
          <p:nvPr/>
        </p:nvSpPr>
        <p:spPr>
          <a:xfrm>
            <a:off x="0" y="6537960"/>
            <a:ext cx="12161520" cy="320040"/>
          </a:xfrm>
          <a:prstGeom prst="rect">
            <a:avLst/>
          </a:prstGeom>
          <a:solidFill>
            <a:srgbClr val="CC1414"/>
          </a:solidFill>
          <a:ln w="12700">
            <a:solidFill>
              <a:srgbClr val="CC1414"/>
            </a:solidFill>
            <a:prstDash val="solid"/>
          </a:ln>
        </p:spPr>
        <p:txBody>
          <a:bodyPr/>
          <a:lstStyle/>
          <a:p>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61520" cy="685800"/>
          </a:xfrm>
          <a:prstGeom prst="rect">
            <a:avLst/>
          </a:prstGeom>
          <a:solidFill>
            <a:srgbClr val="0D1F3C"/>
          </a:solidFill>
          <a:ln w="12700">
            <a:solidFill>
              <a:srgbClr val="0D1F3C"/>
            </a:solidFill>
            <a:prstDash val="solid"/>
          </a:ln>
        </p:spPr>
        <p:txBody>
          <a:bodyPr/>
          <a:lstStyle/>
          <a:p>
            <a:endParaRPr lang="en-US"/>
          </a:p>
        </p:txBody>
      </p:sp>
      <p:pic>
        <p:nvPicPr>
          <p:cNvPr id="3" name="Image 0" descr="preencoded.png"/>
          <p:cNvPicPr>
            <a:picLocks noChangeAspect="1"/>
          </p:cNvPicPr>
          <p:nvPr/>
        </p:nvPicPr>
        <p:blipFill>
          <a:blip r:embed="rId3"/>
          <a:stretch>
            <a:fillRect/>
          </a:stretch>
        </p:blipFill>
        <p:spPr>
          <a:xfrm>
            <a:off x="274320" y="64008"/>
            <a:ext cx="1139810" cy="566928"/>
          </a:xfrm>
          <a:prstGeom prst="rect">
            <a:avLst/>
          </a:prstGeom>
        </p:spPr>
      </p:pic>
      <p:sp>
        <p:nvSpPr>
          <p:cNvPr id="4" name="Text 1"/>
          <p:cNvSpPr/>
          <p:nvPr/>
        </p:nvSpPr>
        <p:spPr>
          <a:xfrm>
            <a:off x="2011680" y="164592"/>
            <a:ext cx="8229600" cy="365760"/>
          </a:xfrm>
          <a:prstGeom prst="rect">
            <a:avLst/>
          </a:prstGeom>
          <a:noFill/>
          <a:ln/>
        </p:spPr>
        <p:txBody>
          <a:bodyPr wrap="square" lIns="0" tIns="0" rIns="0" bIns="0" rtlCol="0" anchor="ctr"/>
          <a:lstStyle/>
          <a:p>
            <a:pPr marL="0" indent="0">
              <a:buNone/>
            </a:pPr>
            <a:r>
              <a:rPr lang="en-US" sz="1600" b="1" kern="0" spc="300" dirty="0">
                <a:solidFill>
                  <a:srgbClr val="FFFFFF"/>
                </a:solidFill>
              </a:rPr>
              <a:t>CERTIFICATIONS &amp; STANDARDS</a:t>
            </a:r>
            <a:endParaRPr lang="en-US" sz="1600" dirty="0"/>
          </a:p>
        </p:txBody>
      </p:sp>
      <p:sp>
        <p:nvSpPr>
          <p:cNvPr id="5" name="Shape 2"/>
          <p:cNvSpPr/>
          <p:nvPr/>
        </p:nvSpPr>
        <p:spPr>
          <a:xfrm>
            <a:off x="0" y="685800"/>
            <a:ext cx="164592" cy="6172200"/>
          </a:xfrm>
          <a:prstGeom prst="rect">
            <a:avLst/>
          </a:prstGeom>
          <a:solidFill>
            <a:srgbClr val="CC1414"/>
          </a:solidFill>
          <a:ln w="12700">
            <a:solidFill>
              <a:srgbClr val="CC1414"/>
            </a:solidFill>
            <a:prstDash val="solid"/>
          </a:ln>
        </p:spPr>
        <p:txBody>
          <a:bodyPr/>
          <a:lstStyle/>
          <a:p>
            <a:endParaRPr lang="en-US"/>
          </a:p>
        </p:txBody>
      </p:sp>
      <p:sp>
        <p:nvSpPr>
          <p:cNvPr id="6" name="Text 3"/>
          <p:cNvSpPr/>
          <p:nvPr/>
        </p:nvSpPr>
        <p:spPr>
          <a:xfrm>
            <a:off x="411480" y="822960"/>
            <a:ext cx="11430000" cy="475488"/>
          </a:xfrm>
          <a:prstGeom prst="rect">
            <a:avLst/>
          </a:prstGeom>
          <a:noFill/>
          <a:ln/>
        </p:spPr>
        <p:txBody>
          <a:bodyPr wrap="square" lIns="0" tIns="0" rIns="0" bIns="0" rtlCol="0" anchor="ctr"/>
          <a:lstStyle/>
          <a:p>
            <a:pPr marL="0" indent="0">
              <a:buNone/>
            </a:pPr>
            <a:r>
              <a:rPr lang="en-US" sz="2400" b="1" dirty="0">
                <a:solidFill>
                  <a:srgbClr val="0D1F3C"/>
                </a:solidFill>
                <a:latin typeface="Georgia" pitchFamily="34" charset="0"/>
                <a:ea typeface="Georgia" pitchFamily="34" charset="-122"/>
                <a:cs typeface="Georgia" pitchFamily="34" charset="-120"/>
              </a:rPr>
              <a:t>Quality Credentials &amp; Technology Alignment</a:t>
            </a:r>
            <a:endParaRPr lang="en-US" sz="2400" dirty="0"/>
          </a:p>
        </p:txBody>
      </p:sp>
      <p:pic>
        <p:nvPicPr>
          <p:cNvPr id="7" name="Image 1" descr="preencoded.png"/>
          <p:cNvPicPr>
            <a:picLocks noChangeAspect="1"/>
          </p:cNvPicPr>
          <p:nvPr/>
        </p:nvPicPr>
        <p:blipFill>
          <a:blip r:embed="rId4"/>
          <a:srcRect/>
          <a:stretch/>
        </p:blipFill>
        <p:spPr>
          <a:xfrm>
            <a:off x="320040" y="1417320"/>
            <a:ext cx="5486400" cy="3566160"/>
          </a:xfrm>
          <a:prstGeom prst="rect">
            <a:avLst/>
          </a:prstGeom>
        </p:spPr>
      </p:pic>
      <p:sp>
        <p:nvSpPr>
          <p:cNvPr id="8" name="Shape 4"/>
          <p:cNvSpPr/>
          <p:nvPr/>
        </p:nvSpPr>
        <p:spPr>
          <a:xfrm>
            <a:off x="6080760" y="1417320"/>
            <a:ext cx="5760720" cy="1691640"/>
          </a:xfrm>
          <a:prstGeom prst="rect">
            <a:avLst/>
          </a:prstGeom>
          <a:solidFill>
            <a:srgbClr val="E8EEF4"/>
          </a:solidFill>
          <a:ln w="12700">
            <a:solidFill>
              <a:srgbClr val="C0D0E0"/>
            </a:solidFill>
            <a:prstDash val="solid"/>
          </a:ln>
          <a:effectLst>
            <a:outerShdw blurRad="50800" dist="12700" dir="8100000" algn="bl" rotWithShape="0">
              <a:srgbClr val="000000">
                <a:alpha val="8000"/>
              </a:srgbClr>
            </a:outerShdw>
          </a:effectLst>
        </p:spPr>
        <p:txBody>
          <a:bodyPr/>
          <a:lstStyle/>
          <a:p>
            <a:endParaRPr lang="en-US"/>
          </a:p>
        </p:txBody>
      </p:sp>
      <p:sp>
        <p:nvSpPr>
          <p:cNvPr id="9" name="Shape 5"/>
          <p:cNvSpPr/>
          <p:nvPr/>
        </p:nvSpPr>
        <p:spPr>
          <a:xfrm>
            <a:off x="6080760" y="1417320"/>
            <a:ext cx="182880" cy="1691640"/>
          </a:xfrm>
          <a:prstGeom prst="rect">
            <a:avLst/>
          </a:prstGeom>
          <a:solidFill>
            <a:srgbClr val="CC1414"/>
          </a:solidFill>
          <a:ln w="12700">
            <a:solidFill>
              <a:srgbClr val="CC1414"/>
            </a:solidFill>
            <a:prstDash val="solid"/>
          </a:ln>
        </p:spPr>
        <p:txBody>
          <a:bodyPr/>
          <a:lstStyle/>
          <a:p>
            <a:endParaRPr lang="en-US"/>
          </a:p>
        </p:txBody>
      </p:sp>
      <p:sp>
        <p:nvSpPr>
          <p:cNvPr id="10" name="Text 6"/>
          <p:cNvSpPr/>
          <p:nvPr/>
        </p:nvSpPr>
        <p:spPr>
          <a:xfrm>
            <a:off x="6400800" y="1527048"/>
            <a:ext cx="5303520" cy="274320"/>
          </a:xfrm>
          <a:prstGeom prst="rect">
            <a:avLst/>
          </a:prstGeom>
          <a:noFill/>
          <a:ln/>
        </p:spPr>
        <p:txBody>
          <a:bodyPr wrap="square" lIns="0" tIns="0" rIns="0" bIns="0" rtlCol="0" anchor="ctr"/>
          <a:lstStyle/>
          <a:p>
            <a:pPr marL="0" indent="0">
              <a:buNone/>
            </a:pPr>
            <a:r>
              <a:rPr lang="en-US" sz="950" b="1" kern="0" spc="200" dirty="0">
                <a:solidFill>
                  <a:srgbClr val="CC1414"/>
                </a:solidFill>
              </a:rPr>
              <a:t>FFU COMPOSITE TIES TECHNOLOGY ALIGNMENT</a:t>
            </a:r>
            <a:endParaRPr lang="en-US" sz="950" dirty="0"/>
          </a:p>
        </p:txBody>
      </p:sp>
      <p:sp>
        <p:nvSpPr>
          <p:cNvPr id="11" name="Text 7"/>
          <p:cNvSpPr/>
          <p:nvPr/>
        </p:nvSpPr>
        <p:spPr>
          <a:xfrm>
            <a:off x="6400800" y="1874520"/>
            <a:ext cx="5303520" cy="1143000"/>
          </a:xfrm>
          <a:prstGeom prst="rect">
            <a:avLst/>
          </a:prstGeom>
          <a:noFill/>
          <a:ln/>
        </p:spPr>
        <p:txBody>
          <a:bodyPr wrap="square" lIns="0" tIns="0" rIns="0" bIns="0" rtlCol="0" anchor="ctr"/>
          <a:lstStyle/>
          <a:p>
            <a:r>
              <a:rPr lang="en-US" sz="1150" dirty="0">
                <a:solidFill>
                  <a:srgbClr val="4A5568"/>
                </a:solidFill>
              </a:rPr>
              <a:t>Hilywill FFU composite railroad ties are manufactured using continuous fiber-reinforced polyurethane pultrusion technology and are designed to achieve performance characteristics comparable to leading industry FFU structural materials. Both product families share identical technology principles: continuous fiber-reinforced polyurethane foam pultrusion, comparable mechanical performance benchmarks, and equivalent service life expectations exceeding 50 years in revenue service.</a:t>
            </a:r>
            <a:endParaRPr lang="en-US" sz="1150" dirty="0"/>
          </a:p>
        </p:txBody>
      </p:sp>
      <p:sp>
        <p:nvSpPr>
          <p:cNvPr id="12" name="Shape 8"/>
          <p:cNvSpPr/>
          <p:nvPr/>
        </p:nvSpPr>
        <p:spPr>
          <a:xfrm>
            <a:off x="6080760" y="3246120"/>
            <a:ext cx="5760720" cy="1691640"/>
          </a:xfrm>
          <a:prstGeom prst="rect">
            <a:avLst/>
          </a:prstGeom>
          <a:solidFill>
            <a:srgbClr val="0D1F3C"/>
          </a:solidFill>
          <a:ln w="12700">
            <a:solidFill>
              <a:srgbClr val="0D1F3C"/>
            </a:solidFill>
            <a:prstDash val="solid"/>
          </a:ln>
        </p:spPr>
        <p:txBody>
          <a:bodyPr/>
          <a:lstStyle/>
          <a:p>
            <a:endParaRPr lang="en-US"/>
          </a:p>
        </p:txBody>
      </p:sp>
      <p:sp>
        <p:nvSpPr>
          <p:cNvPr id="13" name="Shape 9"/>
          <p:cNvSpPr/>
          <p:nvPr/>
        </p:nvSpPr>
        <p:spPr>
          <a:xfrm>
            <a:off x="6080760" y="3246120"/>
            <a:ext cx="182880" cy="1691640"/>
          </a:xfrm>
          <a:prstGeom prst="rect">
            <a:avLst/>
          </a:prstGeom>
          <a:solidFill>
            <a:srgbClr val="D4A017"/>
          </a:solidFill>
          <a:ln w="12700">
            <a:solidFill>
              <a:srgbClr val="D4A017"/>
            </a:solidFill>
            <a:prstDash val="solid"/>
          </a:ln>
        </p:spPr>
        <p:txBody>
          <a:bodyPr/>
          <a:lstStyle/>
          <a:p>
            <a:endParaRPr lang="en-US"/>
          </a:p>
        </p:txBody>
      </p:sp>
      <p:sp>
        <p:nvSpPr>
          <p:cNvPr id="14" name="Text 10"/>
          <p:cNvSpPr/>
          <p:nvPr/>
        </p:nvSpPr>
        <p:spPr>
          <a:xfrm>
            <a:off x="6400800" y="3355848"/>
            <a:ext cx="5303520" cy="274320"/>
          </a:xfrm>
          <a:prstGeom prst="rect">
            <a:avLst/>
          </a:prstGeom>
          <a:noFill/>
          <a:ln/>
        </p:spPr>
        <p:txBody>
          <a:bodyPr wrap="square" lIns="0" tIns="0" rIns="0" bIns="0" rtlCol="0" anchor="ctr"/>
          <a:lstStyle/>
          <a:p>
            <a:pPr marL="0" indent="0">
              <a:buNone/>
            </a:pPr>
            <a:r>
              <a:rPr lang="en-US" sz="950" b="1" kern="0" spc="200" dirty="0">
                <a:solidFill>
                  <a:srgbClr val="D4A017"/>
                </a:solidFill>
              </a:rPr>
              <a:t>CJ/T 399-2012 STANDARD TESTING</a:t>
            </a:r>
            <a:endParaRPr lang="en-US" sz="950" dirty="0"/>
          </a:p>
        </p:txBody>
      </p:sp>
      <p:sp>
        <p:nvSpPr>
          <p:cNvPr id="15" name="Text 11"/>
          <p:cNvSpPr/>
          <p:nvPr/>
        </p:nvSpPr>
        <p:spPr>
          <a:xfrm>
            <a:off x="6400800" y="3703320"/>
            <a:ext cx="5303520" cy="1143000"/>
          </a:xfrm>
          <a:prstGeom prst="rect">
            <a:avLst/>
          </a:prstGeom>
          <a:noFill/>
          <a:ln/>
        </p:spPr>
        <p:txBody>
          <a:bodyPr wrap="square" lIns="0" tIns="0" rIns="0" bIns="0" rtlCol="0" anchor="ctr"/>
          <a:lstStyle/>
          <a:p>
            <a:pPr marL="0" indent="0">
              <a:buNone/>
            </a:pPr>
            <a:r>
              <a:rPr lang="en-US" sz="1150" dirty="0">
                <a:solidFill>
                  <a:srgbClr val="C8D8E8"/>
                </a:solidFill>
              </a:rPr>
              <a:t>Hilywill LFFP ties are independently tested and certified to CJ/T 399-2012, the Chinese Urban Rail Transit standard governing synthetic fiber-reinforced polymer composite ties. This standard defines rigorous requirements for bending strength, modulus, fatigue life, electrical insulation, and dimensional stability — providing verifiable performance assurance for transit operators worldwide.</a:t>
            </a:r>
            <a:endParaRPr lang="en-US" sz="1150" dirty="0"/>
          </a:p>
        </p:txBody>
      </p:sp>
      <p:sp>
        <p:nvSpPr>
          <p:cNvPr id="16" name="Shape 12"/>
          <p:cNvSpPr/>
          <p:nvPr/>
        </p:nvSpPr>
        <p:spPr>
          <a:xfrm>
            <a:off x="320040" y="5120640"/>
            <a:ext cx="2743200" cy="1188720"/>
          </a:xfrm>
          <a:prstGeom prst="rect">
            <a:avLst/>
          </a:prstGeom>
          <a:solidFill>
            <a:srgbClr val="F4F6F9"/>
          </a:solidFill>
          <a:ln w="12700">
            <a:solidFill>
              <a:srgbClr val="D0DBE8"/>
            </a:solidFill>
            <a:prstDash val="solid"/>
          </a:ln>
        </p:spPr>
        <p:txBody>
          <a:bodyPr/>
          <a:lstStyle/>
          <a:p>
            <a:endParaRPr lang="en-US"/>
          </a:p>
        </p:txBody>
      </p:sp>
      <p:sp>
        <p:nvSpPr>
          <p:cNvPr id="17" name="Shape 13"/>
          <p:cNvSpPr/>
          <p:nvPr/>
        </p:nvSpPr>
        <p:spPr>
          <a:xfrm>
            <a:off x="320040" y="5120640"/>
            <a:ext cx="2743200" cy="164592"/>
          </a:xfrm>
          <a:prstGeom prst="rect">
            <a:avLst/>
          </a:prstGeom>
          <a:solidFill>
            <a:srgbClr val="CC1414"/>
          </a:solidFill>
          <a:ln w="12700">
            <a:solidFill>
              <a:srgbClr val="CC1414"/>
            </a:solidFill>
            <a:prstDash val="solid"/>
          </a:ln>
        </p:spPr>
        <p:txBody>
          <a:bodyPr/>
          <a:lstStyle/>
          <a:p>
            <a:endParaRPr lang="en-US"/>
          </a:p>
        </p:txBody>
      </p:sp>
      <p:sp>
        <p:nvSpPr>
          <p:cNvPr id="18" name="Text 14"/>
          <p:cNvSpPr/>
          <p:nvPr/>
        </p:nvSpPr>
        <p:spPr>
          <a:xfrm>
            <a:off x="429768" y="5321808"/>
            <a:ext cx="2523744" cy="274320"/>
          </a:xfrm>
          <a:prstGeom prst="rect">
            <a:avLst/>
          </a:prstGeom>
          <a:noFill/>
          <a:ln/>
        </p:spPr>
        <p:txBody>
          <a:bodyPr wrap="square" lIns="0" tIns="0" rIns="0" bIns="0" rtlCol="0" anchor="ctr"/>
          <a:lstStyle/>
          <a:p>
            <a:pPr marL="0" indent="0">
              <a:buNone/>
            </a:pPr>
            <a:r>
              <a:rPr lang="en-US" sz="1150" b="1" dirty="0">
                <a:solidFill>
                  <a:srgbClr val="0D1F3C"/>
                </a:solidFill>
              </a:rPr>
              <a:t>IRIS Certification</a:t>
            </a:r>
            <a:endParaRPr lang="en-US" sz="1150" dirty="0"/>
          </a:p>
        </p:txBody>
      </p:sp>
      <p:sp>
        <p:nvSpPr>
          <p:cNvPr id="19" name="Text 15"/>
          <p:cNvSpPr/>
          <p:nvPr/>
        </p:nvSpPr>
        <p:spPr>
          <a:xfrm>
            <a:off x="429768" y="5623560"/>
            <a:ext cx="2523744" cy="594360"/>
          </a:xfrm>
          <a:prstGeom prst="rect">
            <a:avLst/>
          </a:prstGeom>
          <a:noFill/>
          <a:ln/>
        </p:spPr>
        <p:txBody>
          <a:bodyPr wrap="square" lIns="0" tIns="0" rIns="0" bIns="0" rtlCol="0" anchor="ctr"/>
          <a:lstStyle/>
          <a:p>
            <a:pPr marL="0" indent="0">
              <a:buNone/>
            </a:pPr>
            <a:r>
              <a:rPr lang="en-US" sz="1050" dirty="0">
                <a:solidFill>
                  <a:srgbClr val="4A5568"/>
                </a:solidFill>
              </a:rPr>
              <a:t>ISO/TS 22163:2017</a:t>
            </a:r>
            <a:endParaRPr lang="en-US" sz="1050" dirty="0"/>
          </a:p>
          <a:p>
            <a:pPr marL="0" indent="0">
              <a:buNone/>
            </a:pPr>
            <a:r>
              <a:rPr lang="en-US" sz="1050" dirty="0">
                <a:solidFill>
                  <a:srgbClr val="4A5568"/>
                </a:solidFill>
              </a:rPr>
              <a:t>Railway Component Mfg.</a:t>
            </a:r>
            <a:endParaRPr lang="en-US" sz="1050" dirty="0"/>
          </a:p>
        </p:txBody>
      </p:sp>
      <p:sp>
        <p:nvSpPr>
          <p:cNvPr id="20" name="Shape 16"/>
          <p:cNvSpPr/>
          <p:nvPr/>
        </p:nvSpPr>
        <p:spPr>
          <a:xfrm>
            <a:off x="3282696" y="5120640"/>
            <a:ext cx="2743200" cy="1188720"/>
          </a:xfrm>
          <a:prstGeom prst="rect">
            <a:avLst/>
          </a:prstGeom>
          <a:solidFill>
            <a:srgbClr val="F4F6F9"/>
          </a:solidFill>
          <a:ln w="12700">
            <a:solidFill>
              <a:srgbClr val="D0DBE8"/>
            </a:solidFill>
            <a:prstDash val="solid"/>
          </a:ln>
        </p:spPr>
        <p:txBody>
          <a:bodyPr/>
          <a:lstStyle/>
          <a:p>
            <a:endParaRPr lang="en-US"/>
          </a:p>
        </p:txBody>
      </p:sp>
      <p:sp>
        <p:nvSpPr>
          <p:cNvPr id="21" name="Shape 17"/>
          <p:cNvSpPr/>
          <p:nvPr/>
        </p:nvSpPr>
        <p:spPr>
          <a:xfrm>
            <a:off x="3282696" y="5120640"/>
            <a:ext cx="2743200" cy="164592"/>
          </a:xfrm>
          <a:prstGeom prst="rect">
            <a:avLst/>
          </a:prstGeom>
          <a:solidFill>
            <a:srgbClr val="1A3A5C"/>
          </a:solidFill>
          <a:ln w="12700">
            <a:solidFill>
              <a:srgbClr val="1A3A5C"/>
            </a:solidFill>
            <a:prstDash val="solid"/>
          </a:ln>
        </p:spPr>
        <p:txBody>
          <a:bodyPr/>
          <a:lstStyle/>
          <a:p>
            <a:endParaRPr lang="en-US"/>
          </a:p>
        </p:txBody>
      </p:sp>
      <p:sp>
        <p:nvSpPr>
          <p:cNvPr id="22" name="Text 18"/>
          <p:cNvSpPr/>
          <p:nvPr/>
        </p:nvSpPr>
        <p:spPr>
          <a:xfrm>
            <a:off x="3392424" y="5321808"/>
            <a:ext cx="2523744" cy="274320"/>
          </a:xfrm>
          <a:prstGeom prst="rect">
            <a:avLst/>
          </a:prstGeom>
          <a:noFill/>
          <a:ln/>
        </p:spPr>
        <p:txBody>
          <a:bodyPr wrap="square" lIns="0" tIns="0" rIns="0" bIns="0" rtlCol="0" anchor="ctr"/>
          <a:lstStyle/>
          <a:p>
            <a:pPr marL="0" indent="0">
              <a:buNone/>
            </a:pPr>
            <a:r>
              <a:rPr lang="en-US" sz="1150" b="1" dirty="0">
                <a:solidFill>
                  <a:srgbClr val="0D1F3C"/>
                </a:solidFill>
              </a:rPr>
              <a:t>DIN 6701 (TBBCert)</a:t>
            </a:r>
            <a:endParaRPr lang="en-US" sz="1150" dirty="0"/>
          </a:p>
        </p:txBody>
      </p:sp>
      <p:sp>
        <p:nvSpPr>
          <p:cNvPr id="23" name="Text 19"/>
          <p:cNvSpPr/>
          <p:nvPr/>
        </p:nvSpPr>
        <p:spPr>
          <a:xfrm>
            <a:off x="3392424" y="5623560"/>
            <a:ext cx="2523744" cy="594360"/>
          </a:xfrm>
          <a:prstGeom prst="rect">
            <a:avLst/>
          </a:prstGeom>
          <a:noFill/>
          <a:ln/>
        </p:spPr>
        <p:txBody>
          <a:bodyPr wrap="square" lIns="0" tIns="0" rIns="0" bIns="0" rtlCol="0" anchor="ctr"/>
          <a:lstStyle/>
          <a:p>
            <a:pPr marL="0" indent="0">
              <a:buNone/>
            </a:pPr>
            <a:r>
              <a:rPr lang="en-US" sz="1050" dirty="0">
                <a:solidFill>
                  <a:srgbClr val="4A5568"/>
                </a:solidFill>
              </a:rPr>
              <a:t>Adhesive Bonding for</a:t>
            </a:r>
            <a:endParaRPr lang="en-US" sz="1050" dirty="0"/>
          </a:p>
          <a:p>
            <a:pPr marL="0" indent="0">
              <a:buNone/>
            </a:pPr>
            <a:r>
              <a:rPr lang="en-US" sz="1050" dirty="0">
                <a:solidFill>
                  <a:srgbClr val="4A5568"/>
                </a:solidFill>
              </a:rPr>
              <a:t>Rail Vehicles — Class A1</a:t>
            </a:r>
            <a:endParaRPr lang="en-US" sz="1050" dirty="0"/>
          </a:p>
        </p:txBody>
      </p:sp>
      <p:sp>
        <p:nvSpPr>
          <p:cNvPr id="24" name="Shape 20"/>
          <p:cNvSpPr/>
          <p:nvPr/>
        </p:nvSpPr>
        <p:spPr>
          <a:xfrm>
            <a:off x="6245352" y="5120640"/>
            <a:ext cx="2743200" cy="1188720"/>
          </a:xfrm>
          <a:prstGeom prst="rect">
            <a:avLst/>
          </a:prstGeom>
          <a:solidFill>
            <a:srgbClr val="F4F6F9"/>
          </a:solidFill>
          <a:ln w="12700">
            <a:solidFill>
              <a:srgbClr val="D0DBE8"/>
            </a:solidFill>
            <a:prstDash val="solid"/>
          </a:ln>
        </p:spPr>
        <p:txBody>
          <a:bodyPr/>
          <a:lstStyle/>
          <a:p>
            <a:endParaRPr lang="en-US"/>
          </a:p>
        </p:txBody>
      </p:sp>
      <p:sp>
        <p:nvSpPr>
          <p:cNvPr id="25" name="Shape 21"/>
          <p:cNvSpPr/>
          <p:nvPr/>
        </p:nvSpPr>
        <p:spPr>
          <a:xfrm>
            <a:off x="6245352" y="5120640"/>
            <a:ext cx="2743200" cy="164592"/>
          </a:xfrm>
          <a:prstGeom prst="rect">
            <a:avLst/>
          </a:prstGeom>
          <a:solidFill>
            <a:srgbClr val="CC1414"/>
          </a:solidFill>
          <a:ln w="12700">
            <a:solidFill>
              <a:srgbClr val="CC1414"/>
            </a:solidFill>
            <a:prstDash val="solid"/>
          </a:ln>
        </p:spPr>
        <p:txBody>
          <a:bodyPr/>
          <a:lstStyle/>
          <a:p>
            <a:endParaRPr lang="en-US"/>
          </a:p>
        </p:txBody>
      </p:sp>
      <p:sp>
        <p:nvSpPr>
          <p:cNvPr id="26" name="Text 22"/>
          <p:cNvSpPr/>
          <p:nvPr/>
        </p:nvSpPr>
        <p:spPr>
          <a:xfrm>
            <a:off x="6355080" y="5321808"/>
            <a:ext cx="2523744" cy="274320"/>
          </a:xfrm>
          <a:prstGeom prst="rect">
            <a:avLst/>
          </a:prstGeom>
          <a:noFill/>
          <a:ln/>
        </p:spPr>
        <p:txBody>
          <a:bodyPr wrap="square" lIns="0" tIns="0" rIns="0" bIns="0" rtlCol="0" anchor="ctr"/>
          <a:lstStyle/>
          <a:p>
            <a:pPr marL="0" indent="0">
              <a:buNone/>
            </a:pPr>
            <a:r>
              <a:rPr lang="en-US" sz="1150" b="1" dirty="0">
                <a:solidFill>
                  <a:srgbClr val="0D1F3C"/>
                </a:solidFill>
              </a:rPr>
              <a:t>CJ/T 399-2012</a:t>
            </a:r>
            <a:endParaRPr lang="en-US" sz="1150" dirty="0"/>
          </a:p>
        </p:txBody>
      </p:sp>
      <p:sp>
        <p:nvSpPr>
          <p:cNvPr id="27" name="Text 23"/>
          <p:cNvSpPr/>
          <p:nvPr/>
        </p:nvSpPr>
        <p:spPr>
          <a:xfrm>
            <a:off x="6355080" y="5623560"/>
            <a:ext cx="2523744" cy="594360"/>
          </a:xfrm>
          <a:prstGeom prst="rect">
            <a:avLst/>
          </a:prstGeom>
          <a:noFill/>
          <a:ln/>
        </p:spPr>
        <p:txBody>
          <a:bodyPr wrap="square" lIns="0" tIns="0" rIns="0" bIns="0" rtlCol="0" anchor="ctr"/>
          <a:lstStyle/>
          <a:p>
            <a:pPr marL="0" indent="0">
              <a:buNone/>
            </a:pPr>
            <a:r>
              <a:rPr lang="en-US" sz="1050" dirty="0">
                <a:solidFill>
                  <a:srgbClr val="4A5568"/>
                </a:solidFill>
              </a:rPr>
              <a:t>Urban Rail Transit</a:t>
            </a:r>
            <a:endParaRPr lang="en-US" sz="1050" dirty="0"/>
          </a:p>
          <a:p>
            <a:pPr marL="0" indent="0">
              <a:buNone/>
            </a:pPr>
            <a:r>
              <a:rPr lang="en-US" sz="1050" dirty="0">
                <a:solidFill>
                  <a:srgbClr val="4A5568"/>
                </a:solidFill>
              </a:rPr>
              <a:t>Composite Tie Standard</a:t>
            </a:r>
            <a:endParaRPr lang="en-US" sz="1050" dirty="0"/>
          </a:p>
        </p:txBody>
      </p:sp>
      <p:sp>
        <p:nvSpPr>
          <p:cNvPr id="28" name="Shape 24"/>
          <p:cNvSpPr/>
          <p:nvPr/>
        </p:nvSpPr>
        <p:spPr>
          <a:xfrm>
            <a:off x="9208008" y="5120640"/>
            <a:ext cx="2743200" cy="1188720"/>
          </a:xfrm>
          <a:prstGeom prst="rect">
            <a:avLst/>
          </a:prstGeom>
          <a:solidFill>
            <a:srgbClr val="F4F6F9"/>
          </a:solidFill>
          <a:ln w="12700">
            <a:solidFill>
              <a:srgbClr val="D0DBE8"/>
            </a:solidFill>
            <a:prstDash val="solid"/>
          </a:ln>
        </p:spPr>
        <p:txBody>
          <a:bodyPr/>
          <a:lstStyle/>
          <a:p>
            <a:endParaRPr lang="en-US"/>
          </a:p>
        </p:txBody>
      </p:sp>
      <p:sp>
        <p:nvSpPr>
          <p:cNvPr id="29" name="Shape 25"/>
          <p:cNvSpPr/>
          <p:nvPr/>
        </p:nvSpPr>
        <p:spPr>
          <a:xfrm>
            <a:off x="9208008" y="5120640"/>
            <a:ext cx="2743200" cy="164592"/>
          </a:xfrm>
          <a:prstGeom prst="rect">
            <a:avLst/>
          </a:prstGeom>
          <a:solidFill>
            <a:srgbClr val="D4A017"/>
          </a:solidFill>
          <a:ln w="12700">
            <a:solidFill>
              <a:srgbClr val="D4A017"/>
            </a:solidFill>
            <a:prstDash val="solid"/>
          </a:ln>
        </p:spPr>
        <p:txBody>
          <a:bodyPr/>
          <a:lstStyle/>
          <a:p>
            <a:endParaRPr lang="en-US"/>
          </a:p>
        </p:txBody>
      </p:sp>
      <p:sp>
        <p:nvSpPr>
          <p:cNvPr id="30" name="Text 26"/>
          <p:cNvSpPr/>
          <p:nvPr/>
        </p:nvSpPr>
        <p:spPr>
          <a:xfrm>
            <a:off x="9317736" y="5321808"/>
            <a:ext cx="2523744" cy="274320"/>
          </a:xfrm>
          <a:prstGeom prst="rect">
            <a:avLst/>
          </a:prstGeom>
          <a:noFill/>
          <a:ln/>
        </p:spPr>
        <p:txBody>
          <a:bodyPr wrap="square" lIns="0" tIns="0" rIns="0" bIns="0" rtlCol="0" anchor="ctr"/>
          <a:lstStyle/>
          <a:p>
            <a:r>
              <a:rPr lang="en-US" sz="1150" b="1" dirty="0">
                <a:solidFill>
                  <a:srgbClr val="0D1F3C"/>
                </a:solidFill>
              </a:rPr>
              <a:t>ENGINEERED FFU COMPOSITE SOLUTION</a:t>
            </a:r>
            <a:endParaRPr lang="en-US" sz="1150" dirty="0"/>
          </a:p>
        </p:txBody>
      </p:sp>
      <p:sp>
        <p:nvSpPr>
          <p:cNvPr id="31" name="Text 27"/>
          <p:cNvSpPr/>
          <p:nvPr/>
        </p:nvSpPr>
        <p:spPr>
          <a:xfrm>
            <a:off x="9317736" y="5623560"/>
            <a:ext cx="2523744" cy="594360"/>
          </a:xfrm>
          <a:prstGeom prst="rect">
            <a:avLst/>
          </a:prstGeom>
          <a:noFill/>
          <a:ln/>
        </p:spPr>
        <p:txBody>
          <a:bodyPr wrap="square" lIns="0" tIns="0" rIns="0" bIns="0" rtlCol="0" anchor="ctr"/>
          <a:lstStyle/>
          <a:p>
            <a:pPr marL="0" indent="0">
              <a:buNone/>
            </a:pPr>
            <a:r>
              <a:rPr lang="en-US" sz="1050" dirty="0">
                <a:solidFill>
                  <a:srgbClr val="4A5568"/>
                </a:solidFill>
              </a:rPr>
              <a:t>FFU Technology &amp;</a:t>
            </a:r>
            <a:endParaRPr lang="en-US" sz="1050" dirty="0"/>
          </a:p>
          <a:p>
            <a:pPr marL="0" indent="0">
              <a:buNone/>
            </a:pPr>
            <a:r>
              <a:rPr lang="en-US" sz="1050" dirty="0">
                <a:solidFill>
                  <a:srgbClr val="4A5568"/>
                </a:solidFill>
              </a:rPr>
              <a:t>Performance Benchmarks</a:t>
            </a:r>
            <a:endParaRPr lang="en-US" sz="1050" dirty="0"/>
          </a:p>
        </p:txBody>
      </p:sp>
      <p:sp>
        <p:nvSpPr>
          <p:cNvPr id="32" name="Shape 28"/>
          <p:cNvSpPr/>
          <p:nvPr/>
        </p:nvSpPr>
        <p:spPr>
          <a:xfrm>
            <a:off x="0" y="6537960"/>
            <a:ext cx="12161520" cy="320040"/>
          </a:xfrm>
          <a:prstGeom prst="rect">
            <a:avLst/>
          </a:prstGeom>
          <a:solidFill>
            <a:srgbClr val="CC1414"/>
          </a:solidFill>
          <a:ln w="12700">
            <a:solidFill>
              <a:srgbClr val="CC1414"/>
            </a:solidFill>
            <a:prstDash val="solid"/>
          </a:ln>
        </p:spPr>
        <p:txBody>
          <a:bodyPr/>
          <a:lstStyle/>
          <a:p>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bg>
      <p:bgPr>
        <a:solidFill>
          <a:srgbClr val="0D1F3C"/>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alphaModFix amt="30000"/>
          </a:blip>
          <a:srcRect/>
          <a:stretch/>
        </p:blipFill>
        <p:spPr>
          <a:xfrm>
            <a:off x="0" y="0"/>
            <a:ext cx="12161520" cy="6858000"/>
          </a:xfrm>
          <a:prstGeom prst="rect">
            <a:avLst/>
          </a:prstGeom>
        </p:spPr>
      </p:pic>
      <p:sp>
        <p:nvSpPr>
          <p:cNvPr id="3" name="Shape 0"/>
          <p:cNvSpPr/>
          <p:nvPr/>
        </p:nvSpPr>
        <p:spPr>
          <a:xfrm>
            <a:off x="0" y="0"/>
            <a:ext cx="12161520" cy="164592"/>
          </a:xfrm>
          <a:prstGeom prst="rect">
            <a:avLst/>
          </a:prstGeom>
          <a:solidFill>
            <a:srgbClr val="CC1414"/>
          </a:solidFill>
          <a:ln w="12700">
            <a:solidFill>
              <a:srgbClr val="CC1414"/>
            </a:solidFill>
            <a:prstDash val="solid"/>
          </a:ln>
        </p:spPr>
        <p:txBody>
          <a:bodyPr/>
          <a:lstStyle/>
          <a:p>
            <a:endParaRPr lang="en-US"/>
          </a:p>
        </p:txBody>
      </p:sp>
      <p:pic>
        <p:nvPicPr>
          <p:cNvPr id="4" name="Image 1" descr="preencoded.png"/>
          <p:cNvPicPr>
            <a:picLocks noChangeAspect="1"/>
          </p:cNvPicPr>
          <p:nvPr/>
        </p:nvPicPr>
        <p:blipFill>
          <a:blip r:embed="rId4"/>
          <a:stretch>
            <a:fillRect/>
          </a:stretch>
        </p:blipFill>
        <p:spPr>
          <a:xfrm>
            <a:off x="5074920" y="411480"/>
            <a:ext cx="1676754" cy="969264"/>
          </a:xfrm>
          <a:prstGeom prst="rect">
            <a:avLst/>
          </a:prstGeom>
        </p:spPr>
      </p:pic>
      <p:sp>
        <p:nvSpPr>
          <p:cNvPr id="5" name="Text 1"/>
          <p:cNvSpPr/>
          <p:nvPr/>
        </p:nvSpPr>
        <p:spPr>
          <a:xfrm>
            <a:off x="914400" y="1417320"/>
            <a:ext cx="10332720" cy="731520"/>
          </a:xfrm>
          <a:prstGeom prst="rect">
            <a:avLst/>
          </a:prstGeom>
          <a:noFill/>
          <a:ln/>
        </p:spPr>
        <p:txBody>
          <a:bodyPr wrap="square" lIns="0" tIns="0" rIns="0" bIns="0" rtlCol="0" anchor="ctr"/>
          <a:lstStyle/>
          <a:p>
            <a:pPr marL="0" indent="0" algn="ctr">
              <a:buNone/>
            </a:pPr>
            <a:r>
              <a:rPr lang="en-US" sz="3000" b="1" dirty="0">
                <a:solidFill>
                  <a:srgbClr val="FFFFFF"/>
                </a:solidFill>
                <a:latin typeface="Georgia" pitchFamily="34" charset="0"/>
                <a:ea typeface="Georgia" pitchFamily="34" charset="-122"/>
                <a:cs typeface="Georgia" pitchFamily="34" charset="-120"/>
              </a:rPr>
              <a:t>Ready to Upgrade Your Track Infrastructure?</a:t>
            </a:r>
            <a:endParaRPr lang="en-US" sz="3000" dirty="0"/>
          </a:p>
        </p:txBody>
      </p:sp>
      <p:sp>
        <p:nvSpPr>
          <p:cNvPr id="6" name="Text 2"/>
          <p:cNvSpPr/>
          <p:nvPr/>
        </p:nvSpPr>
        <p:spPr>
          <a:xfrm>
            <a:off x="1828800" y="2240280"/>
            <a:ext cx="8503920" cy="457200"/>
          </a:xfrm>
          <a:prstGeom prst="rect">
            <a:avLst/>
          </a:prstGeom>
          <a:noFill/>
          <a:ln/>
        </p:spPr>
        <p:txBody>
          <a:bodyPr wrap="square" lIns="0" tIns="0" rIns="0" bIns="0" rtlCol="0" anchor="ctr"/>
          <a:lstStyle/>
          <a:p>
            <a:pPr marL="0" indent="0" algn="ctr">
              <a:buNone/>
            </a:pPr>
            <a:r>
              <a:rPr lang="en-US" sz="1400" dirty="0">
                <a:solidFill>
                  <a:srgbClr val="C8D8E8"/>
                </a:solidFill>
              </a:rPr>
              <a:t>Contact our US team to discuss specifications, project quantities, and delivery schedules.</a:t>
            </a:r>
            <a:endParaRPr lang="en-US" sz="1400" dirty="0"/>
          </a:p>
        </p:txBody>
      </p:sp>
      <p:sp>
        <p:nvSpPr>
          <p:cNvPr id="7" name="Shape 3"/>
          <p:cNvSpPr/>
          <p:nvPr/>
        </p:nvSpPr>
        <p:spPr>
          <a:xfrm>
            <a:off x="1188720" y="2880360"/>
            <a:ext cx="3017520" cy="1783080"/>
          </a:xfrm>
          <a:prstGeom prst="rect">
            <a:avLst/>
          </a:prstGeom>
          <a:solidFill>
            <a:srgbClr val="1A3A5C"/>
          </a:solidFill>
          <a:ln w="25400">
            <a:solidFill>
              <a:srgbClr val="CC1414"/>
            </a:solidFill>
            <a:prstDash val="solid"/>
          </a:ln>
        </p:spPr>
        <p:txBody>
          <a:bodyPr/>
          <a:lstStyle/>
          <a:p>
            <a:endParaRPr lang="en-US"/>
          </a:p>
        </p:txBody>
      </p:sp>
      <p:sp>
        <p:nvSpPr>
          <p:cNvPr id="8" name="Shape 4"/>
          <p:cNvSpPr/>
          <p:nvPr/>
        </p:nvSpPr>
        <p:spPr>
          <a:xfrm>
            <a:off x="1188720" y="2880360"/>
            <a:ext cx="3017520" cy="365760"/>
          </a:xfrm>
          <a:prstGeom prst="rect">
            <a:avLst/>
          </a:prstGeom>
          <a:solidFill>
            <a:srgbClr val="CC1414"/>
          </a:solidFill>
          <a:ln w="12700">
            <a:solidFill>
              <a:srgbClr val="CC1414"/>
            </a:solidFill>
            <a:prstDash val="solid"/>
          </a:ln>
        </p:spPr>
        <p:txBody>
          <a:bodyPr/>
          <a:lstStyle/>
          <a:p>
            <a:endParaRPr lang="en-US"/>
          </a:p>
        </p:txBody>
      </p:sp>
      <p:sp>
        <p:nvSpPr>
          <p:cNvPr id="9" name="Text 5"/>
          <p:cNvSpPr/>
          <p:nvPr/>
        </p:nvSpPr>
        <p:spPr>
          <a:xfrm>
            <a:off x="1325880" y="2898648"/>
            <a:ext cx="2743200" cy="310896"/>
          </a:xfrm>
          <a:prstGeom prst="rect">
            <a:avLst/>
          </a:prstGeom>
          <a:noFill/>
          <a:ln/>
        </p:spPr>
        <p:txBody>
          <a:bodyPr wrap="square" lIns="0" tIns="0" rIns="0" bIns="0" rtlCol="0" anchor="ctr"/>
          <a:lstStyle/>
          <a:p>
            <a:pPr marL="0" indent="0">
              <a:buNone/>
            </a:pPr>
            <a:r>
              <a:rPr lang="en-US" sz="1000" b="1" kern="0" spc="100" dirty="0">
                <a:solidFill>
                  <a:srgbClr val="FFFFFF"/>
                </a:solidFill>
              </a:rPr>
              <a:t>US Office</a:t>
            </a:r>
            <a:endParaRPr lang="en-US" sz="1000" dirty="0"/>
          </a:p>
        </p:txBody>
      </p:sp>
      <p:sp>
        <p:nvSpPr>
          <p:cNvPr id="10" name="Text 6"/>
          <p:cNvSpPr/>
          <p:nvPr/>
        </p:nvSpPr>
        <p:spPr>
          <a:xfrm>
            <a:off x="1325880" y="3310128"/>
            <a:ext cx="2743200" cy="1234440"/>
          </a:xfrm>
          <a:prstGeom prst="rect">
            <a:avLst/>
          </a:prstGeom>
          <a:noFill/>
          <a:ln/>
        </p:spPr>
        <p:txBody>
          <a:bodyPr wrap="square" lIns="0" tIns="0" rIns="0" bIns="0" rtlCol="0" anchor="ctr"/>
          <a:lstStyle/>
          <a:p>
            <a:pPr marL="0" indent="0">
              <a:buNone/>
            </a:pPr>
            <a:r>
              <a:rPr lang="en-US" sz="1150" dirty="0">
                <a:solidFill>
                  <a:srgbClr val="FFFFFF"/>
                </a:solidFill>
              </a:rPr>
              <a:t>Hilywill Technologies LLC</a:t>
            </a:r>
            <a:endParaRPr lang="en-US" sz="1150" dirty="0"/>
          </a:p>
          <a:p>
            <a:pPr marL="0" indent="0">
              <a:buNone/>
            </a:pPr>
            <a:r>
              <a:rPr lang="en-US" sz="1150" dirty="0">
                <a:solidFill>
                  <a:srgbClr val="FFFFFF"/>
                </a:solidFill>
              </a:rPr>
              <a:t>7763 N Haggerty Rd, Canton, MI 48187</a:t>
            </a:r>
            <a:endParaRPr lang="en-US" sz="1150" dirty="0"/>
          </a:p>
        </p:txBody>
      </p:sp>
      <p:sp>
        <p:nvSpPr>
          <p:cNvPr id="11" name="Shape 7"/>
          <p:cNvSpPr/>
          <p:nvPr/>
        </p:nvSpPr>
        <p:spPr>
          <a:xfrm>
            <a:off x="4572000" y="2880360"/>
            <a:ext cx="3017520" cy="1783080"/>
          </a:xfrm>
          <a:prstGeom prst="rect">
            <a:avLst/>
          </a:prstGeom>
          <a:solidFill>
            <a:srgbClr val="1A3A5C"/>
          </a:solidFill>
          <a:ln w="25400">
            <a:solidFill>
              <a:srgbClr val="CC1414"/>
            </a:solidFill>
            <a:prstDash val="solid"/>
          </a:ln>
        </p:spPr>
        <p:txBody>
          <a:bodyPr/>
          <a:lstStyle/>
          <a:p>
            <a:endParaRPr lang="en-US"/>
          </a:p>
        </p:txBody>
      </p:sp>
      <p:sp>
        <p:nvSpPr>
          <p:cNvPr id="12" name="Shape 8"/>
          <p:cNvSpPr/>
          <p:nvPr/>
        </p:nvSpPr>
        <p:spPr>
          <a:xfrm>
            <a:off x="4572000" y="2880360"/>
            <a:ext cx="3017520" cy="365760"/>
          </a:xfrm>
          <a:prstGeom prst="rect">
            <a:avLst/>
          </a:prstGeom>
          <a:solidFill>
            <a:srgbClr val="CC1414"/>
          </a:solidFill>
          <a:ln w="12700">
            <a:solidFill>
              <a:srgbClr val="CC1414"/>
            </a:solidFill>
            <a:prstDash val="solid"/>
          </a:ln>
        </p:spPr>
        <p:txBody>
          <a:bodyPr/>
          <a:lstStyle/>
          <a:p>
            <a:endParaRPr lang="en-US"/>
          </a:p>
        </p:txBody>
      </p:sp>
      <p:sp>
        <p:nvSpPr>
          <p:cNvPr id="13" name="Text 9"/>
          <p:cNvSpPr/>
          <p:nvPr/>
        </p:nvSpPr>
        <p:spPr>
          <a:xfrm>
            <a:off x="4709160" y="2898648"/>
            <a:ext cx="2743200" cy="310896"/>
          </a:xfrm>
          <a:prstGeom prst="rect">
            <a:avLst/>
          </a:prstGeom>
          <a:noFill/>
          <a:ln/>
        </p:spPr>
        <p:txBody>
          <a:bodyPr wrap="square" lIns="0" tIns="0" rIns="0" bIns="0" rtlCol="0" anchor="ctr"/>
          <a:lstStyle/>
          <a:p>
            <a:pPr marL="0" indent="0">
              <a:buNone/>
            </a:pPr>
            <a:r>
              <a:rPr lang="en-US" sz="1000" b="1" kern="0" spc="100" dirty="0">
                <a:solidFill>
                  <a:srgbClr val="FFFFFF"/>
                </a:solidFill>
              </a:rPr>
              <a:t>Sales Contact</a:t>
            </a:r>
            <a:endParaRPr lang="en-US" sz="1000" dirty="0"/>
          </a:p>
        </p:txBody>
      </p:sp>
      <p:sp>
        <p:nvSpPr>
          <p:cNvPr id="14" name="Text 10"/>
          <p:cNvSpPr/>
          <p:nvPr/>
        </p:nvSpPr>
        <p:spPr>
          <a:xfrm>
            <a:off x="4709160" y="3310128"/>
            <a:ext cx="2743200" cy="1234440"/>
          </a:xfrm>
          <a:prstGeom prst="rect">
            <a:avLst/>
          </a:prstGeom>
          <a:noFill/>
          <a:ln/>
        </p:spPr>
        <p:txBody>
          <a:bodyPr wrap="square" lIns="0" tIns="0" rIns="0" bIns="0" rtlCol="0" anchor="ctr"/>
          <a:lstStyle/>
          <a:p>
            <a:pPr marL="0" indent="0">
              <a:buNone/>
            </a:pPr>
            <a:r>
              <a:rPr lang="en-US" sz="1150" dirty="0">
                <a:solidFill>
                  <a:srgbClr val="FFFFFF"/>
                </a:solidFill>
              </a:rPr>
              <a:t>Sam Liu</a:t>
            </a:r>
            <a:endParaRPr lang="en-US" sz="1150" dirty="0"/>
          </a:p>
          <a:p>
            <a:pPr marL="0" indent="0">
              <a:buNone/>
            </a:pPr>
            <a:r>
              <a:rPr lang="en-US" sz="1150" dirty="0">
                <a:solidFill>
                  <a:srgbClr val="FFFFFF"/>
                </a:solidFill>
              </a:rPr>
              <a:t>Phone: +1 (313) 930-6791</a:t>
            </a:r>
            <a:endParaRPr lang="en-US" sz="1150" dirty="0"/>
          </a:p>
        </p:txBody>
      </p:sp>
      <p:sp>
        <p:nvSpPr>
          <p:cNvPr id="15" name="Shape 11"/>
          <p:cNvSpPr/>
          <p:nvPr/>
        </p:nvSpPr>
        <p:spPr>
          <a:xfrm>
            <a:off x="7955280" y="2880360"/>
            <a:ext cx="3017520" cy="1783080"/>
          </a:xfrm>
          <a:prstGeom prst="rect">
            <a:avLst/>
          </a:prstGeom>
          <a:solidFill>
            <a:srgbClr val="1A3A5C"/>
          </a:solidFill>
          <a:ln w="25400">
            <a:solidFill>
              <a:srgbClr val="CC1414"/>
            </a:solidFill>
            <a:prstDash val="solid"/>
          </a:ln>
        </p:spPr>
        <p:txBody>
          <a:bodyPr/>
          <a:lstStyle/>
          <a:p>
            <a:endParaRPr lang="en-US"/>
          </a:p>
        </p:txBody>
      </p:sp>
      <p:sp>
        <p:nvSpPr>
          <p:cNvPr id="16" name="Shape 12"/>
          <p:cNvSpPr/>
          <p:nvPr/>
        </p:nvSpPr>
        <p:spPr>
          <a:xfrm>
            <a:off x="7955280" y="2880360"/>
            <a:ext cx="3017520" cy="365760"/>
          </a:xfrm>
          <a:prstGeom prst="rect">
            <a:avLst/>
          </a:prstGeom>
          <a:solidFill>
            <a:srgbClr val="CC1414"/>
          </a:solidFill>
          <a:ln w="12700">
            <a:solidFill>
              <a:srgbClr val="CC1414"/>
            </a:solidFill>
            <a:prstDash val="solid"/>
          </a:ln>
        </p:spPr>
        <p:txBody>
          <a:bodyPr/>
          <a:lstStyle/>
          <a:p>
            <a:endParaRPr lang="en-US"/>
          </a:p>
        </p:txBody>
      </p:sp>
      <p:sp>
        <p:nvSpPr>
          <p:cNvPr id="17" name="Text 13"/>
          <p:cNvSpPr/>
          <p:nvPr/>
        </p:nvSpPr>
        <p:spPr>
          <a:xfrm>
            <a:off x="8092440" y="2898648"/>
            <a:ext cx="2743200" cy="310896"/>
          </a:xfrm>
          <a:prstGeom prst="rect">
            <a:avLst/>
          </a:prstGeom>
          <a:noFill/>
          <a:ln/>
        </p:spPr>
        <p:txBody>
          <a:bodyPr wrap="square" lIns="0" tIns="0" rIns="0" bIns="0" rtlCol="0" anchor="ctr"/>
          <a:lstStyle/>
          <a:p>
            <a:pPr marL="0" indent="0">
              <a:buNone/>
            </a:pPr>
            <a:r>
              <a:rPr lang="en-US" sz="1000" b="1" kern="0" spc="100" dirty="0">
                <a:solidFill>
                  <a:srgbClr val="FFFFFF"/>
                </a:solidFill>
              </a:rPr>
              <a:t>Email</a:t>
            </a:r>
            <a:endParaRPr lang="en-US" sz="1000" dirty="0"/>
          </a:p>
        </p:txBody>
      </p:sp>
      <p:sp>
        <p:nvSpPr>
          <p:cNvPr id="18" name="Text 14"/>
          <p:cNvSpPr/>
          <p:nvPr/>
        </p:nvSpPr>
        <p:spPr>
          <a:xfrm>
            <a:off x="8092440" y="3310128"/>
            <a:ext cx="2743200" cy="1234440"/>
          </a:xfrm>
          <a:prstGeom prst="rect">
            <a:avLst/>
          </a:prstGeom>
          <a:noFill/>
          <a:ln/>
        </p:spPr>
        <p:txBody>
          <a:bodyPr wrap="square" lIns="0" tIns="0" rIns="0" bIns="0" rtlCol="0" anchor="ctr"/>
          <a:lstStyle/>
          <a:p>
            <a:pPr marL="0" indent="0">
              <a:buNone/>
            </a:pPr>
            <a:r>
              <a:rPr lang="en-US" sz="1150" dirty="0">
                <a:solidFill>
                  <a:srgbClr val="FFFFFF"/>
                </a:solidFill>
              </a:rPr>
              <a:t>samliu@hilywill.com</a:t>
            </a:r>
            <a:endParaRPr lang="en-US" sz="1150" dirty="0"/>
          </a:p>
          <a:p>
            <a:pPr marL="0" indent="0">
              <a:buNone/>
            </a:pPr>
            <a:r>
              <a:rPr lang="en-US" sz="1150" dirty="0">
                <a:solidFill>
                  <a:srgbClr val="FFFFFF"/>
                </a:solidFill>
              </a:rPr>
              <a:t>www.hilywill.com</a:t>
            </a:r>
            <a:endParaRPr lang="en-US" sz="1150" dirty="0"/>
          </a:p>
        </p:txBody>
      </p:sp>
      <p:sp>
        <p:nvSpPr>
          <p:cNvPr id="19" name="Text 15"/>
          <p:cNvSpPr/>
          <p:nvPr/>
        </p:nvSpPr>
        <p:spPr>
          <a:xfrm>
            <a:off x="1371600" y="4983480"/>
            <a:ext cx="9418320" cy="411480"/>
          </a:xfrm>
          <a:prstGeom prst="rect">
            <a:avLst/>
          </a:prstGeom>
          <a:noFill/>
          <a:ln/>
        </p:spPr>
        <p:txBody>
          <a:bodyPr wrap="square" lIns="0" tIns="0" rIns="0" bIns="0" rtlCol="0" anchor="ctr"/>
          <a:lstStyle/>
          <a:p>
            <a:pPr marL="0" indent="0" algn="ctr">
              <a:buNone/>
            </a:pPr>
            <a:r>
              <a:rPr lang="en-US" sz="1300" i="1" dirty="0">
                <a:solidFill>
                  <a:srgbClr val="A0BDD8"/>
                </a:solidFill>
              </a:rPr>
              <a:t>The Leader and Wisdom Sharer in the Application of New Polymer Materials</a:t>
            </a:r>
            <a:endParaRPr lang="en-US" sz="1300" dirty="0"/>
          </a:p>
        </p:txBody>
      </p:sp>
      <p:sp>
        <p:nvSpPr>
          <p:cNvPr id="20" name="Shape 16"/>
          <p:cNvSpPr/>
          <p:nvPr/>
        </p:nvSpPr>
        <p:spPr>
          <a:xfrm>
            <a:off x="0" y="6309360"/>
            <a:ext cx="12161520" cy="548640"/>
          </a:xfrm>
          <a:prstGeom prst="rect">
            <a:avLst/>
          </a:prstGeom>
          <a:solidFill>
            <a:srgbClr val="CC1414"/>
          </a:solidFill>
          <a:ln w="12700">
            <a:solidFill>
              <a:srgbClr val="CC1414"/>
            </a:solidFill>
            <a:prstDash val="solid"/>
          </a:ln>
        </p:spPr>
        <p:txBody>
          <a:bodyPr/>
          <a:lstStyle/>
          <a:p>
            <a:endParaRPr lang="en-US"/>
          </a:p>
        </p:txBody>
      </p:sp>
      <p:sp>
        <p:nvSpPr>
          <p:cNvPr id="21" name="Text 17"/>
          <p:cNvSpPr/>
          <p:nvPr/>
        </p:nvSpPr>
        <p:spPr>
          <a:xfrm>
            <a:off x="457200" y="6400800"/>
            <a:ext cx="11247120" cy="347472"/>
          </a:xfrm>
          <a:prstGeom prst="rect">
            <a:avLst/>
          </a:prstGeom>
          <a:noFill/>
          <a:ln/>
        </p:spPr>
        <p:txBody>
          <a:bodyPr wrap="square" lIns="0" tIns="0" rIns="0" bIns="0" rtlCol="0" anchor="ctr"/>
          <a:lstStyle/>
          <a:p>
            <a:pPr marL="0" indent="0" algn="ctr">
              <a:buNone/>
            </a:pPr>
            <a:r>
              <a:rPr lang="en-US" sz="950" dirty="0">
                <a:solidFill>
                  <a:srgbClr val="FFFFFF"/>
                </a:solidFill>
              </a:rPr>
              <a:t>© 2026 Qingdao Hilywill Advanced Materials Technology Co., Ltd  |  All rights reserved  |  Hilywill Technologies LLC – US Distribution/Manufacturing Plant</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63</TotalTime>
  <Words>1426</Words>
  <Application>Microsoft Office PowerPoint</Application>
  <PresentationFormat>Widescreen</PresentationFormat>
  <Paragraphs>195</Paragraphs>
  <Slides>9</Slides>
  <Notes>9</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vt:i4>
      </vt:variant>
    </vt:vector>
  </HeadingPairs>
  <TitlesOfParts>
    <vt:vector size="13" baseType="lpstr">
      <vt:lpstr>Arial</vt:lpstr>
      <vt:lpstr>Calibri</vt:lpstr>
      <vt:lpstr>Georgia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Hilywill FFU Railroad Ties - US Product Brochure</dc:title>
  <dc:subject>PptxGenJS Presentation</dc:subject>
  <dc:creator>PptxGenJS</dc:creator>
  <cp:lastModifiedBy>Sam Liu</cp:lastModifiedBy>
  <cp:revision>3</cp:revision>
  <dcterms:created xsi:type="dcterms:W3CDTF">2026-03-04T17:13:22Z</dcterms:created>
  <dcterms:modified xsi:type="dcterms:W3CDTF">2026-03-04T22:00:33Z</dcterms:modified>
</cp:coreProperties>
</file>